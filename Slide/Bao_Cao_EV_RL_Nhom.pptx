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8cb859d97e4457" /><Relationship Type="http://schemas.openxmlformats.org/officeDocument/2006/relationships/extended-properties" Target="/docProps/app.xml" Id="Rec0bb507666b4667" /><Relationship Type="http://schemas.openxmlformats.org/officeDocument/2006/relationships/officeDocument" Target="/ppt/presentation.xml" Id="R28eeb4ef14cc4cf0" /></Relationships>
</file>

<file path=ppt/presentation.xml><?xml version="1.0" encoding="utf-8"?>
<p:presentation xmlns:p="http://schemas.openxmlformats.org/presentationml/2006/main">
  <p:sldMasterIdLst>
    <p:sldMasterId xmlns:r="http://schemas.openxmlformats.org/officeDocument/2006/relationships" id="2147483648" r:id="R47990a50bd7d444e"/>
  </p:sldMasterIdLst>
  <p:notesMasterIdLst>
    <p:notesMasterId xmlns:r="http://schemas.openxmlformats.org/officeDocument/2006/relationships" r:id="R7e034862d19b4a6b"/>
  </p:notesMasterIdLst>
  <p:sldIdLst>
    <p:sldId xmlns:r="http://schemas.openxmlformats.org/officeDocument/2006/relationships" id="256" r:id="Rced5c15ce06548de"/>
    <p:sldId xmlns:r="http://schemas.openxmlformats.org/officeDocument/2006/relationships" id="257" r:id="R1eb9782563084d2f"/>
    <p:sldId xmlns:r="http://schemas.openxmlformats.org/officeDocument/2006/relationships" id="258" r:id="R4fd78eb1cdb94452"/>
    <p:sldId xmlns:r="http://schemas.openxmlformats.org/officeDocument/2006/relationships" id="259" r:id="R8d131ba202214a50"/>
    <p:sldId xmlns:r="http://schemas.openxmlformats.org/officeDocument/2006/relationships" id="260" r:id="R5ddd7f8dac8245f4"/>
    <p:sldId xmlns:r="http://schemas.openxmlformats.org/officeDocument/2006/relationships" id="261" r:id="Rd550b563b8014b64"/>
    <p:sldId xmlns:r="http://schemas.openxmlformats.org/officeDocument/2006/relationships" id="262" r:id="R769b55af2a0a4ac2"/>
    <p:sldId xmlns:r="http://schemas.openxmlformats.org/officeDocument/2006/relationships" id="263" r:id="Rd96b27f309744f0e"/>
    <p:sldId xmlns:r="http://schemas.openxmlformats.org/officeDocument/2006/relationships" id="264" r:id="Rc89ae81c10544457"/>
    <p:sldId xmlns:r="http://schemas.openxmlformats.org/officeDocument/2006/relationships" id="265" r:id="R6037afbe25894c58"/>
    <p:sldId xmlns:r="http://schemas.openxmlformats.org/officeDocument/2006/relationships" id="266" r:id="Rbeb72e890fb341a8"/>
    <p:sldId xmlns:r="http://schemas.openxmlformats.org/officeDocument/2006/relationships" id="267" r:id="R92ed93f6d2d54209"/>
    <p:sldId xmlns:r="http://schemas.openxmlformats.org/officeDocument/2006/relationships" id="268" r:id="R6acb572e9c7345aa"/>
    <p:sldId xmlns:r="http://schemas.openxmlformats.org/officeDocument/2006/relationships" id="269" r:id="Rc78982f9c611416f"/>
    <p:sldId xmlns:r="http://schemas.openxmlformats.org/officeDocument/2006/relationships" id="270" r:id="Rfd0aaea980944a58"/>
    <p:sldId xmlns:r="http://schemas.openxmlformats.org/officeDocument/2006/relationships" id="271" r:id="R02907e888483471d"/>
    <p:sldId xmlns:r="http://schemas.openxmlformats.org/officeDocument/2006/relationships" id="272" r:id="R3624639edcc9469c"/>
    <p:sldId xmlns:r="http://schemas.openxmlformats.org/officeDocument/2006/relationships" id="273" r:id="R18dafbf307da4948"/>
    <p:sldId xmlns:r="http://schemas.openxmlformats.org/officeDocument/2006/relationships" id="274" r:id="Ra7dbd6541b6e4625"/>
    <p:sldId xmlns:r="http://schemas.openxmlformats.org/officeDocument/2006/relationships" id="275" r:id="Raebdf012d2ac4e4e"/>
    <p:sldId xmlns:r="http://schemas.openxmlformats.org/officeDocument/2006/relationships" id="276" r:id="R95a916a86c9543e9"/>
    <p:sldId xmlns:r="http://schemas.openxmlformats.org/officeDocument/2006/relationships" id="277" r:id="Rd8a3b838e6154f46"/>
    <p:sldId xmlns:r="http://schemas.openxmlformats.org/officeDocument/2006/relationships" id="278" r:id="R69b13a6b64f74cf3"/>
    <p:sldId xmlns:r="http://schemas.openxmlformats.org/officeDocument/2006/relationships" id="279" r:id="Re7d396d0f3a54bd8"/>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22a0030a9c04028" /><Relationship Type="http://schemas.openxmlformats.org/officeDocument/2006/relationships/slideMaster" Target="/ppt/slideMasters/slideMaster1.xml" Id="R47990a50bd7d444e" /><Relationship Type="http://schemas.openxmlformats.org/officeDocument/2006/relationships/notesMaster" Target="/ppt/notesMasters/notesMaster1.xml" Id="R7e034862d19b4a6b" /><Relationship Type="http://schemas.openxmlformats.org/officeDocument/2006/relationships/presProps" Target="/ppt/presProps.xml" Id="Rf9d7396d79b9425f" /><Relationship Type="http://schemas.openxmlformats.org/officeDocument/2006/relationships/viewProps" Target="/ppt/viewProps.xml" Id="R21f3370efdcf48d3" /><Relationship Type="http://schemas.openxmlformats.org/officeDocument/2006/relationships/tableStyles" Target="/ppt/tableStyles.xml" Id="Rc43d68ea4d004ce2" /><Relationship Type="http://schemas.openxmlformats.org/officeDocument/2006/relationships/slide" Target="/ppt/slides/slide1.xml" Id="Rced5c15ce06548de" /><Relationship Type="http://schemas.openxmlformats.org/officeDocument/2006/relationships/slide" Target="/ppt/slides/slide2.xml" Id="R1eb9782563084d2f" /><Relationship Type="http://schemas.openxmlformats.org/officeDocument/2006/relationships/slide" Target="/ppt/slides/slide3.xml" Id="R4fd78eb1cdb94452" /><Relationship Type="http://schemas.openxmlformats.org/officeDocument/2006/relationships/slide" Target="/ppt/slides/slide4.xml" Id="R8d131ba202214a50" /><Relationship Type="http://schemas.openxmlformats.org/officeDocument/2006/relationships/slide" Target="/ppt/slides/slide5.xml" Id="R5ddd7f8dac8245f4" /><Relationship Type="http://schemas.openxmlformats.org/officeDocument/2006/relationships/slide" Target="/ppt/slides/slide6.xml" Id="Rd550b563b8014b64" /><Relationship Type="http://schemas.openxmlformats.org/officeDocument/2006/relationships/slide" Target="/ppt/slides/slide7.xml" Id="R769b55af2a0a4ac2" /><Relationship Type="http://schemas.openxmlformats.org/officeDocument/2006/relationships/slide" Target="/ppt/slides/slide8.xml" Id="Rd96b27f309744f0e" /><Relationship Type="http://schemas.openxmlformats.org/officeDocument/2006/relationships/slide" Target="/ppt/slides/slide9.xml" Id="Rc89ae81c10544457" /><Relationship Type="http://schemas.openxmlformats.org/officeDocument/2006/relationships/slide" Target="/ppt/slides/slide10.xml" Id="R6037afbe25894c58" /><Relationship Type="http://schemas.openxmlformats.org/officeDocument/2006/relationships/slide" Target="/ppt/slides/slide11.xml" Id="Rbeb72e890fb341a8" /><Relationship Type="http://schemas.openxmlformats.org/officeDocument/2006/relationships/slide" Target="/ppt/slides/slide12.xml" Id="R92ed93f6d2d54209" /><Relationship Type="http://schemas.openxmlformats.org/officeDocument/2006/relationships/slide" Target="/ppt/slides/slide13.xml" Id="R6acb572e9c7345aa" /><Relationship Type="http://schemas.openxmlformats.org/officeDocument/2006/relationships/slide" Target="/ppt/slides/slide14.xml" Id="Rc78982f9c611416f" /><Relationship Type="http://schemas.openxmlformats.org/officeDocument/2006/relationships/slide" Target="/ppt/slides/slide15.xml" Id="Rfd0aaea980944a58" /><Relationship Type="http://schemas.openxmlformats.org/officeDocument/2006/relationships/slide" Target="/ppt/slides/slide16.xml" Id="R02907e888483471d" /><Relationship Type="http://schemas.openxmlformats.org/officeDocument/2006/relationships/slide" Target="/ppt/slides/slide17.xml" Id="R3624639edcc9469c" /><Relationship Type="http://schemas.openxmlformats.org/officeDocument/2006/relationships/slide" Target="/ppt/slides/slide18.xml" Id="R18dafbf307da4948" /><Relationship Type="http://schemas.openxmlformats.org/officeDocument/2006/relationships/slide" Target="/ppt/slides/slide19.xml" Id="Ra7dbd6541b6e4625" /><Relationship Type="http://schemas.openxmlformats.org/officeDocument/2006/relationships/slide" Target="/ppt/slides/slide20.xml" Id="Raebdf012d2ac4e4e" /><Relationship Type="http://schemas.openxmlformats.org/officeDocument/2006/relationships/slide" Target="/ppt/slides/slide21.xml" Id="R95a916a86c9543e9" /><Relationship Type="http://schemas.openxmlformats.org/officeDocument/2006/relationships/slide" Target="/ppt/slides/slide22.xml" Id="Rd8a3b838e6154f46" /><Relationship Type="http://schemas.openxmlformats.org/officeDocument/2006/relationships/slide" Target="/ppt/slides/slide23.xml" Id="R69b13a6b64f74cf3" /><Relationship Type="http://schemas.openxmlformats.org/officeDocument/2006/relationships/slide" Target="/ppt/slides/slide24.xml" Id="Re7d396d0f3a54b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8990684f864f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Calibri Light"/>
        <a:cs typeface="Calibri Light"/>
      </a:majorFont>
      <a:minorFont>
        <a:latin typeface="Arial"/>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3a943b8def4db3" /><Relationship Type="http://schemas.openxmlformats.org/officeDocument/2006/relationships/notesMaster" Target="/ppt/notesMasters/notesMaster1.xml" Id="R13f9053b69f642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634848f12e4523" /><Relationship Type="http://schemas.openxmlformats.org/officeDocument/2006/relationships/notesMaster" Target="/ppt/notesMasters/notesMaster1.xml" Id="Re751c808a17e4a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2f73b925bf421a" /><Relationship Type="http://schemas.openxmlformats.org/officeDocument/2006/relationships/notesMaster" Target="/ppt/notesMasters/notesMaster1.xml" Id="R8ff668bc52874e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d6520bf9cd4d92" /><Relationship Type="http://schemas.openxmlformats.org/officeDocument/2006/relationships/notesMaster" Target="/ppt/notesMasters/notesMaster1.xml" Id="Re832e0ecfad44f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af1b9ad1344429" /><Relationship Type="http://schemas.openxmlformats.org/officeDocument/2006/relationships/notesMaster" Target="/ppt/notesMasters/notesMaster1.xml" Id="R08f5bd0da6db48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e7e35878b4478a" /><Relationship Type="http://schemas.openxmlformats.org/officeDocument/2006/relationships/notesMaster" Target="/ppt/notesMasters/notesMaster1.xml" Id="Rc8b3e616fe234e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55e6376fb4820" /><Relationship Type="http://schemas.openxmlformats.org/officeDocument/2006/relationships/notesMaster" Target="/ppt/notesMasters/notesMaster1.xml" Id="Rfa39351adb2442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765f94cc464d69" /><Relationship Type="http://schemas.openxmlformats.org/officeDocument/2006/relationships/notesMaster" Target="/ppt/notesMasters/notesMaster1.xml" Id="Rb3abebaeb0ab40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4a45158a67414f" /><Relationship Type="http://schemas.openxmlformats.org/officeDocument/2006/relationships/notesMaster" Target="/ppt/notesMasters/notesMaster1.xml" Id="Rd20294a73f944f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d342c5d01b46f0" /><Relationship Type="http://schemas.openxmlformats.org/officeDocument/2006/relationships/notesMaster" Target="/ppt/notesMasters/notesMaster1.xml" Id="Rab162b3d4b6c42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9ee012c5754748" /><Relationship Type="http://schemas.openxmlformats.org/officeDocument/2006/relationships/notesMaster" Target="/ppt/notesMasters/notesMaster1.xml" Id="R368dcf2d3ee74b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7b6e93b6e349a4" /><Relationship Type="http://schemas.openxmlformats.org/officeDocument/2006/relationships/notesMaster" Target="/ppt/notesMasters/notesMaster1.xml" Id="R3195e25c3b7147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0cb04451464ea6" /><Relationship Type="http://schemas.openxmlformats.org/officeDocument/2006/relationships/notesMaster" Target="/ppt/notesMasters/notesMaster1.xml" Id="R97532c465e1341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febc2e0a3c42b6" /><Relationship Type="http://schemas.openxmlformats.org/officeDocument/2006/relationships/notesMaster" Target="/ppt/notesMasters/notesMaster1.xml" Id="Raa5bcea84e0845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f75ca83d1e46dc" /><Relationship Type="http://schemas.openxmlformats.org/officeDocument/2006/relationships/notesMaster" Target="/ppt/notesMasters/notesMaster1.xml" Id="R331c39660c54494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c30b60d6a245d4" /><Relationship Type="http://schemas.openxmlformats.org/officeDocument/2006/relationships/notesMaster" Target="/ppt/notesMasters/notesMaster1.xml" Id="R5c3e22db068a493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54a22a8e614e2e" /><Relationship Type="http://schemas.openxmlformats.org/officeDocument/2006/relationships/notesMaster" Target="/ppt/notesMasters/notesMaster1.xml" Id="Rbcdb7ea6d8ff4c3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ddfcd214e9d4925" /><Relationship Type="http://schemas.openxmlformats.org/officeDocument/2006/relationships/notesMaster" Target="/ppt/notesMasters/notesMaster1.xml" Id="R85d8a6b5655d40d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e1e0778b43439e" /><Relationship Type="http://schemas.openxmlformats.org/officeDocument/2006/relationships/notesMaster" Target="/ppt/notesMasters/notesMaster1.xml" Id="Rb12bd0c435f3477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8cd586c68149a7" /><Relationship Type="http://schemas.openxmlformats.org/officeDocument/2006/relationships/notesMaster" Target="/ppt/notesMasters/notesMaster1.xml" Id="Rba2298d37790446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1a847883b2341d0" /><Relationship Type="http://schemas.openxmlformats.org/officeDocument/2006/relationships/notesMaster" Target="/ppt/notesMasters/notesMaster1.xml" Id="Ra48211bbbce548a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e5f3ea383544e7" /><Relationship Type="http://schemas.openxmlformats.org/officeDocument/2006/relationships/notesMaster" Target="/ppt/notesMasters/notesMaster1.xml" Id="R37dbb330b6b148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cd016beb2ca485c" /><Relationship Type="http://schemas.openxmlformats.org/officeDocument/2006/relationships/notesMaster" Target="/ppt/notesMasters/notesMaster1.xml" Id="R8ec2c17126ea449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633999f65a94d21" /><Relationship Type="http://schemas.openxmlformats.org/officeDocument/2006/relationships/notesMaster" Target="/ppt/notesMasters/notesMaster1.xml" Id="R6f62de6e30e946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tài của nhóm là quyết định công suất sạc theo từng khoảng 15 phút. Nhóm tập trung vào PPO và so sánh với các quy tắc đơn giản trong cùng mô phỏng. Giới thiệu tên ba thành viên, sau đó đi vào câu hỏi nghiên cứu.</a:t>
            </a:r>
          </a:p>
          <a:p xmlns:a="http://schemas.openxmlformats.org/drawingml/2006/main">
            <a:r>
              <a:t/>
            </a:r>
          </a:p>
          <a:p xmlns:a="http://schemas.openxmlformats.org/drawingml/2006/main">
            <a:r>
              <a:t>Nguồn nội dung và số liệu: https://ev.caltech.edu/dataset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 nhiều xe cùng cần điện, trong khi đường cấp điện có giới hạn. Mục tiêu của đồ án là xây dựng và kiểm tra cách chia điện. Kết quả là kết quả mô phỏng, chưa phải điều khiển trạm thật. Mục tiêu phụ là giảm mức tập trung tải.</a:t>
            </a:r>
          </a:p>
          <a:p xmlns:a="http://schemas.openxmlformats.org/drawingml/2006/main">
            <a:r>
              <a:t/>
            </a:r>
          </a:p>
          <a:p xmlns:a="http://schemas.openxmlformats.org/drawingml/2006/main">
            <a:r>
              <a:t>Nguồn nội dung và số liệu: EV_RL_NHOM_BAN_CHON.ipynb, bản hiện tại trong do-an-v4/final.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CSV là một bảng vật lý với ba nhóm thông tin logic. Đếm theo sessionID có 31.424 phiên. Các chuỗi chỉ phủ tới tháng 5/2019, còn metadata và khai báo trải dài hơn. Kết quả điện PPO cấp đến từ mô phỏng mới, không chép cột kWhDelivered.</a:t>
            </a:r>
          </a:p>
          <a:p xmlns:a="http://schemas.openxmlformats.org/drawingml/2006/main">
            <a:r>
              <a:t/>
            </a:r>
          </a:p>
          <a:p xmlns:a="http://schemas.openxmlformats.org/drawingml/2006/main">
            <a:r>
              <a:t>Nguồn nội dung và số liệu: https://ev.caltech.edu/dataset</a:t>
            </a:r>
          </a:p>
          <a:p xmlns:a="http://schemas.openxmlformats.org/drawingml/2006/main">
            <a:r>
              <a:t>Notebook mục 2; raw_info và bảng độ phủ năm.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phễu cho biết mỗi bước giữ lại bao nhiêu phiên. Nhóm giữ đúng nhu cầu khai báo, không thay bằng điện lịch sử để làm đẹp tỷ lệ phục vụ. Làm tròn cả hai đầu có thể làm cửa sổ mất gần 30 phút. Chọn cùng ngày là cách đơn giản hóa, có thiên lệch lựa chọn cần nêu.</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ket_qua_de_hieu/pheu_tien_xu_ly.csv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của 276 là 193,2, lấy phần nguyên 193. Trong 193 ngày này lấy 38 ngày cuối làm validation, còn 155 train. Test có 83 ngày. Nhóm chọn model bằng validation, nhưng test đã từng được xem trong quá trình phát triển trước đó, nên cần dữ liệu mới để xác nhận độc lập.</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ket_qua_de_hieu/chia_tap.csv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Trái: đếm phiên theo giờ địa phương Los Angeles trên toàn bộ phiên. Phải: mỗi điểm là một trong 7.339 phiên được chọn, ngang là điện lịch sử, dọc là nhu cầu. Đường chéo là hai lượng bằng nhau. Tổng nhu cầu bằng khoảng 1,85 lần điện lịch sử đã cấp. Đây là EDA, chưa phải kết quả PPO.</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Ảnh gốc: ket_qua_de_hieu/eda.png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đậu là giờ rút trừ giờ cắm, khác thời gian thực sự nhận dòng. Nhóm 8–12 giờ có số phiên nhiều nhất; trung vị toàn bộ phiên 2019 là 5,81597 giờ. Biểu đồ theo thứ phù hợp kiểu bãi xe phục vụ ngày làm việc, nhưng không chứng minh nguyên nhân. Bảng chất lượng trong notebook không có giờ cắm/rút thiếu, nhưng nhiều phiên thiếu khai báo.</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Ảnh gốc: ket_qua_de_hieu/eda_bo_sung.png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Luận án Z. J. Lee 2021, bảng 3.9 trang in 41 ghi California_Garage_01 150 kW. ACNPortal v0.3.3 ghi 208 V, 32 A/cổng, hai pod 80 A và cách nối pha. 53 cổng xuất hiện trong cohort đã được ánh xạ vào danh sách 54 cổng Level 2. Dòng sơ/thứ cấp còn cần kiểm tra dù tổng công suất nhỏ. Đây là cấu hình tham khảo, dòng liên tục, chưa mô phỏng pin và nấc pilot đầy đủ.</a:t>
            </a:r>
          </a:p>
          <a:p xmlns:a="http://schemas.openxmlformats.org/drawingml/2006/main">
            <a:r>
              <a:t/>
            </a:r>
          </a:p>
          <a:p xmlns:a="http://schemas.openxmlformats.org/drawingml/2006/main">
            <a:r>
              <a:t>Nguồn nội dung và số liệu: https://thesis.caltech.edu/14191/1/Lee_Zachary_J_2021_Thesis.pdf#page=53</a:t>
            </a:r>
          </a:p>
          <a:p xmlns:a="http://schemas.openxmlformats.org/drawingml/2006/main">
            <a:r>
              <a:t>https://github.com/zach401/acnportal/blob/v0.3.3/acnportal/acnsim/network/sites/caltech_acn.py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ngày là một episode, thường 96 bước. Máy cập nhật điện bằng công suất nhân 0,25 giờ. Giờ và khai báo lấy từ CSV; lượng điện còn cần do mô phỏng trừ dần. Bộ ưu tiên theo hạn và bộ giữ giới hạn điện có vai trò khác nhau, không bảo đảm mọi xe đủ điện.</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Công thức F01 và MoiTruongSac.step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Chậm của mỗi bước khi xe còn cần điện bằng 15×(1−p/6,656), cộng tới khi đủ điện hoặc dừng phục vụ. Ví dụ cần 3,328 kWh, ở 6,656 kW cần 30 phút, nếu chờ 15 phút rồi sạc tối đa 30 phút thì chậm 15 phút. Chỉ tiêu khác hoàn toàn số phút sạc bù điện thiếu. Chờ ban đầu đã nằm trong chậm, nhưng J còn phạt riêng chờ để ưu tiên bắt đầu phục vụ.</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F01–F05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LLF tính thời gian dự phòng = thời gian còn tới hạn trừ điện còn cần/Pmax. Ví dụ A còn 2 giờ, cần 1 giờ sạc nên dư 1 giờ; B còn 3 giờ, cần 3 giờ nên dư 0. EDF ưu tiên A, LLF ưu tiên B. Các cách đều dùng cùng giới hạn điện. Chưa có Oracle cùng môi trường nên không gọi LLF tối ưu lý thuyết ở đây.</a:t>
            </a:r>
          </a:p>
          <a:p xmlns:a="http://schemas.openxmlformats.org/drawingml/2006/main">
            <a:r>
              <a:t/>
            </a:r>
          </a:p>
          <a:p xmlns:a="http://schemas.openxmlformats.org/drawingml/2006/main">
            <a:r>
              <a:t>Nguồn nội dung và số liệu: EV_RL_NHOM_BAN_CHON.ipynb, bản hiện tại trong do-an-v4/final.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Chín hành động không phải chín xe. Mỗi hành động chọn mức ngân sách và cách ưu tiên cho bộ phân bổ. Q-learning cập nhật điểm dự đoán từ reward và giá trị tương lai, alpha học 0,1, gamma 1. Có thử ngẫu nhiên giảm dần; giữ nguyên thứ tự hành động vì đổi cột sẽ đổi nghĩa checkpoint. Bảng Q là mốc RL đơn giản, nén thông tin mạnh hơn PPO.</a:t>
            </a:r>
          </a:p>
          <a:p xmlns:a="http://schemas.openxmlformats.org/drawingml/2006/main">
            <a:r>
              <a:t/>
            </a:r>
          </a:p>
          <a:p xmlns:a="http://schemas.openxmlformats.org/drawingml/2006/main">
            <a:r>
              <a:t>Nguồn nội dung và số liệu: https://doi.org/10.1007/BF00992698</a:t>
            </a:r>
          </a:p>
          <a:p xmlns:a="http://schemas.openxmlformats.org/drawingml/2006/main">
            <a:r>
              <a:t>EV_RL_NHOM_BAN_CHON.ipynb, bản hiện tại trong do-an-v4/final.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PPO dùng mạng hai lớp được chọn bằng validation. Mạng không xuất riêng kW cho từng xe; phần việc đó do bộ phân bổ và bảo vệ đảm nhiệm. Có 14 số tóm tắt, không phải 14 loại xe. Các mốc chia chuẩn hóa như 20 xe, 150 kWh, 4 hoặc 8 giờ giúp đưa số về cùng cỡ, không phải giới hạn pin. Mô hình quan sát nén có thể hạn chế khả năng học.</a:t>
            </a:r>
          </a:p>
          <a:p xmlns:a="http://schemas.openxmlformats.org/drawingml/2006/main">
            <a:r>
              <a:t/>
            </a:r>
          </a:p>
          <a:p xmlns:a="http://schemas.openxmlformats.org/drawingml/2006/main">
            <a:r>
              <a:t>Nguồn nội dung và số liệu: https://arxiv.org/abs/1707.06347</a:t>
            </a:r>
          </a:p>
          <a:p xmlns:a="http://schemas.openxmlformats.org/drawingml/2006/main">
            <a:r>
              <a:t>EV_RL_NHOM_BAN_CHON.ipynb, bản hiện tại trong do-an-v4/final.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U/E là tỷ lệ từ 0 tới 1, W và D đang là phút nên chia 60 để đổi giờ. J thấp hơn tốt hơn khi cùng điều kiện. Tổng reward ngày bằng -J đã được kiểm tra bằng code. Reward không bắt buộc dương. Bình phương phạt tải tập trung, nhưng giảm điện cấp cũng giảm số này nên phải đọc cùng điện thiếu. Mẫu số nhu cầu và số xe cả ngày chỉ phục vụ chấm offline, không đưa vào quan sát.</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F07–F10; ket_qua_de_hieu/thanh_phan_reward.csv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Hình trái: J validation trung bình hai seed 17,29; nhỏ hơn tốt hơn. Hình phải: độ lệch chuẩn giữa hai seed, nhỏ hơn là ít dao động trong hai lượt đã thấy. Chọn mean thấp nhất, rồi học lại seed42–46. Mỗi lượt yêu cầu 300k bước. Số 0,0000 do hai lượt gần hoặc trùng kết quả, không chứng minh luôn ổn định. Không dùng test để chọn cấu hình trong bước này.</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Ảnh gốc: ket_qua_de_hieu/tuning_truc_quan.png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Trái dùng số bước PPO, phải dùng episode Q-learning. Mỗi màu là seed, đường đen là LLF trên validation. Đường giảm thể hiện cải thiện trên tập này, chưa chứng minh hơn baseline ở test. Trục PPO phóng đại vùng J nhỏ khoảng1,116–1,128 nên không đọc dao động như thất bại lớn. Q không hội tụ tốt chỉ vì đã đủ 4000 episode; chọn checkpoint tốt nhất.</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Ảnh gốc: ket_qua_de_hieu/duong_hoc_moi.png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Số liệu trung bình seed trong mỗi ngày rồi trung bình các ngày. PPO dùng đủ5seed, baseline không học không phụ thuộc seed. PPO phục vụ73,7163% điện nhưng chỉ53,4968% phiên đủ điện; đây là hai mẫu số khác nhau. J PPO1,213720, LLF1,214748, EDF1,204996. Không quy điểm trung bình nhỏ hơn thành khác biệt rõ nếu chưa xem CI.</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ket_qua_de_hieu/tong_hop.csv, kết quả 5 seed; F01–F09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Bốn nhóm thanh lần lượt là thiếu%, chờ ban đầu, chậm tương đương và J. Thấp hơn tốt hơn ở mỗi cột. Không có phương pháp tốt nhất ở tất cả cột. AverageRate chờ0 nhưng chậm99,03phút, minh họa rằng bắt đầu cấp một ít điện không đủ đánh giá chất lượng phục vụ.</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Ảnh: ket_qua_de_hieu/so_sanh_moi.png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Δ âm có lợi cho PPO. Bootstrap lấy lặp tuần và seed, 2000lượt, chưa hiệu chỉnh nhiều phép so sánh. Khoảng chứa0 chưa đủ bằng chứng khác biệt và không chứng minh tương đương. Độ lệch chuẩn giữa seed và CI của chênh lệch là hai khái niệm. Test đã được xem trong quá trình phát triển, không phải xác nhận độc lập mới.</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ket_qua_de_hieu/khoang_tin_cay.csv, tung_seed.csv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Hiển thị panel tổng tải của hình gốc. Trục ngang giờ Los Angeles, trục dọc kW; đường đứt150kW. Các đường gần trùng có thể che nhau. Chọn ngày gần trung vị nhu cầu trước khi nhìn thắng/thua để tránh chọn ngày có lợi PPO. Tổng tải dưới trần chưa giải thích được giới hạn từng nhóm, xem slide kế.</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Panel trên ảnh gốc: ket_qua_de_hieu/mot_ngay_moi.png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Hiển thị panel hai pod của PPO trong cùng ngày. Đường xanh CC và cam AV cùng chịu80A, tương đương16,64kW theo208V. AV chạm trần trong nhiều giờ; CC cũng có các đoạn chạm. Đây là ví dụ vì sao phải xét giới hạn cục bộ. Bộ phân bổ đã chặn pod trước nên clip cuối bằng0 không đồng nghĩa không có nghẽn.</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Panel dưới ảnh gốc: ket_qua_de_hieu/mot_ngay_moi.png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xe yêu cầu32kWh nhưng chỉ có45phút, tối đa nhận6,656×0,75=4,992kWh, vẫn thiếu27,008kWh dù không tranh điện với xe nào. Cận trung bình126,9127/thiếu131,8714=96,2398%. Cận cá nhân bỏ qua mạng, chưa phải tối ưu toàn mạng. Không suy ra người dùng khai sai từ tỷ lệ yêu cầu/điện lịch sử1,85.</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F06; ket_qua_de_hieu/tong_hop.csv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Thông điệp chính là một quy trình có kiểm tra từ dữ liệu tới mô phỏng và đánh giá. Không khẳng định RL luôn hơn quy tắc. Chưa có SOC/pin phi tuyến, tổn hao, nấc pilot và thử điều khiển thực. Mẫu số nhu cầu/người dùng cả ngày trong reward chỉ phù hợp chấm offline. Tải cohort không đại diện tất cả tải nhà xe, và chưa có Oracle cùng điều kiện để khẳng định gần tối ưu.</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Kết luận và hạn chế mục6–7.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nguồn chính bên dưới. Khi hỏi điểm nào từ đâu: J là4phần; điện=P×0,25; thiếu=yêucầu−đãcấp; chờ/chậm định nghĩa riêng. Khi hỏi vì sao chưa thắng: dư địa cá nhân nhỏ, đối chứng mạnh và hành động/quan sát bị nén, chưa có chứng minh nguyên nhân duy nhất.</a:t>
            </a:r>
          </a:p>
          <a:p xmlns:a="http://schemas.openxmlformats.org/drawingml/2006/main">
            <a:r>
              <a:t/>
            </a:r>
          </a:p>
          <a:p xmlns:a="http://schemas.openxmlformats.org/drawingml/2006/main">
            <a:r>
              <a:t>Nguồn nội dung và số liệu: EV_RL_NHOM_BAN_CHON.ipynb, bản hiện tại trong do-an-v4/final.</a:t>
            </a:r>
          </a:p>
          <a:p xmlns:a="http://schemas.openxmlformats.org/drawingml/2006/main">
            <a:r>
              <a:t>https://ev.caltech.edu/dataset</a:t>
            </a:r>
          </a:p>
          <a:p xmlns:a="http://schemas.openxmlformats.org/drawingml/2006/main">
            <a:r>
              <a:t>https://ev.caltech.edu/assets/pub/ACN_Data_Analysis_and_Applications.pdf</a:t>
            </a:r>
          </a:p>
          <a:p xmlns:a="http://schemas.openxmlformats.org/drawingml/2006/main">
            <a:r>
              <a:t>https://thesis.caltech.edu/14191/1/Lee_Zachary_J_2021_Thesis.pdf#page=53</a:t>
            </a:r>
          </a:p>
          <a:p xmlns:a="http://schemas.openxmlformats.org/drawingml/2006/main">
            <a:r>
              <a:t>https://github.com/zach401/acnportal/blob/v0.3.3/acnportal/acnsim/network/sites/caltech_acn.py</a:t>
            </a:r>
          </a:p>
          <a:p xmlns:a="http://schemas.openxmlformats.org/drawingml/2006/main">
            <a:r>
              <a:t>https://arxiv.org/abs/1707.06347</a:t>
            </a:r>
          </a:p>
          <a:p xmlns:a="http://schemas.openxmlformats.org/drawingml/2006/main">
            <a:r>
              <a:t>https://doi.org/10.1007/BF00992698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3580cfd2ed40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f6239a5fa0452c" /><Relationship Type="http://schemas.openxmlformats.org/officeDocument/2006/relationships/slideLayout" Target="/ppt/slideLayouts/slideLayout1.xml" Id="Rdd94fa2f86604d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94fa2f86604d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8f0cfd2c504af4" /><Relationship Type="http://schemas.openxmlformats.org/officeDocument/2006/relationships/notesSlide" Target="/ppt/notesSlides/notesSlide1.xml" Id="R88b5afc87fe042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4551f525a64085" /><Relationship Type="http://schemas.openxmlformats.org/officeDocument/2006/relationships/notesSlide" Target="/ppt/notesSlides/notesSlide2.xml" Id="Rf2827078e2ed4b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b37d634d324927" /><Relationship Type="http://schemas.openxmlformats.org/officeDocument/2006/relationships/notesSlide" Target="/ppt/notesSlides/notesSlide3.xml" Id="R74ef7f7a33074d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95f634167b4146" /><Relationship Type="http://schemas.openxmlformats.org/officeDocument/2006/relationships/notesSlide" Target="/ppt/notesSlides/notesSlide4.xml" Id="Rf8e81f556b1044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966961c34624f05" /><Relationship Type="http://schemas.openxmlformats.org/officeDocument/2006/relationships/notesSlide" Target="/ppt/notesSlides/notesSlide5.xml" Id="Ra0fefb24bdad49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9ea242c2154a24" /><Relationship Type="http://schemas.openxmlformats.org/officeDocument/2006/relationships/image" Target="/ppt/media/image.png" Id="Rcb35bf9df7ad4344" /><Relationship Type="http://schemas.openxmlformats.org/officeDocument/2006/relationships/notesSlide" Target="/ppt/notesSlides/notesSlide6.xml" Id="Rc948d38d28f748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b93e28f08748b1" /><Relationship Type="http://schemas.openxmlformats.org/officeDocument/2006/relationships/image" Target="/ppt/media/image2.png" Id="R56f5674f0e7249a0" /><Relationship Type="http://schemas.openxmlformats.org/officeDocument/2006/relationships/notesSlide" Target="/ppt/notesSlides/notesSlide7.xml" Id="R99ef60ec45d24c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58c8befd6b4d32" /><Relationship Type="http://schemas.openxmlformats.org/officeDocument/2006/relationships/notesSlide" Target="/ppt/notesSlides/notesSlide8.xml" Id="R6fbf985c59f84b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8b0d9cb8058415b" /><Relationship Type="http://schemas.openxmlformats.org/officeDocument/2006/relationships/notesSlide" Target="/ppt/notesSlides/notesSlide9.xml" Id="R2c53add0e07f44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add7dc72dab42e2" /><Relationship Type="http://schemas.openxmlformats.org/officeDocument/2006/relationships/notesSlide" Target="/ppt/notesSlides/notesSlide10.xml" Id="Rce49b30b769940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4ea5777a73d4aea" /><Relationship Type="http://schemas.openxmlformats.org/officeDocument/2006/relationships/notesSlide" Target="/ppt/notesSlides/notesSlide11.xml" Id="Re5b7695b413a45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bd98b31039b4d1e" /><Relationship Type="http://schemas.openxmlformats.org/officeDocument/2006/relationships/notesSlide" Target="/ppt/notesSlides/notesSlide12.xml" Id="R8fb7e79beeb04c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453c293dc824cbf" /><Relationship Type="http://schemas.openxmlformats.org/officeDocument/2006/relationships/notesSlide" Target="/ppt/notesSlides/notesSlide13.xml" Id="Rf8a49469dd8d4b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9beeb840a4d480e" /><Relationship Type="http://schemas.openxmlformats.org/officeDocument/2006/relationships/notesSlide" Target="/ppt/notesSlides/notesSlide14.xml" Id="R29465987788946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72c9b26617745f6" /><Relationship Type="http://schemas.openxmlformats.org/officeDocument/2006/relationships/image" Target="/ppt/media/image3.png" Id="Rf46ee22460ac4afc" /><Relationship Type="http://schemas.openxmlformats.org/officeDocument/2006/relationships/notesSlide" Target="/ppt/notesSlides/notesSlide15.xml" Id="Rf133909b98fd45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bbf84d7c029418f" /><Relationship Type="http://schemas.openxmlformats.org/officeDocument/2006/relationships/image" Target="/ppt/media/image4.png" Id="R173ef78c761d4775" /><Relationship Type="http://schemas.openxmlformats.org/officeDocument/2006/relationships/notesSlide" Target="/ppt/notesSlides/notesSlide16.xml" Id="R13232099d87049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75bca1514834771" /><Relationship Type="http://schemas.openxmlformats.org/officeDocument/2006/relationships/notesSlide" Target="/ppt/notesSlides/notesSlide17.xml" Id="Raa3a2a7db88a4cf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05a79c6c9c44bf3" /><Relationship Type="http://schemas.openxmlformats.org/officeDocument/2006/relationships/image" Target="/ppt/media/image5.png" Id="R8c7c10a159c24e48" /><Relationship Type="http://schemas.openxmlformats.org/officeDocument/2006/relationships/notesSlide" Target="/ppt/notesSlides/notesSlide18.xml" Id="Rdd5e2f85396941c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2575379af9f4df8" /><Relationship Type="http://schemas.openxmlformats.org/officeDocument/2006/relationships/notesSlide" Target="/ppt/notesSlides/notesSlide19.xml" Id="R830f0840b00b490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3d0c8de29224438" /><Relationship Type="http://schemas.openxmlformats.org/officeDocument/2006/relationships/image" Target="/ppt/media/image6.png" Id="Rb935b3e175b04713" /><Relationship Type="http://schemas.openxmlformats.org/officeDocument/2006/relationships/notesSlide" Target="/ppt/notesSlides/notesSlide20.xml" Id="R945e293f93f94cd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57d92ffb3104b06" /><Relationship Type="http://schemas.openxmlformats.org/officeDocument/2006/relationships/image" Target="/ppt/media/image7.png" Id="Re31a832260314398" /><Relationship Type="http://schemas.openxmlformats.org/officeDocument/2006/relationships/notesSlide" Target="/ppt/notesSlides/notesSlide21.xml" Id="Rbab6a063e1f4447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8a6d390c85844b4" /><Relationship Type="http://schemas.openxmlformats.org/officeDocument/2006/relationships/notesSlide" Target="/ppt/notesSlides/notesSlide22.xml" Id="R299f7c2f16434b2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fbcd6fd4bbd4398" /><Relationship Type="http://schemas.openxmlformats.org/officeDocument/2006/relationships/notesSlide" Target="/ppt/notesSlides/notesSlide23.xml" Id="R1c5355757c184cb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806660934de4532" /><Relationship Type="http://schemas.openxmlformats.org/officeDocument/2006/relationships/notesSlide" Target="/ppt/notesSlides/notesSlide24.xml" Id="R6e55b3e3cc314d4d" /></Relationships>
</file>

<file path=ppt/slides/slide1.xml><?xml version="1.0" encoding="utf-8"?>
<p:sld xmlns:p="http://schemas.openxmlformats.org/presentationml/2006/main">
  <p:cSld>
    <p:bg>
      <p:bgPr>
        <a:solidFill xmlns:a="http://schemas.openxmlformats.org/drawingml/2006/main">
          <a:srgbClr val="182D4B"/>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30155C3C-ECA4-401F-AADB-646A3E73D1FA}"/>
              </a:ext>
            </a:extLst>
          </p:cNvPr>
          <p:cNvSpPr>
            <a:spLocks xmlns:a="http://schemas.openxmlformats.org/drawingml/2006/main" noGrp="1"/>
          </p:cNvSpPr>
          <p:nvPr/>
        </p:nvSpPr>
        <p:spPr>
          <a:xfrm xmlns:a="http://schemas.openxmlformats.org/drawingml/2006/main">
            <a:off x="723900" y="1143000"/>
            <a:ext cx="76200" cy="2857500"/>
          </a:xfrm>
          <a:prstGeom xmlns:a="http://schemas.openxmlformats.org/drawingml/2006/main" prst="rect">
            <a:avLst/>
          </a:prstGeom>
          <a:solidFill xmlns:a="http://schemas.openxmlformats.org/drawingml/2006/main">
            <a:srgbClr val="F59E42"/>
          </a:solidFill>
          <a:ln xmlns:a="http://schemas.openxmlformats.org/drawingml/2006/main" w="0">
            <a:solidFill>
              <a:srgbClr val="F59E42"/>
            </a:solidFill>
          </a:ln>
        </p:spPr>
      </p:sp>
      <p:sp>
        <p:nvSpPr>
          <p:cNvPr id="2" name="Rectangle 1">
            <a:extLst xmlns:a="http://schemas.openxmlformats.org/drawingml/2006/main">
              <a:ext uri="{FF2B5EF4-FFF2-40B4-BE49-F238E27FC236}">
                <a16:creationId xmlns:a16="http://schemas.microsoft.com/office/drawing/2014/main" id="{C1ED89D8-F648-40F8-9766-FD1704394590}"/>
              </a:ext>
            </a:extLst>
          </p:cNvPr>
          <p:cNvSpPr>
            <a:spLocks xmlns:a="http://schemas.openxmlformats.org/drawingml/2006/main" noGrp="1"/>
          </p:cNvSpPr>
          <p:nvPr/>
        </p:nvSpPr>
        <p:spPr>
          <a:xfrm xmlns:a="http://schemas.openxmlformats.org/drawingml/2006/main">
            <a:off x="1066800" y="1200150"/>
            <a:ext cx="8858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150" b="1">
                <a:solidFill>
                  <a:srgbClr val="FFFFFF"/>
                </a:solidFill>
                <a:latin typeface="Arial"/>
                <a:ea typeface="Arial"/>
                <a:cs typeface="Arial"/>
              </a:defRPr>
            </a:pPr>
            <a:r>
              <a:rPr sz="3150" b="1">
                <a:solidFill>
                  <a:srgbClr val="FFFFFF"/>
                </a:solidFill>
                <a:latin typeface="Arial"/>
                <a:ea typeface="Arial"/>
                <a:cs typeface="Arial"/>
              </a:rPr>
              <a:t>LẬP LỊCH PHÂN BỔ CÔNG SUẤT</a:t>
            </a:r>
          </a:p>
          <a:p xmlns:a="http://schemas.openxmlformats.org/drawingml/2006/main">
            <a:pPr algn="l">
              <a:buNone/>
              <a:defRPr sz="3150" b="1">
                <a:solidFill>
                  <a:srgbClr val="FFFFFF"/>
                </a:solidFill>
                <a:latin typeface="Arial"/>
                <a:ea typeface="Arial"/>
                <a:cs typeface="Arial"/>
              </a:defRPr>
            </a:pPr>
            <a:r>
              <a:rPr sz="3150" b="1">
                <a:solidFill>
                  <a:srgbClr val="FFFFFF"/>
                </a:solidFill>
                <a:latin typeface="Arial"/>
                <a:ea typeface="Arial"/>
                <a:cs typeface="Arial"/>
              </a:rPr>
              <a:t>SẠC XE ĐIỆN</a:t>
            </a:r>
          </a:p>
        </p:txBody>
      </p:sp>
      <p:sp>
        <p:nvSpPr>
          <p:cNvPr id="3" name="Rectangle 2">
            <a:extLst xmlns:a="http://schemas.openxmlformats.org/drawingml/2006/main">
              <a:ext uri="{FF2B5EF4-FFF2-40B4-BE49-F238E27FC236}">
                <a16:creationId xmlns:a16="http://schemas.microsoft.com/office/drawing/2014/main" id="{5D61A526-6AE0-47A1-898F-D3DA4612A476}"/>
              </a:ext>
            </a:extLst>
          </p:cNvPr>
          <p:cNvSpPr>
            <a:spLocks xmlns:a="http://schemas.openxmlformats.org/drawingml/2006/main" noGrp="1"/>
          </p:cNvSpPr>
          <p:nvPr/>
        </p:nvSpPr>
        <p:spPr>
          <a:xfrm xmlns:a="http://schemas.openxmlformats.org/drawingml/2006/main">
            <a:off x="1085850" y="2838450"/>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725" b="0">
                <a:solidFill>
                  <a:srgbClr val="D8E5F3"/>
                </a:solidFill>
                <a:latin typeface="Arial"/>
                <a:ea typeface="Arial"/>
                <a:cs typeface="Arial"/>
              </a:defRPr>
            </a:pPr>
            <a:r>
              <a:rPr sz="1725" b="0">
                <a:solidFill>
                  <a:srgbClr val="D8E5F3"/>
                </a:solidFill>
                <a:latin typeface="Arial"/>
                <a:ea typeface="Arial"/>
                <a:cs typeface="Arial"/>
              </a:rPr>
              <a:t>Học tăng cường trên dữ liệu Caltech ACN-Data</a:t>
            </a:r>
          </a:p>
        </p:txBody>
      </p:sp>
      <p:sp>
        <p:nvSpPr>
          <p:cNvPr id="4" name="Rectangle 3">
            <a:extLst xmlns:a="http://schemas.openxmlformats.org/drawingml/2006/main">
              <a:ext uri="{FF2B5EF4-FFF2-40B4-BE49-F238E27FC236}">
                <a16:creationId xmlns:a16="http://schemas.microsoft.com/office/drawing/2014/main" id="{B5ECD8DE-F76C-4491-BE37-3DACC50B7EBA}"/>
              </a:ext>
            </a:extLst>
          </p:cNvPr>
          <p:cNvSpPr>
            <a:spLocks xmlns:a="http://schemas.openxmlformats.org/drawingml/2006/main" noGrp="1"/>
          </p:cNvSpPr>
          <p:nvPr/>
        </p:nvSpPr>
        <p:spPr>
          <a:xfrm xmlns:a="http://schemas.openxmlformats.org/drawingml/2006/main">
            <a:off x="1085850" y="3638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F59E42"/>
                </a:solidFill>
                <a:latin typeface="Arial"/>
                <a:ea typeface="Arial"/>
                <a:cs typeface="Arial"/>
              </a:defRPr>
            </a:pPr>
            <a:r>
              <a:rPr sz="1275" b="1">
                <a:solidFill>
                  <a:srgbClr val="F59E42"/>
                </a:solidFill>
                <a:latin typeface="Arial"/>
                <a:ea typeface="Arial"/>
                <a:cs typeface="Arial"/>
              </a:rPr>
              <a:t>Nhóm thực hiện</a:t>
            </a:r>
          </a:p>
        </p:txBody>
      </p:sp>
      <p:sp>
        <p:nvSpPr>
          <p:cNvPr id="5" name="Rectangle 4">
            <a:extLst xmlns:a="http://schemas.openxmlformats.org/drawingml/2006/main">
              <a:ext uri="{FF2B5EF4-FFF2-40B4-BE49-F238E27FC236}">
                <a16:creationId xmlns:a16="http://schemas.microsoft.com/office/drawing/2014/main" id="{EE793F9D-5A37-40A9-8F41-5AFA157107EE}"/>
              </a:ext>
            </a:extLst>
          </p:cNvPr>
          <p:cNvSpPr>
            <a:spLocks xmlns:a="http://schemas.openxmlformats.org/drawingml/2006/main" noGrp="1"/>
          </p:cNvSpPr>
          <p:nvPr/>
        </p:nvSpPr>
        <p:spPr>
          <a:xfrm xmlns:a="http://schemas.openxmlformats.org/drawingml/2006/main">
            <a:off x="1085850" y="3981450"/>
            <a:ext cx="990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0">
                <a:solidFill>
                  <a:srgbClr val="FFFFFF"/>
                </a:solidFill>
                <a:latin typeface="Arial"/>
                <a:ea typeface="Arial"/>
                <a:cs typeface="Arial"/>
              </a:defRPr>
            </a:pPr>
            <a:r>
              <a:rPr sz="1575" b="0">
                <a:solidFill>
                  <a:srgbClr val="FFFFFF"/>
                </a:solidFill>
                <a:latin typeface="Arial"/>
                <a:ea typeface="Arial"/>
                <a:cs typeface="Arial"/>
              </a:rPr>
              <a:t>Nguyễn Quốc Bảo     2351067085</a:t>
            </a:r>
          </a:p>
          <a:p xmlns:a="http://schemas.openxmlformats.org/drawingml/2006/main">
            <a:pPr algn="l">
              <a:buNone/>
              <a:defRPr sz="1575" b="0">
                <a:solidFill>
                  <a:srgbClr val="FFFFFF"/>
                </a:solidFill>
                <a:latin typeface="Arial"/>
                <a:ea typeface="Arial"/>
                <a:cs typeface="Arial"/>
              </a:defRPr>
            </a:pPr>
            <a:r>
              <a:rPr sz="1575" b="0">
                <a:solidFill>
                  <a:srgbClr val="FFFFFF"/>
                </a:solidFill>
                <a:latin typeface="Arial"/>
                <a:ea typeface="Arial"/>
                <a:cs typeface="Arial"/>
              </a:rPr>
              <a:t>Trần Tất Phát            2351067106</a:t>
            </a:r>
          </a:p>
          <a:p xmlns:a="http://schemas.openxmlformats.org/drawingml/2006/main">
            <a:pPr algn="l">
              <a:buNone/>
              <a:defRPr sz="1575" b="0">
                <a:solidFill>
                  <a:srgbClr val="FFFFFF"/>
                </a:solidFill>
                <a:latin typeface="Arial"/>
                <a:ea typeface="Arial"/>
                <a:cs typeface="Arial"/>
              </a:defRPr>
            </a:pPr>
            <a:r>
              <a:rPr sz="1575" b="0">
                <a:solidFill>
                  <a:srgbClr val="FFFFFF"/>
                </a:solidFill>
                <a:latin typeface="Arial"/>
                <a:ea typeface="Arial"/>
                <a:cs typeface="Arial"/>
              </a:rPr>
              <a:t>Trần Minh Quân        2351067110</a:t>
            </a:r>
          </a:p>
        </p:txBody>
      </p:sp>
      <p:sp>
        <p:nvSpPr>
          <p:cNvPr id="6" name="Rectangle 5">
            <a:extLst xmlns:a="http://schemas.openxmlformats.org/drawingml/2006/main">
              <a:ext uri="{FF2B5EF4-FFF2-40B4-BE49-F238E27FC236}">
                <a16:creationId xmlns:a16="http://schemas.microsoft.com/office/drawing/2014/main" id="{2B523FB0-984A-4380-ABDA-FD8B0C24151C}"/>
              </a:ext>
            </a:extLst>
          </p:cNvPr>
          <p:cNvSpPr>
            <a:spLocks xmlns:a="http://schemas.openxmlformats.org/drawingml/2006/main" noGrp="1"/>
          </p:cNvSpPr>
          <p:nvPr/>
        </p:nvSpPr>
        <p:spPr>
          <a:xfrm xmlns:a="http://schemas.openxmlformats.org/drawingml/2006/main">
            <a:off x="1085850" y="56197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125" b="0">
                <a:solidFill>
                  <a:srgbClr val="AFC2D8"/>
                </a:solidFill>
                <a:latin typeface="Arial"/>
                <a:ea typeface="Arial"/>
                <a:cs typeface="Arial"/>
              </a:defRPr>
            </a:pPr>
            <a:r>
              <a:rPr sz="1125" b="0">
                <a:solidFill>
                  <a:srgbClr val="AFC2D8"/>
                </a:solidFill>
                <a:latin typeface="Arial"/>
                <a:ea typeface="Arial"/>
                <a:cs typeface="Arial"/>
              </a:rPr>
              <a:t>Môn Khai phá dữ liệu</a:t>
            </a:r>
          </a:p>
          <a:p xmlns:a="http://schemas.openxmlformats.org/drawingml/2006/main">
            <a:pPr algn="l">
              <a:buNone/>
              <a:defRPr sz="1125" b="0">
                <a:solidFill>
                  <a:srgbClr val="AFC2D8"/>
                </a:solidFill>
                <a:latin typeface="Arial"/>
                <a:ea typeface="Arial"/>
                <a:cs typeface="Arial"/>
              </a:defRPr>
            </a:pPr>
            <a:r>
              <a:rPr sz="1125" b="0">
                <a:solidFill>
                  <a:srgbClr val="AFC2D8"/>
                </a:solidFill>
                <a:latin typeface="Arial"/>
                <a:ea typeface="Arial"/>
                <a:cs typeface="Arial"/>
              </a:rPr>
              <a:t>Hồ Chí Minh, 2026</a:t>
            </a:r>
          </a:p>
        </p:txBody>
      </p:sp>
    </p:spTree>
    <p:extLst>
      <p:ext uri="{BB962C8B-B14F-4D97-AF65-F5344CB8AC3E}">
        <p14:creationId xmlns:p14="http://schemas.microsoft.com/office/powerpoint/2010/main" val="5851910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Bài toán phân bổ công suất sạc</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02</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sp>
        <p:nvSpPr>
          <p:cNvPr id="15" name="lead">
            <a:extLst xmlns:a="http://schemas.openxmlformats.org/drawingml/2006/main">
              <a:ext uri="{FF2B5EF4-FFF2-40B4-BE49-F238E27FC236}">
                <a16:creationId xmlns:a16="http://schemas.microsoft.com/office/drawing/2014/main" id="{C41F83D2-3389-45F8-A67C-63A97DC97C93}"/>
              </a:ext>
            </a:extLst>
          </p:cNvPr>
          <p:cNvSpPr>
            <a:spLocks xmlns:a="http://schemas.openxmlformats.org/drawingml/2006/main" noGrp="1"/>
          </p:cNvSpPr>
          <p:nvPr/>
        </p:nvSpPr>
        <p:spPr>
          <a:xfrm xmlns:a="http://schemas.openxmlformats.org/drawingml/2006/main">
            <a:off x="609600" y="1028700"/>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82D4B"/>
                </a:solidFill>
                <a:latin typeface="Arial"/>
                <a:ea typeface="Arial"/>
                <a:cs typeface="Arial"/>
              </a:defRPr>
            </a:defPPr>
            <a:lvl1pPr algn="l">
              <a:buNone/>
              <a:defRPr sz="2325" b="1">
                <a:solidFill>
                  <a:srgbClr val="182D4B"/>
                </a:solidFill>
                <a:latin typeface="Arial"/>
                <a:ea typeface="Arial"/>
                <a:cs typeface="Arial"/>
              </a:defRPr>
            </a:lvl1pPr>
            <a:lvl2pPr algn="l">
              <a:buNone/>
              <a:defRPr sz="2325" b="1">
                <a:solidFill>
                  <a:srgbClr val="182D4B"/>
                </a:solidFill>
                <a:latin typeface="Arial"/>
                <a:ea typeface="Arial"/>
                <a:cs typeface="Arial"/>
              </a:defRPr>
            </a:lvl2pPr>
            <a:lvl3pPr algn="l">
              <a:buNone/>
              <a:defRPr sz="2325" b="1">
                <a:solidFill>
                  <a:srgbClr val="182D4B"/>
                </a:solidFill>
                <a:latin typeface="Arial"/>
                <a:ea typeface="Arial"/>
                <a:cs typeface="Arial"/>
              </a:defRPr>
            </a:lvl3pPr>
            <a:lvl4pPr algn="l">
              <a:buNone/>
              <a:defRPr sz="2325" b="1">
                <a:solidFill>
                  <a:srgbClr val="182D4B"/>
                </a:solidFill>
                <a:latin typeface="Arial"/>
                <a:ea typeface="Arial"/>
                <a:cs typeface="Arial"/>
              </a:defRPr>
            </a:lvl4pPr>
            <a:lvl5pPr algn="l">
              <a:buNone/>
              <a:defRPr sz="2325" b="1">
                <a:solidFill>
                  <a:srgbClr val="182D4B"/>
                </a:solidFill>
                <a:latin typeface="Arial"/>
                <a:ea typeface="Arial"/>
                <a:cs typeface="Arial"/>
              </a:defRPr>
            </a:lvl5pPr>
            <a:lvl6pPr algn="l">
              <a:buNone/>
              <a:defRPr sz="2325" b="1">
                <a:solidFill>
                  <a:srgbClr val="182D4B"/>
                </a:solidFill>
                <a:latin typeface="Arial"/>
                <a:ea typeface="Arial"/>
                <a:cs typeface="Arial"/>
              </a:defRPr>
            </a:lvl6pPr>
            <a:lvl7pPr algn="l">
              <a:buNone/>
              <a:defRPr sz="2325" b="1">
                <a:solidFill>
                  <a:srgbClr val="182D4B"/>
                </a:solidFill>
                <a:latin typeface="Arial"/>
                <a:ea typeface="Arial"/>
                <a:cs typeface="Arial"/>
              </a:defRPr>
            </a:lvl7pPr>
            <a:lvl8pPr algn="l">
              <a:buNone/>
              <a:defRPr sz="2325" b="1">
                <a:solidFill>
                  <a:srgbClr val="182D4B"/>
                </a:solidFill>
                <a:latin typeface="Arial"/>
                <a:ea typeface="Arial"/>
                <a:cs typeface="Arial"/>
              </a:defRPr>
            </a:lvl8pPr>
            <a:lvl9pPr algn="l">
              <a:buNone/>
              <a:defRPr sz="2325" b="1">
                <a:solidFill>
                  <a:srgbClr val="182D4B"/>
                </a:solidFill>
                <a:latin typeface="Arial"/>
                <a:ea typeface="Arial"/>
                <a:cs typeface="Arial"/>
              </a:defRPr>
            </a:lvl9pPr>
          </a:lstStyle>
          <a:p xmlns:a="http://schemas.openxmlformats.org/drawingml/2006/main">
            <a:pPr algn="l">
              <a:buNone/>
              <a:defRPr sz="2325" b="1">
                <a:solidFill>
                  <a:srgbClr val="182D4B"/>
                </a:solidFill>
                <a:latin typeface="Arial"/>
                <a:ea typeface="Arial"/>
                <a:cs typeface="Arial"/>
              </a:defRPr>
            </a:pPr>
            <a:r>
              <a:rPr sz="2325" b="1">
                <a:solidFill>
                  <a:srgbClr val="182D4B"/>
                </a:solidFill>
                <a:latin typeface="Arial"/>
                <a:ea typeface="Arial"/>
                <a:cs typeface="Arial"/>
              </a:rPr>
              <a:t>Mỗi 15 phút, hệ thống quyết định cấp bao nhiêu kW cho từng xe</a:t>
            </a:r>
          </a:p>
        </p:txBody>
      </p:sp>
      <p:graphicFrame>
        <p:nvGraphicFramePr>
          <p:cNvPr id="16" name="">
            <a:extLst xmlns:a="http://schemas.openxmlformats.org/drawingml/2006/main">
              <a:ext uri="{FF2B5EF4-FFF2-40B4-BE49-F238E27FC236}">
                <a16:creationId xmlns:a16="http://schemas.microsoft.com/office/drawing/2014/main" id="{DD9165EE-25EC-4B0C-8C7A-6C12D5165713}"/>
              </a:ext>
            </a:extLst>
          </p:cNvPr>
          <p:cNvGraphicFramePr/>
          <p:nvPr/>
        </p:nvGraphicFramePr>
        <p:xfrm>
          <a:off xmlns:a="http://schemas.openxmlformats.org/drawingml/2006/main" x="609600" y="2143125"/>
          <a:ext xmlns:a="http://schemas.openxmlformats.org/drawingml/2006/main" cx="10972800" cy="3190875"/>
        </p:xfrm>
        <a:graphic xmlns:a="http://schemas.openxmlformats.org/drawingml/2006/main">
          <a:graphicData uri="http://schemas.openxmlformats.org/drawingml/2006/table">
            <a:tbl>
              <a:tblPr/>
              <a:tblGrid>
                <a:gridCol w="2190750"/>
                <a:gridCol w="8782050"/>
              </a:tblGrid>
              <a:tr h="638175">
                <a:tc>
                  <a:txBody>
                    <a:bodyPr wrap="square" lIns="95250" tIns="76200" rIns="95250" bIns="76200">
                      <a:noAutofit/>
                    </a:bodyPr>
                    <a:lstStyle/>
                    <a:p>
                      <a:pPr algn="l">
                        <a:buNone/>
                      </a:pPr>
                      <a:r>
                        <a:rPr sz="1875" b="1">
                          <a:solidFill>
                            <a:srgbClr val="FFFFFF"/>
                          </a:solidFill>
                          <a:latin typeface="Arial"/>
                          <a:ea typeface="Arial"/>
                          <a:cs typeface="Arial"/>
                        </a:rPr>
                        <a:t>Thành phần</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875" b="1">
                          <a:solidFill>
                            <a:srgbClr val="FFFFFF"/>
                          </a:solidFill>
                          <a:latin typeface="Arial"/>
                          <a:ea typeface="Arial"/>
                          <a:cs typeface="Arial"/>
                        </a:rPr>
                        <a:t>Nội dung</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638175">
                <a:tc>
                  <a:txBody>
                    <a:bodyPr wrap="square" lIns="95250" tIns="76200" rIns="95250" bIns="76200">
                      <a:noAutofit/>
                    </a:bodyPr>
                    <a:lstStyle/>
                    <a:p>
                      <a:pPr algn="l">
                        <a:buNone/>
                      </a:pPr>
                      <a:r>
                        <a:rPr sz="1875" b="0">
                          <a:solidFill>
                            <a:srgbClr val="1F2937"/>
                          </a:solidFill>
                          <a:latin typeface="Arial"/>
                          <a:ea typeface="Arial"/>
                          <a:cs typeface="Arial"/>
                        </a:rPr>
                        <a:t>Đầu vào</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75" b="0">
                          <a:solidFill>
                            <a:srgbClr val="1F2937"/>
                          </a:solidFill>
                          <a:latin typeface="Arial"/>
                          <a:ea typeface="Arial"/>
                          <a:cs typeface="Arial"/>
                        </a:rPr>
                        <a:t>Giờ cắm xe, điện yêu cầu và hạn rời đã khai báo</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638175">
                <a:tc>
                  <a:txBody>
                    <a:bodyPr wrap="square" lIns="95250" tIns="76200" rIns="95250" bIns="76200">
                      <a:noAutofit/>
                    </a:bodyPr>
                    <a:lstStyle/>
                    <a:p>
                      <a:pPr algn="l">
                        <a:buNone/>
                      </a:pPr>
                      <a:r>
                        <a:rPr sz="1875" b="0">
                          <a:solidFill>
                            <a:srgbClr val="1F2937"/>
                          </a:solidFill>
                          <a:latin typeface="Arial"/>
                          <a:ea typeface="Arial"/>
                          <a:cs typeface="Arial"/>
                        </a:rPr>
                        <a:t>Quyết định</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75" b="0">
                          <a:solidFill>
                            <a:srgbClr val="1F2937"/>
                          </a:solidFill>
                          <a:latin typeface="Arial"/>
                          <a:ea typeface="Arial"/>
                          <a:cs typeface="Arial"/>
                        </a:rPr>
                        <a:t>Công suất từng xe trong khoảng 15 phút kế tiếp</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638175">
                <a:tc>
                  <a:txBody>
                    <a:bodyPr wrap="square" lIns="95250" tIns="76200" rIns="95250" bIns="76200">
                      <a:noAutofit/>
                    </a:bodyPr>
                    <a:lstStyle/>
                    <a:p>
                      <a:pPr algn="l">
                        <a:buNone/>
                      </a:pPr>
                      <a:r>
                        <a:rPr sz="1875" b="0">
                          <a:solidFill>
                            <a:srgbClr val="1F2937"/>
                          </a:solidFill>
                          <a:latin typeface="Arial"/>
                          <a:ea typeface="Arial"/>
                          <a:cs typeface="Arial"/>
                        </a:rPr>
                        <a:t>Mục tiêu</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75" b="0">
                          <a:solidFill>
                            <a:srgbClr val="1F2937"/>
                          </a:solidFill>
                          <a:latin typeface="Arial"/>
                          <a:ea typeface="Arial"/>
                          <a:cs typeface="Arial"/>
                        </a:rPr>
                        <a:t>Giảm điện thiếu và thời gian chờ/chậm</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638175">
                <a:tc>
                  <a:txBody>
                    <a:bodyPr wrap="square" lIns="95250" tIns="76200" rIns="95250" bIns="76200">
                      <a:noAutofit/>
                    </a:bodyPr>
                    <a:lstStyle/>
                    <a:p>
                      <a:pPr algn="l">
                        <a:buNone/>
                      </a:pPr>
                      <a:r>
                        <a:rPr sz="1875" b="0">
                          <a:solidFill>
                            <a:srgbClr val="1F2937"/>
                          </a:solidFill>
                          <a:latin typeface="Arial"/>
                          <a:ea typeface="Arial"/>
                          <a:cs typeface="Arial"/>
                        </a:rPr>
                        <a:t>Ràng buộc</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75" b="0">
                          <a:solidFill>
                            <a:srgbClr val="1F2937"/>
                          </a:solidFill>
                          <a:latin typeface="Arial"/>
                          <a:ea typeface="Arial"/>
                          <a:cs typeface="Arial"/>
                        </a:rPr>
                        <a:t>Giới hạn cổng, tổng trạm, nhóm cổng và dòng từng pha</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bl>
          </a:graphicData>
        </a:graphic>
      </p:graphicFrame>
      <p:sp>
        <p:nvSpPr>
          <p:cNvPr id="17" name="takeaway">
            <a:extLst xmlns:a="http://schemas.openxmlformats.org/drawingml/2006/main">
              <a:ext uri="{FF2B5EF4-FFF2-40B4-BE49-F238E27FC236}">
                <a16:creationId xmlns:a16="http://schemas.microsoft.com/office/drawing/2014/main" id="{7627A1EB-BB08-489F-B26E-1690322969C7}"/>
              </a:ext>
            </a:extLst>
          </p:cNvPr>
          <p:cNvSpPr>
            <a:spLocks xmlns:a="http://schemas.openxmlformats.org/drawingml/2006/main" noGrp="1"/>
          </p:cNvSpPr>
          <p:nvPr/>
        </p:nvSpPr>
        <p:spPr>
          <a:xfrm xmlns:a="http://schemas.openxmlformats.org/drawingml/2006/main">
            <a:off x="609600" y="5619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696C5"/>
                </a:solidFill>
                <a:latin typeface="Arial"/>
                <a:ea typeface="Arial"/>
                <a:cs typeface="Arial"/>
              </a:defRPr>
            </a:defPPr>
            <a:lvl1pPr algn="l">
              <a:buNone/>
              <a:defRPr sz="1950" b="1">
                <a:solidFill>
                  <a:srgbClr val="2696C5"/>
                </a:solidFill>
                <a:latin typeface="Arial"/>
                <a:ea typeface="Arial"/>
                <a:cs typeface="Arial"/>
              </a:defRPr>
            </a:lvl1pPr>
            <a:lvl2pPr algn="l">
              <a:buNone/>
              <a:defRPr sz="1950" b="1">
                <a:solidFill>
                  <a:srgbClr val="2696C5"/>
                </a:solidFill>
                <a:latin typeface="Arial"/>
                <a:ea typeface="Arial"/>
                <a:cs typeface="Arial"/>
              </a:defRPr>
            </a:lvl2pPr>
            <a:lvl3pPr algn="l">
              <a:buNone/>
              <a:defRPr sz="1950" b="1">
                <a:solidFill>
                  <a:srgbClr val="2696C5"/>
                </a:solidFill>
                <a:latin typeface="Arial"/>
                <a:ea typeface="Arial"/>
                <a:cs typeface="Arial"/>
              </a:defRPr>
            </a:lvl3pPr>
            <a:lvl4pPr algn="l">
              <a:buNone/>
              <a:defRPr sz="1950" b="1">
                <a:solidFill>
                  <a:srgbClr val="2696C5"/>
                </a:solidFill>
                <a:latin typeface="Arial"/>
                <a:ea typeface="Arial"/>
                <a:cs typeface="Arial"/>
              </a:defRPr>
            </a:lvl4pPr>
            <a:lvl5pPr algn="l">
              <a:buNone/>
              <a:defRPr sz="1950" b="1">
                <a:solidFill>
                  <a:srgbClr val="2696C5"/>
                </a:solidFill>
                <a:latin typeface="Arial"/>
                <a:ea typeface="Arial"/>
                <a:cs typeface="Arial"/>
              </a:defRPr>
            </a:lvl5pPr>
            <a:lvl6pPr algn="l">
              <a:buNone/>
              <a:defRPr sz="1950" b="1">
                <a:solidFill>
                  <a:srgbClr val="2696C5"/>
                </a:solidFill>
                <a:latin typeface="Arial"/>
                <a:ea typeface="Arial"/>
                <a:cs typeface="Arial"/>
              </a:defRPr>
            </a:lvl6pPr>
            <a:lvl7pPr algn="l">
              <a:buNone/>
              <a:defRPr sz="1950" b="1">
                <a:solidFill>
                  <a:srgbClr val="2696C5"/>
                </a:solidFill>
                <a:latin typeface="Arial"/>
                <a:ea typeface="Arial"/>
                <a:cs typeface="Arial"/>
              </a:defRPr>
            </a:lvl7pPr>
            <a:lvl8pPr algn="l">
              <a:buNone/>
              <a:defRPr sz="1950" b="1">
                <a:solidFill>
                  <a:srgbClr val="2696C5"/>
                </a:solidFill>
                <a:latin typeface="Arial"/>
                <a:ea typeface="Arial"/>
                <a:cs typeface="Arial"/>
              </a:defRPr>
            </a:lvl8pPr>
            <a:lvl9pPr algn="l">
              <a:buNone/>
              <a:defRPr sz="1950" b="1">
                <a:solidFill>
                  <a:srgbClr val="2696C5"/>
                </a:solidFill>
                <a:latin typeface="Arial"/>
                <a:ea typeface="Arial"/>
                <a:cs typeface="Arial"/>
              </a:defRPr>
            </a:lvl9pPr>
          </a:lstStyle>
          <a:p xmlns:a="http://schemas.openxmlformats.org/drawingml/2006/main">
            <a:pPr algn="l">
              <a:buNone/>
              <a:defRPr sz="1950" b="1">
                <a:solidFill>
                  <a:srgbClr val="2696C5"/>
                </a:solidFill>
                <a:latin typeface="Arial"/>
                <a:ea typeface="Arial"/>
                <a:cs typeface="Arial"/>
              </a:defRPr>
            </a:pPr>
            <a:r>
              <a:rPr sz="1950" b="1">
                <a:solidFill>
                  <a:srgbClr val="2696C5"/>
                </a:solidFill>
                <a:latin typeface="Arial"/>
                <a:ea typeface="Arial"/>
                <a:cs typeface="Arial"/>
              </a:rPr>
              <a:t>Câu hỏi nghiên cứu: PPO có cải thiện so với các cách chia điện không học?</a:t>
            </a:r>
          </a:p>
        </p:txBody>
      </p:sp>
    </p:spTree>
    <p:extLst>
      <p:ext uri="{BB962C8B-B14F-4D97-AF65-F5344CB8AC3E}">
        <p14:creationId xmlns:p14="http://schemas.microsoft.com/office/powerpoint/2010/main" val="16168769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5C7B46A8-1904-42A7-97F7-F668331B43DE}"/>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B5CB83D9-EE2B-46FE-A295-436A428214D2}"/>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Dữ liệu Caltech ACN-Data</a:t>
            </a:r>
          </a:p>
        </p:txBody>
      </p:sp>
      <p:sp>
        <p:nvSpPr>
          <p:cNvPr id="3" name="Rectangle 2">
            <a:extLst xmlns:a="http://schemas.openxmlformats.org/drawingml/2006/main">
              <a:ext uri="{FF2B5EF4-FFF2-40B4-BE49-F238E27FC236}">
                <a16:creationId xmlns:a16="http://schemas.microsoft.com/office/drawing/2014/main" id="{866F0E8D-7ADD-4985-8E99-E410527DC3CB}"/>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03</a:t>
            </a:r>
          </a:p>
        </p:txBody>
      </p:sp>
      <p:sp>
        <p:nvSpPr>
          <p:cNvPr id="32" name="Rectangle 31">
            <a:extLst xmlns:a="http://schemas.openxmlformats.org/drawingml/2006/main">
              <a:ext uri="{FF2B5EF4-FFF2-40B4-BE49-F238E27FC236}">
                <a16:creationId xmlns:a16="http://schemas.microsoft.com/office/drawing/2014/main" id="{384AB03C-9DA6-410C-949D-B49A6DDECB7A}"/>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sp>
        <p:nvSpPr>
          <p:cNvPr id="34" name="metric-0">
            <a:extLst xmlns:a="http://schemas.openxmlformats.org/drawingml/2006/main">
              <a:ext uri="{FF2B5EF4-FFF2-40B4-BE49-F238E27FC236}">
                <a16:creationId xmlns:a16="http://schemas.microsoft.com/office/drawing/2014/main" id="{D681BFC2-5164-4E3E-AD9F-3B81D759D7E6}"/>
              </a:ext>
            </a:extLst>
          </p:cNvPr>
          <p:cNvSpPr>
            <a:spLocks xmlns:a="http://schemas.openxmlformats.org/drawingml/2006/main" noGrp="1"/>
          </p:cNvSpPr>
          <p:nvPr/>
        </p:nvSpPr>
        <p:spPr>
          <a:xfrm xmlns:a="http://schemas.openxmlformats.org/drawingml/2006/main">
            <a:off x="609600" y="105727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F59E42"/>
                </a:solidFill>
                <a:latin typeface="Arial"/>
                <a:ea typeface="Arial"/>
                <a:cs typeface="Arial"/>
              </a:defRPr>
            </a:defPPr>
            <a:lvl1pPr algn="l">
              <a:buNone/>
              <a:defRPr sz="2775" b="1">
                <a:solidFill>
                  <a:srgbClr val="F59E42"/>
                </a:solidFill>
                <a:latin typeface="Arial"/>
                <a:ea typeface="Arial"/>
                <a:cs typeface="Arial"/>
              </a:defRPr>
            </a:lvl1pPr>
            <a:lvl2pPr algn="l">
              <a:buNone/>
              <a:defRPr sz="2775" b="1">
                <a:solidFill>
                  <a:srgbClr val="F59E42"/>
                </a:solidFill>
                <a:latin typeface="Arial"/>
                <a:ea typeface="Arial"/>
                <a:cs typeface="Arial"/>
              </a:defRPr>
            </a:lvl2pPr>
            <a:lvl3pPr algn="l">
              <a:buNone/>
              <a:defRPr sz="2775" b="1">
                <a:solidFill>
                  <a:srgbClr val="F59E42"/>
                </a:solidFill>
                <a:latin typeface="Arial"/>
                <a:ea typeface="Arial"/>
                <a:cs typeface="Arial"/>
              </a:defRPr>
            </a:lvl3pPr>
            <a:lvl4pPr algn="l">
              <a:buNone/>
              <a:defRPr sz="2775" b="1">
                <a:solidFill>
                  <a:srgbClr val="F59E42"/>
                </a:solidFill>
                <a:latin typeface="Arial"/>
                <a:ea typeface="Arial"/>
                <a:cs typeface="Arial"/>
              </a:defRPr>
            </a:lvl4pPr>
            <a:lvl5pPr algn="l">
              <a:buNone/>
              <a:defRPr sz="2775" b="1">
                <a:solidFill>
                  <a:srgbClr val="F59E42"/>
                </a:solidFill>
                <a:latin typeface="Arial"/>
                <a:ea typeface="Arial"/>
                <a:cs typeface="Arial"/>
              </a:defRPr>
            </a:lvl5pPr>
            <a:lvl6pPr algn="l">
              <a:buNone/>
              <a:defRPr sz="2775" b="1">
                <a:solidFill>
                  <a:srgbClr val="F59E42"/>
                </a:solidFill>
                <a:latin typeface="Arial"/>
                <a:ea typeface="Arial"/>
                <a:cs typeface="Arial"/>
              </a:defRPr>
            </a:lvl6pPr>
            <a:lvl7pPr algn="l">
              <a:buNone/>
              <a:defRPr sz="2775" b="1">
                <a:solidFill>
                  <a:srgbClr val="F59E42"/>
                </a:solidFill>
                <a:latin typeface="Arial"/>
                <a:ea typeface="Arial"/>
                <a:cs typeface="Arial"/>
              </a:defRPr>
            </a:lvl7pPr>
            <a:lvl8pPr algn="l">
              <a:buNone/>
              <a:defRPr sz="2775" b="1">
                <a:solidFill>
                  <a:srgbClr val="F59E42"/>
                </a:solidFill>
                <a:latin typeface="Arial"/>
                <a:ea typeface="Arial"/>
                <a:cs typeface="Arial"/>
              </a:defRPr>
            </a:lvl8pPr>
            <a:lvl9pPr algn="l">
              <a:buNone/>
              <a:defRPr sz="2775" b="1">
                <a:solidFill>
                  <a:srgbClr val="F59E42"/>
                </a:solidFill>
                <a:latin typeface="Arial"/>
                <a:ea typeface="Arial"/>
                <a:cs typeface="Arial"/>
              </a:defRPr>
            </a:lvl9pPr>
          </a:lstStyle>
          <a:p xmlns:a="http://schemas.openxmlformats.org/drawingml/2006/main">
            <a:pPr algn="l">
              <a:buNone/>
              <a:defRPr sz="2775" b="1">
                <a:solidFill>
                  <a:srgbClr val="F59E42"/>
                </a:solidFill>
                <a:latin typeface="Arial"/>
                <a:ea typeface="Arial"/>
                <a:cs typeface="Arial"/>
              </a:defRPr>
            </a:pPr>
            <a:r>
              <a:rPr sz="2775" b="1">
                <a:solidFill>
                  <a:srgbClr val="F59E42"/>
                </a:solidFill>
                <a:latin typeface="Arial"/>
                <a:ea typeface="Arial"/>
                <a:cs typeface="Arial"/>
              </a:rPr>
              <a:t>508.995</a:t>
            </a:r>
          </a:p>
        </p:txBody>
      </p:sp>
      <p:sp>
        <p:nvSpPr>
          <p:cNvPr id="35" name="label-0">
            <a:extLst xmlns:a="http://schemas.openxmlformats.org/drawingml/2006/main">
              <a:ext uri="{FF2B5EF4-FFF2-40B4-BE49-F238E27FC236}">
                <a16:creationId xmlns:a16="http://schemas.microsoft.com/office/drawing/2014/main" id="{82937EC3-2F1C-4C3F-9A81-3FB312B28716}"/>
              </a:ext>
            </a:extLst>
          </p:cNvPr>
          <p:cNvSpPr>
            <a:spLocks xmlns:a="http://schemas.openxmlformats.org/drawingml/2006/main" noGrp="1"/>
          </p:cNvSpPr>
          <p:nvPr/>
        </p:nvSpPr>
        <p:spPr>
          <a:xfrm xmlns:a="http://schemas.openxmlformats.org/drawingml/2006/main">
            <a:off x="609600" y="16573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6B7A"/>
                </a:solidFill>
                <a:latin typeface="Arial"/>
                <a:ea typeface="Arial"/>
                <a:cs typeface="Arial"/>
              </a:defRPr>
            </a:defPPr>
            <a:lvl1pPr algn="l">
              <a:buNone/>
              <a:defRPr sz="1650" b="0">
                <a:solidFill>
                  <a:srgbClr val="5E6B7A"/>
                </a:solidFill>
                <a:latin typeface="Arial"/>
                <a:ea typeface="Arial"/>
                <a:cs typeface="Arial"/>
              </a:defRPr>
            </a:lvl1pPr>
            <a:lvl2pPr algn="l">
              <a:buNone/>
              <a:defRPr sz="1650" b="0">
                <a:solidFill>
                  <a:srgbClr val="5E6B7A"/>
                </a:solidFill>
                <a:latin typeface="Arial"/>
                <a:ea typeface="Arial"/>
                <a:cs typeface="Arial"/>
              </a:defRPr>
            </a:lvl2pPr>
            <a:lvl3pPr algn="l">
              <a:buNone/>
              <a:defRPr sz="1650" b="0">
                <a:solidFill>
                  <a:srgbClr val="5E6B7A"/>
                </a:solidFill>
                <a:latin typeface="Arial"/>
                <a:ea typeface="Arial"/>
                <a:cs typeface="Arial"/>
              </a:defRPr>
            </a:lvl3pPr>
            <a:lvl4pPr algn="l">
              <a:buNone/>
              <a:defRPr sz="1650" b="0">
                <a:solidFill>
                  <a:srgbClr val="5E6B7A"/>
                </a:solidFill>
                <a:latin typeface="Arial"/>
                <a:ea typeface="Arial"/>
                <a:cs typeface="Arial"/>
              </a:defRPr>
            </a:lvl4pPr>
            <a:lvl5pPr algn="l">
              <a:buNone/>
              <a:defRPr sz="1650" b="0">
                <a:solidFill>
                  <a:srgbClr val="5E6B7A"/>
                </a:solidFill>
                <a:latin typeface="Arial"/>
                <a:ea typeface="Arial"/>
                <a:cs typeface="Arial"/>
              </a:defRPr>
            </a:lvl5pPr>
            <a:lvl6pPr algn="l">
              <a:buNone/>
              <a:defRPr sz="1650" b="0">
                <a:solidFill>
                  <a:srgbClr val="5E6B7A"/>
                </a:solidFill>
                <a:latin typeface="Arial"/>
                <a:ea typeface="Arial"/>
                <a:cs typeface="Arial"/>
              </a:defRPr>
            </a:lvl6pPr>
            <a:lvl7pPr algn="l">
              <a:buNone/>
              <a:defRPr sz="1650" b="0">
                <a:solidFill>
                  <a:srgbClr val="5E6B7A"/>
                </a:solidFill>
                <a:latin typeface="Arial"/>
                <a:ea typeface="Arial"/>
                <a:cs typeface="Arial"/>
              </a:defRPr>
            </a:lvl7pPr>
            <a:lvl8pPr algn="l">
              <a:buNone/>
              <a:defRPr sz="1650" b="0">
                <a:solidFill>
                  <a:srgbClr val="5E6B7A"/>
                </a:solidFill>
                <a:latin typeface="Arial"/>
                <a:ea typeface="Arial"/>
                <a:cs typeface="Arial"/>
              </a:defRPr>
            </a:lvl8pPr>
            <a:lvl9pPr algn="l">
              <a:buNone/>
              <a:defRPr sz="1650" b="0">
                <a:solidFill>
                  <a:srgbClr val="5E6B7A"/>
                </a:solidFill>
                <a:latin typeface="Arial"/>
                <a:ea typeface="Arial"/>
                <a:cs typeface="Arial"/>
              </a:defRPr>
            </a:lvl9pPr>
          </a:lstStyle>
          <a:p xmlns:a="http://schemas.openxmlformats.org/drawingml/2006/main">
            <a:pPr algn="l">
              <a:buNone/>
              <a:defRPr sz="1650" b="0">
                <a:solidFill>
                  <a:srgbClr val="5E6B7A"/>
                </a:solidFill>
                <a:latin typeface="Arial"/>
                <a:ea typeface="Arial"/>
                <a:cs typeface="Arial"/>
              </a:defRPr>
            </a:pPr>
            <a:r>
              <a:rPr sz="1650" b="0">
                <a:solidFill>
                  <a:srgbClr val="5E6B7A"/>
                </a:solidFill>
                <a:latin typeface="Arial"/>
                <a:ea typeface="Arial"/>
                <a:cs typeface="Arial"/>
              </a:rPr>
              <a:t>dòng CSV, 25 cột</a:t>
            </a:r>
          </a:p>
        </p:txBody>
      </p:sp>
      <p:sp>
        <p:nvSpPr>
          <p:cNvPr id="36" name="metric-1">
            <a:extLst xmlns:a="http://schemas.openxmlformats.org/drawingml/2006/main">
              <a:ext uri="{FF2B5EF4-FFF2-40B4-BE49-F238E27FC236}">
                <a16:creationId xmlns:a16="http://schemas.microsoft.com/office/drawing/2014/main" id="{C110527A-A933-4AFA-8CBC-0C6A09069667}"/>
              </a:ext>
            </a:extLst>
          </p:cNvPr>
          <p:cNvSpPr>
            <a:spLocks xmlns:a="http://schemas.openxmlformats.org/drawingml/2006/main" noGrp="1"/>
          </p:cNvSpPr>
          <p:nvPr/>
        </p:nvSpPr>
        <p:spPr>
          <a:xfrm xmlns:a="http://schemas.openxmlformats.org/drawingml/2006/main">
            <a:off x="3333750" y="105727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696C5"/>
                </a:solidFill>
                <a:latin typeface="Arial"/>
                <a:ea typeface="Arial"/>
                <a:cs typeface="Arial"/>
              </a:defRPr>
            </a:defPPr>
            <a:lvl1pPr algn="l">
              <a:buNone/>
              <a:defRPr sz="2775" b="1">
                <a:solidFill>
                  <a:srgbClr val="2696C5"/>
                </a:solidFill>
                <a:latin typeface="Arial"/>
                <a:ea typeface="Arial"/>
                <a:cs typeface="Arial"/>
              </a:defRPr>
            </a:lvl1pPr>
            <a:lvl2pPr algn="l">
              <a:buNone/>
              <a:defRPr sz="2775" b="1">
                <a:solidFill>
                  <a:srgbClr val="2696C5"/>
                </a:solidFill>
                <a:latin typeface="Arial"/>
                <a:ea typeface="Arial"/>
                <a:cs typeface="Arial"/>
              </a:defRPr>
            </a:lvl2pPr>
            <a:lvl3pPr algn="l">
              <a:buNone/>
              <a:defRPr sz="2775" b="1">
                <a:solidFill>
                  <a:srgbClr val="2696C5"/>
                </a:solidFill>
                <a:latin typeface="Arial"/>
                <a:ea typeface="Arial"/>
                <a:cs typeface="Arial"/>
              </a:defRPr>
            </a:lvl3pPr>
            <a:lvl4pPr algn="l">
              <a:buNone/>
              <a:defRPr sz="2775" b="1">
                <a:solidFill>
                  <a:srgbClr val="2696C5"/>
                </a:solidFill>
                <a:latin typeface="Arial"/>
                <a:ea typeface="Arial"/>
                <a:cs typeface="Arial"/>
              </a:defRPr>
            </a:lvl4pPr>
            <a:lvl5pPr algn="l">
              <a:buNone/>
              <a:defRPr sz="2775" b="1">
                <a:solidFill>
                  <a:srgbClr val="2696C5"/>
                </a:solidFill>
                <a:latin typeface="Arial"/>
                <a:ea typeface="Arial"/>
                <a:cs typeface="Arial"/>
              </a:defRPr>
            </a:lvl5pPr>
            <a:lvl6pPr algn="l">
              <a:buNone/>
              <a:defRPr sz="2775" b="1">
                <a:solidFill>
                  <a:srgbClr val="2696C5"/>
                </a:solidFill>
                <a:latin typeface="Arial"/>
                <a:ea typeface="Arial"/>
                <a:cs typeface="Arial"/>
              </a:defRPr>
            </a:lvl6pPr>
            <a:lvl7pPr algn="l">
              <a:buNone/>
              <a:defRPr sz="2775" b="1">
                <a:solidFill>
                  <a:srgbClr val="2696C5"/>
                </a:solidFill>
                <a:latin typeface="Arial"/>
                <a:ea typeface="Arial"/>
                <a:cs typeface="Arial"/>
              </a:defRPr>
            </a:lvl7pPr>
            <a:lvl8pPr algn="l">
              <a:buNone/>
              <a:defRPr sz="2775" b="1">
                <a:solidFill>
                  <a:srgbClr val="2696C5"/>
                </a:solidFill>
                <a:latin typeface="Arial"/>
                <a:ea typeface="Arial"/>
                <a:cs typeface="Arial"/>
              </a:defRPr>
            </a:lvl8pPr>
            <a:lvl9pPr algn="l">
              <a:buNone/>
              <a:defRPr sz="2775" b="1">
                <a:solidFill>
                  <a:srgbClr val="2696C5"/>
                </a:solidFill>
                <a:latin typeface="Arial"/>
                <a:ea typeface="Arial"/>
                <a:cs typeface="Arial"/>
              </a:defRPr>
            </a:lvl9pPr>
          </a:lstStyle>
          <a:p xmlns:a="http://schemas.openxmlformats.org/drawingml/2006/main">
            <a:pPr algn="l">
              <a:buNone/>
              <a:defRPr sz="2775" b="1">
                <a:solidFill>
                  <a:srgbClr val="2696C5"/>
                </a:solidFill>
                <a:latin typeface="Arial"/>
                <a:ea typeface="Arial"/>
                <a:cs typeface="Arial"/>
              </a:defRPr>
            </a:pPr>
            <a:r>
              <a:rPr sz="2775" b="1">
                <a:solidFill>
                  <a:srgbClr val="2696C5"/>
                </a:solidFill>
                <a:latin typeface="Arial"/>
                <a:ea typeface="Arial"/>
                <a:cs typeface="Arial"/>
              </a:rPr>
              <a:t>31.424</a:t>
            </a:r>
          </a:p>
        </p:txBody>
      </p:sp>
      <p:sp>
        <p:nvSpPr>
          <p:cNvPr id="37" name="label-1">
            <a:extLst xmlns:a="http://schemas.openxmlformats.org/drawingml/2006/main">
              <a:ext uri="{FF2B5EF4-FFF2-40B4-BE49-F238E27FC236}">
                <a16:creationId xmlns:a16="http://schemas.microsoft.com/office/drawing/2014/main" id="{D3471A1A-413E-4673-8623-D026CAD9AC9D}"/>
              </a:ext>
            </a:extLst>
          </p:cNvPr>
          <p:cNvSpPr>
            <a:spLocks xmlns:a="http://schemas.openxmlformats.org/drawingml/2006/main" noGrp="1"/>
          </p:cNvSpPr>
          <p:nvPr/>
        </p:nvSpPr>
        <p:spPr>
          <a:xfrm xmlns:a="http://schemas.openxmlformats.org/drawingml/2006/main">
            <a:off x="3333750" y="16573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6B7A"/>
                </a:solidFill>
                <a:latin typeface="Arial"/>
                <a:ea typeface="Arial"/>
                <a:cs typeface="Arial"/>
              </a:defRPr>
            </a:defPPr>
            <a:lvl1pPr algn="l">
              <a:buNone/>
              <a:defRPr sz="1650" b="0">
                <a:solidFill>
                  <a:srgbClr val="5E6B7A"/>
                </a:solidFill>
                <a:latin typeface="Arial"/>
                <a:ea typeface="Arial"/>
                <a:cs typeface="Arial"/>
              </a:defRPr>
            </a:lvl1pPr>
            <a:lvl2pPr algn="l">
              <a:buNone/>
              <a:defRPr sz="1650" b="0">
                <a:solidFill>
                  <a:srgbClr val="5E6B7A"/>
                </a:solidFill>
                <a:latin typeface="Arial"/>
                <a:ea typeface="Arial"/>
                <a:cs typeface="Arial"/>
              </a:defRPr>
            </a:lvl2pPr>
            <a:lvl3pPr algn="l">
              <a:buNone/>
              <a:defRPr sz="1650" b="0">
                <a:solidFill>
                  <a:srgbClr val="5E6B7A"/>
                </a:solidFill>
                <a:latin typeface="Arial"/>
                <a:ea typeface="Arial"/>
                <a:cs typeface="Arial"/>
              </a:defRPr>
            </a:lvl3pPr>
            <a:lvl4pPr algn="l">
              <a:buNone/>
              <a:defRPr sz="1650" b="0">
                <a:solidFill>
                  <a:srgbClr val="5E6B7A"/>
                </a:solidFill>
                <a:latin typeface="Arial"/>
                <a:ea typeface="Arial"/>
                <a:cs typeface="Arial"/>
              </a:defRPr>
            </a:lvl4pPr>
            <a:lvl5pPr algn="l">
              <a:buNone/>
              <a:defRPr sz="1650" b="0">
                <a:solidFill>
                  <a:srgbClr val="5E6B7A"/>
                </a:solidFill>
                <a:latin typeface="Arial"/>
                <a:ea typeface="Arial"/>
                <a:cs typeface="Arial"/>
              </a:defRPr>
            </a:lvl5pPr>
            <a:lvl6pPr algn="l">
              <a:buNone/>
              <a:defRPr sz="1650" b="0">
                <a:solidFill>
                  <a:srgbClr val="5E6B7A"/>
                </a:solidFill>
                <a:latin typeface="Arial"/>
                <a:ea typeface="Arial"/>
                <a:cs typeface="Arial"/>
              </a:defRPr>
            </a:lvl6pPr>
            <a:lvl7pPr algn="l">
              <a:buNone/>
              <a:defRPr sz="1650" b="0">
                <a:solidFill>
                  <a:srgbClr val="5E6B7A"/>
                </a:solidFill>
                <a:latin typeface="Arial"/>
                <a:ea typeface="Arial"/>
                <a:cs typeface="Arial"/>
              </a:defRPr>
            </a:lvl7pPr>
            <a:lvl8pPr algn="l">
              <a:buNone/>
              <a:defRPr sz="1650" b="0">
                <a:solidFill>
                  <a:srgbClr val="5E6B7A"/>
                </a:solidFill>
                <a:latin typeface="Arial"/>
                <a:ea typeface="Arial"/>
                <a:cs typeface="Arial"/>
              </a:defRPr>
            </a:lvl8pPr>
            <a:lvl9pPr algn="l">
              <a:buNone/>
              <a:defRPr sz="1650" b="0">
                <a:solidFill>
                  <a:srgbClr val="5E6B7A"/>
                </a:solidFill>
                <a:latin typeface="Arial"/>
                <a:ea typeface="Arial"/>
                <a:cs typeface="Arial"/>
              </a:defRPr>
            </a:lvl9pPr>
          </a:lstStyle>
          <a:p xmlns:a="http://schemas.openxmlformats.org/drawingml/2006/main">
            <a:pPr algn="l">
              <a:buNone/>
              <a:defRPr sz="1650" b="0">
                <a:solidFill>
                  <a:srgbClr val="5E6B7A"/>
                </a:solidFill>
                <a:latin typeface="Arial"/>
                <a:ea typeface="Arial"/>
                <a:cs typeface="Arial"/>
              </a:defRPr>
            </a:pPr>
            <a:r>
              <a:rPr sz="1650" b="0">
                <a:solidFill>
                  <a:srgbClr val="5E6B7A"/>
                </a:solidFill>
                <a:latin typeface="Arial"/>
                <a:ea typeface="Arial"/>
                <a:cs typeface="Arial"/>
              </a:rPr>
              <a:t>phiên sạc độc lập</a:t>
            </a:r>
          </a:p>
        </p:txBody>
      </p:sp>
      <p:sp>
        <p:nvSpPr>
          <p:cNvPr id="38" name="metric-2">
            <a:extLst xmlns:a="http://schemas.openxmlformats.org/drawingml/2006/main">
              <a:ext uri="{FF2B5EF4-FFF2-40B4-BE49-F238E27FC236}">
                <a16:creationId xmlns:a16="http://schemas.microsoft.com/office/drawing/2014/main" id="{0806E42F-D7B3-4351-A87D-87D592283568}"/>
              </a:ext>
            </a:extLst>
          </p:cNvPr>
          <p:cNvSpPr>
            <a:spLocks xmlns:a="http://schemas.openxmlformats.org/drawingml/2006/main" noGrp="1"/>
          </p:cNvSpPr>
          <p:nvPr/>
        </p:nvSpPr>
        <p:spPr>
          <a:xfrm xmlns:a="http://schemas.openxmlformats.org/drawingml/2006/main">
            <a:off x="6057900" y="105727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F59E42"/>
                </a:solidFill>
                <a:latin typeface="Arial"/>
                <a:ea typeface="Arial"/>
                <a:cs typeface="Arial"/>
              </a:defRPr>
            </a:defPPr>
            <a:lvl1pPr algn="l">
              <a:buNone/>
              <a:defRPr sz="2775" b="1">
                <a:solidFill>
                  <a:srgbClr val="F59E42"/>
                </a:solidFill>
                <a:latin typeface="Arial"/>
                <a:ea typeface="Arial"/>
                <a:cs typeface="Arial"/>
              </a:defRPr>
            </a:lvl1pPr>
            <a:lvl2pPr algn="l">
              <a:buNone/>
              <a:defRPr sz="2775" b="1">
                <a:solidFill>
                  <a:srgbClr val="F59E42"/>
                </a:solidFill>
                <a:latin typeface="Arial"/>
                <a:ea typeface="Arial"/>
                <a:cs typeface="Arial"/>
              </a:defRPr>
            </a:lvl2pPr>
            <a:lvl3pPr algn="l">
              <a:buNone/>
              <a:defRPr sz="2775" b="1">
                <a:solidFill>
                  <a:srgbClr val="F59E42"/>
                </a:solidFill>
                <a:latin typeface="Arial"/>
                <a:ea typeface="Arial"/>
                <a:cs typeface="Arial"/>
              </a:defRPr>
            </a:lvl3pPr>
            <a:lvl4pPr algn="l">
              <a:buNone/>
              <a:defRPr sz="2775" b="1">
                <a:solidFill>
                  <a:srgbClr val="F59E42"/>
                </a:solidFill>
                <a:latin typeface="Arial"/>
                <a:ea typeface="Arial"/>
                <a:cs typeface="Arial"/>
              </a:defRPr>
            </a:lvl4pPr>
            <a:lvl5pPr algn="l">
              <a:buNone/>
              <a:defRPr sz="2775" b="1">
                <a:solidFill>
                  <a:srgbClr val="F59E42"/>
                </a:solidFill>
                <a:latin typeface="Arial"/>
                <a:ea typeface="Arial"/>
                <a:cs typeface="Arial"/>
              </a:defRPr>
            </a:lvl5pPr>
            <a:lvl6pPr algn="l">
              <a:buNone/>
              <a:defRPr sz="2775" b="1">
                <a:solidFill>
                  <a:srgbClr val="F59E42"/>
                </a:solidFill>
                <a:latin typeface="Arial"/>
                <a:ea typeface="Arial"/>
                <a:cs typeface="Arial"/>
              </a:defRPr>
            </a:lvl6pPr>
            <a:lvl7pPr algn="l">
              <a:buNone/>
              <a:defRPr sz="2775" b="1">
                <a:solidFill>
                  <a:srgbClr val="F59E42"/>
                </a:solidFill>
                <a:latin typeface="Arial"/>
                <a:ea typeface="Arial"/>
                <a:cs typeface="Arial"/>
              </a:defRPr>
            </a:lvl7pPr>
            <a:lvl8pPr algn="l">
              <a:buNone/>
              <a:defRPr sz="2775" b="1">
                <a:solidFill>
                  <a:srgbClr val="F59E42"/>
                </a:solidFill>
                <a:latin typeface="Arial"/>
                <a:ea typeface="Arial"/>
                <a:cs typeface="Arial"/>
              </a:defRPr>
            </a:lvl8pPr>
            <a:lvl9pPr algn="l">
              <a:buNone/>
              <a:defRPr sz="2775" b="1">
                <a:solidFill>
                  <a:srgbClr val="F59E42"/>
                </a:solidFill>
                <a:latin typeface="Arial"/>
                <a:ea typeface="Arial"/>
                <a:cs typeface="Arial"/>
              </a:defRPr>
            </a:lvl9pPr>
          </a:lstStyle>
          <a:p xmlns:a="http://schemas.openxmlformats.org/drawingml/2006/main">
            <a:pPr algn="l">
              <a:buNone/>
              <a:defRPr sz="2775" b="1">
                <a:solidFill>
                  <a:srgbClr val="F59E42"/>
                </a:solidFill>
                <a:latin typeface="Arial"/>
                <a:ea typeface="Arial"/>
                <a:cs typeface="Arial"/>
              </a:defRPr>
            </a:pPr>
            <a:r>
              <a:rPr sz="2775" b="1">
                <a:solidFill>
                  <a:srgbClr val="F59E42"/>
                </a:solidFill>
                <a:latin typeface="Arial"/>
                <a:ea typeface="Arial"/>
                <a:cs typeface="Arial"/>
              </a:rPr>
              <a:t>20.089</a:t>
            </a:r>
          </a:p>
        </p:txBody>
      </p:sp>
      <p:sp>
        <p:nvSpPr>
          <p:cNvPr id="39" name="label-2">
            <a:extLst xmlns:a="http://schemas.openxmlformats.org/drawingml/2006/main">
              <a:ext uri="{FF2B5EF4-FFF2-40B4-BE49-F238E27FC236}">
                <a16:creationId xmlns:a16="http://schemas.microsoft.com/office/drawing/2014/main" id="{A8CE7241-52B9-407E-8FBD-A1900535783A}"/>
              </a:ext>
            </a:extLst>
          </p:cNvPr>
          <p:cNvSpPr>
            <a:spLocks xmlns:a="http://schemas.openxmlformats.org/drawingml/2006/main" noGrp="1"/>
          </p:cNvSpPr>
          <p:nvPr/>
        </p:nvSpPr>
        <p:spPr>
          <a:xfrm xmlns:a="http://schemas.openxmlformats.org/drawingml/2006/main">
            <a:off x="6057900" y="16573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6B7A"/>
                </a:solidFill>
                <a:latin typeface="Arial"/>
                <a:ea typeface="Arial"/>
                <a:cs typeface="Arial"/>
              </a:defRPr>
            </a:defPPr>
            <a:lvl1pPr algn="l">
              <a:buNone/>
              <a:defRPr sz="1650" b="0">
                <a:solidFill>
                  <a:srgbClr val="5E6B7A"/>
                </a:solidFill>
                <a:latin typeface="Arial"/>
                <a:ea typeface="Arial"/>
                <a:cs typeface="Arial"/>
              </a:defRPr>
            </a:lvl1pPr>
            <a:lvl2pPr algn="l">
              <a:buNone/>
              <a:defRPr sz="1650" b="0">
                <a:solidFill>
                  <a:srgbClr val="5E6B7A"/>
                </a:solidFill>
                <a:latin typeface="Arial"/>
                <a:ea typeface="Arial"/>
                <a:cs typeface="Arial"/>
              </a:defRPr>
            </a:lvl2pPr>
            <a:lvl3pPr algn="l">
              <a:buNone/>
              <a:defRPr sz="1650" b="0">
                <a:solidFill>
                  <a:srgbClr val="5E6B7A"/>
                </a:solidFill>
                <a:latin typeface="Arial"/>
                <a:ea typeface="Arial"/>
                <a:cs typeface="Arial"/>
              </a:defRPr>
            </a:lvl3pPr>
            <a:lvl4pPr algn="l">
              <a:buNone/>
              <a:defRPr sz="1650" b="0">
                <a:solidFill>
                  <a:srgbClr val="5E6B7A"/>
                </a:solidFill>
                <a:latin typeface="Arial"/>
                <a:ea typeface="Arial"/>
                <a:cs typeface="Arial"/>
              </a:defRPr>
            </a:lvl4pPr>
            <a:lvl5pPr algn="l">
              <a:buNone/>
              <a:defRPr sz="1650" b="0">
                <a:solidFill>
                  <a:srgbClr val="5E6B7A"/>
                </a:solidFill>
                <a:latin typeface="Arial"/>
                <a:ea typeface="Arial"/>
                <a:cs typeface="Arial"/>
              </a:defRPr>
            </a:lvl5pPr>
            <a:lvl6pPr algn="l">
              <a:buNone/>
              <a:defRPr sz="1650" b="0">
                <a:solidFill>
                  <a:srgbClr val="5E6B7A"/>
                </a:solidFill>
                <a:latin typeface="Arial"/>
                <a:ea typeface="Arial"/>
                <a:cs typeface="Arial"/>
              </a:defRPr>
            </a:lvl6pPr>
            <a:lvl7pPr algn="l">
              <a:buNone/>
              <a:defRPr sz="1650" b="0">
                <a:solidFill>
                  <a:srgbClr val="5E6B7A"/>
                </a:solidFill>
                <a:latin typeface="Arial"/>
                <a:ea typeface="Arial"/>
                <a:cs typeface="Arial"/>
              </a:defRPr>
            </a:lvl7pPr>
            <a:lvl8pPr algn="l">
              <a:buNone/>
              <a:defRPr sz="1650" b="0">
                <a:solidFill>
                  <a:srgbClr val="5E6B7A"/>
                </a:solidFill>
                <a:latin typeface="Arial"/>
                <a:ea typeface="Arial"/>
                <a:cs typeface="Arial"/>
              </a:defRPr>
            </a:lvl8pPr>
            <a:lvl9pPr algn="l">
              <a:buNone/>
              <a:defRPr sz="1650" b="0">
                <a:solidFill>
                  <a:srgbClr val="5E6B7A"/>
                </a:solidFill>
                <a:latin typeface="Arial"/>
                <a:ea typeface="Arial"/>
                <a:cs typeface="Arial"/>
              </a:defRPr>
            </a:lvl9pPr>
          </a:lstStyle>
          <a:p xmlns:a="http://schemas.openxmlformats.org/drawingml/2006/main">
            <a:pPr algn="l">
              <a:buNone/>
              <a:defRPr sz="1650" b="0">
                <a:solidFill>
                  <a:srgbClr val="5E6B7A"/>
                </a:solidFill>
                <a:latin typeface="Arial"/>
                <a:ea typeface="Arial"/>
                <a:cs typeface="Arial"/>
              </a:defRPr>
            </a:pPr>
            <a:r>
              <a:rPr sz="1650" b="0">
                <a:solidFill>
                  <a:srgbClr val="5E6B7A"/>
                </a:solidFill>
                <a:latin typeface="Arial"/>
                <a:ea typeface="Arial"/>
                <a:cs typeface="Arial"/>
              </a:rPr>
              <a:t>phiên có chuỗi thời gian</a:t>
            </a:r>
          </a:p>
        </p:txBody>
      </p:sp>
      <p:sp>
        <p:nvSpPr>
          <p:cNvPr id="40" name="metric-3">
            <a:extLst xmlns:a="http://schemas.openxmlformats.org/drawingml/2006/main">
              <a:ext uri="{FF2B5EF4-FFF2-40B4-BE49-F238E27FC236}">
                <a16:creationId xmlns:a16="http://schemas.microsoft.com/office/drawing/2014/main" id="{457A8702-2B66-420F-95ED-E942B364F7B6}"/>
              </a:ext>
            </a:extLst>
          </p:cNvPr>
          <p:cNvSpPr>
            <a:spLocks xmlns:a="http://schemas.openxmlformats.org/drawingml/2006/main" noGrp="1"/>
          </p:cNvSpPr>
          <p:nvPr/>
        </p:nvSpPr>
        <p:spPr>
          <a:xfrm xmlns:a="http://schemas.openxmlformats.org/drawingml/2006/main">
            <a:off x="8782050" y="1057275"/>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2696C5"/>
                </a:solidFill>
                <a:latin typeface="Arial"/>
                <a:ea typeface="Arial"/>
                <a:cs typeface="Arial"/>
              </a:defRPr>
            </a:defPPr>
            <a:lvl1pPr algn="l">
              <a:buNone/>
              <a:defRPr sz="2775" b="1">
                <a:solidFill>
                  <a:srgbClr val="2696C5"/>
                </a:solidFill>
                <a:latin typeface="Arial"/>
                <a:ea typeface="Arial"/>
                <a:cs typeface="Arial"/>
              </a:defRPr>
            </a:lvl1pPr>
            <a:lvl2pPr algn="l">
              <a:buNone/>
              <a:defRPr sz="2775" b="1">
                <a:solidFill>
                  <a:srgbClr val="2696C5"/>
                </a:solidFill>
                <a:latin typeface="Arial"/>
                <a:ea typeface="Arial"/>
                <a:cs typeface="Arial"/>
              </a:defRPr>
            </a:lvl2pPr>
            <a:lvl3pPr algn="l">
              <a:buNone/>
              <a:defRPr sz="2775" b="1">
                <a:solidFill>
                  <a:srgbClr val="2696C5"/>
                </a:solidFill>
                <a:latin typeface="Arial"/>
                <a:ea typeface="Arial"/>
                <a:cs typeface="Arial"/>
              </a:defRPr>
            </a:lvl3pPr>
            <a:lvl4pPr algn="l">
              <a:buNone/>
              <a:defRPr sz="2775" b="1">
                <a:solidFill>
                  <a:srgbClr val="2696C5"/>
                </a:solidFill>
                <a:latin typeface="Arial"/>
                <a:ea typeface="Arial"/>
                <a:cs typeface="Arial"/>
              </a:defRPr>
            </a:lvl4pPr>
            <a:lvl5pPr algn="l">
              <a:buNone/>
              <a:defRPr sz="2775" b="1">
                <a:solidFill>
                  <a:srgbClr val="2696C5"/>
                </a:solidFill>
                <a:latin typeface="Arial"/>
                <a:ea typeface="Arial"/>
                <a:cs typeface="Arial"/>
              </a:defRPr>
            </a:lvl5pPr>
            <a:lvl6pPr algn="l">
              <a:buNone/>
              <a:defRPr sz="2775" b="1">
                <a:solidFill>
                  <a:srgbClr val="2696C5"/>
                </a:solidFill>
                <a:latin typeface="Arial"/>
                <a:ea typeface="Arial"/>
                <a:cs typeface="Arial"/>
              </a:defRPr>
            </a:lvl6pPr>
            <a:lvl7pPr algn="l">
              <a:buNone/>
              <a:defRPr sz="2775" b="1">
                <a:solidFill>
                  <a:srgbClr val="2696C5"/>
                </a:solidFill>
                <a:latin typeface="Arial"/>
                <a:ea typeface="Arial"/>
                <a:cs typeface="Arial"/>
              </a:defRPr>
            </a:lvl7pPr>
            <a:lvl8pPr algn="l">
              <a:buNone/>
              <a:defRPr sz="2775" b="1">
                <a:solidFill>
                  <a:srgbClr val="2696C5"/>
                </a:solidFill>
                <a:latin typeface="Arial"/>
                <a:ea typeface="Arial"/>
                <a:cs typeface="Arial"/>
              </a:defRPr>
            </a:lvl8pPr>
            <a:lvl9pPr algn="l">
              <a:buNone/>
              <a:defRPr sz="2775" b="1">
                <a:solidFill>
                  <a:srgbClr val="2696C5"/>
                </a:solidFill>
                <a:latin typeface="Arial"/>
                <a:ea typeface="Arial"/>
                <a:cs typeface="Arial"/>
              </a:defRPr>
            </a:lvl9pPr>
          </a:lstStyle>
          <a:p xmlns:a="http://schemas.openxmlformats.org/drawingml/2006/main">
            <a:pPr algn="l">
              <a:buNone/>
              <a:defRPr sz="2775" b="1">
                <a:solidFill>
                  <a:srgbClr val="2696C5"/>
                </a:solidFill>
                <a:latin typeface="Arial"/>
                <a:ea typeface="Arial"/>
                <a:cs typeface="Arial"/>
              </a:defRPr>
            </a:pPr>
            <a:r>
              <a:rPr sz="2775" b="1">
                <a:solidFill>
                  <a:srgbClr val="2696C5"/>
                </a:solidFill>
                <a:latin typeface="Arial"/>
                <a:ea typeface="Arial"/>
                <a:cs typeface="Arial"/>
              </a:rPr>
              <a:t>7.339</a:t>
            </a:r>
          </a:p>
        </p:txBody>
      </p:sp>
      <p:sp>
        <p:nvSpPr>
          <p:cNvPr id="41" name="label-3">
            <a:extLst xmlns:a="http://schemas.openxmlformats.org/drawingml/2006/main">
              <a:ext uri="{FF2B5EF4-FFF2-40B4-BE49-F238E27FC236}">
                <a16:creationId xmlns:a16="http://schemas.microsoft.com/office/drawing/2014/main" id="{80DA73A5-92D6-4FBA-A9FF-65BF129D697E}"/>
              </a:ext>
            </a:extLst>
          </p:cNvPr>
          <p:cNvSpPr>
            <a:spLocks xmlns:a="http://schemas.openxmlformats.org/drawingml/2006/main" noGrp="1"/>
          </p:cNvSpPr>
          <p:nvPr/>
        </p:nvSpPr>
        <p:spPr>
          <a:xfrm xmlns:a="http://schemas.openxmlformats.org/drawingml/2006/main">
            <a:off x="8782050" y="16573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6B7A"/>
                </a:solidFill>
                <a:latin typeface="Arial"/>
                <a:ea typeface="Arial"/>
                <a:cs typeface="Arial"/>
              </a:defRPr>
            </a:defPPr>
            <a:lvl1pPr algn="l">
              <a:buNone/>
              <a:defRPr sz="1650" b="0">
                <a:solidFill>
                  <a:srgbClr val="5E6B7A"/>
                </a:solidFill>
                <a:latin typeface="Arial"/>
                <a:ea typeface="Arial"/>
                <a:cs typeface="Arial"/>
              </a:defRPr>
            </a:lvl1pPr>
            <a:lvl2pPr algn="l">
              <a:buNone/>
              <a:defRPr sz="1650" b="0">
                <a:solidFill>
                  <a:srgbClr val="5E6B7A"/>
                </a:solidFill>
                <a:latin typeface="Arial"/>
                <a:ea typeface="Arial"/>
                <a:cs typeface="Arial"/>
              </a:defRPr>
            </a:lvl2pPr>
            <a:lvl3pPr algn="l">
              <a:buNone/>
              <a:defRPr sz="1650" b="0">
                <a:solidFill>
                  <a:srgbClr val="5E6B7A"/>
                </a:solidFill>
                <a:latin typeface="Arial"/>
                <a:ea typeface="Arial"/>
                <a:cs typeface="Arial"/>
              </a:defRPr>
            </a:lvl3pPr>
            <a:lvl4pPr algn="l">
              <a:buNone/>
              <a:defRPr sz="1650" b="0">
                <a:solidFill>
                  <a:srgbClr val="5E6B7A"/>
                </a:solidFill>
                <a:latin typeface="Arial"/>
                <a:ea typeface="Arial"/>
                <a:cs typeface="Arial"/>
              </a:defRPr>
            </a:lvl4pPr>
            <a:lvl5pPr algn="l">
              <a:buNone/>
              <a:defRPr sz="1650" b="0">
                <a:solidFill>
                  <a:srgbClr val="5E6B7A"/>
                </a:solidFill>
                <a:latin typeface="Arial"/>
                <a:ea typeface="Arial"/>
                <a:cs typeface="Arial"/>
              </a:defRPr>
            </a:lvl5pPr>
            <a:lvl6pPr algn="l">
              <a:buNone/>
              <a:defRPr sz="1650" b="0">
                <a:solidFill>
                  <a:srgbClr val="5E6B7A"/>
                </a:solidFill>
                <a:latin typeface="Arial"/>
                <a:ea typeface="Arial"/>
                <a:cs typeface="Arial"/>
              </a:defRPr>
            </a:lvl6pPr>
            <a:lvl7pPr algn="l">
              <a:buNone/>
              <a:defRPr sz="1650" b="0">
                <a:solidFill>
                  <a:srgbClr val="5E6B7A"/>
                </a:solidFill>
                <a:latin typeface="Arial"/>
                <a:ea typeface="Arial"/>
                <a:cs typeface="Arial"/>
              </a:defRPr>
            </a:lvl7pPr>
            <a:lvl8pPr algn="l">
              <a:buNone/>
              <a:defRPr sz="1650" b="0">
                <a:solidFill>
                  <a:srgbClr val="5E6B7A"/>
                </a:solidFill>
                <a:latin typeface="Arial"/>
                <a:ea typeface="Arial"/>
                <a:cs typeface="Arial"/>
              </a:defRPr>
            </a:lvl8pPr>
            <a:lvl9pPr algn="l">
              <a:buNone/>
              <a:defRPr sz="1650" b="0">
                <a:solidFill>
                  <a:srgbClr val="5E6B7A"/>
                </a:solidFill>
                <a:latin typeface="Arial"/>
                <a:ea typeface="Arial"/>
                <a:cs typeface="Arial"/>
              </a:defRPr>
            </a:lvl9pPr>
          </a:lstStyle>
          <a:p xmlns:a="http://schemas.openxmlformats.org/drawingml/2006/main">
            <a:pPr algn="l">
              <a:buNone/>
              <a:defRPr sz="1650" b="0">
                <a:solidFill>
                  <a:srgbClr val="5E6B7A"/>
                </a:solidFill>
                <a:latin typeface="Arial"/>
                <a:ea typeface="Arial"/>
                <a:cs typeface="Arial"/>
              </a:defRPr>
            </a:pPr>
            <a:r>
              <a:rPr sz="1650" b="0">
                <a:solidFill>
                  <a:srgbClr val="5E6B7A"/>
                </a:solidFill>
                <a:latin typeface="Arial"/>
                <a:ea typeface="Arial"/>
                <a:cs typeface="Arial"/>
              </a:rPr>
              <a:t>phiên dùng trong mô phỏng</a:t>
            </a:r>
          </a:p>
        </p:txBody>
      </p:sp>
      <p:graphicFrame>
        <p:nvGraphicFramePr>
          <p:cNvPr id="42" name="">
            <a:extLst xmlns:a="http://schemas.openxmlformats.org/drawingml/2006/main">
              <a:ext uri="{FF2B5EF4-FFF2-40B4-BE49-F238E27FC236}">
                <a16:creationId xmlns:a16="http://schemas.microsoft.com/office/drawing/2014/main" id="{112BC84F-92C8-4492-A84E-F097523F9623}"/>
              </a:ext>
            </a:extLst>
          </p:cNvPr>
          <p:cNvGraphicFramePr/>
          <p:nvPr/>
        </p:nvGraphicFramePr>
        <p:xfrm>
          <a:off xmlns:a="http://schemas.openxmlformats.org/drawingml/2006/main" x="609600" y="2695575"/>
          <a:ext xmlns:a="http://schemas.openxmlformats.org/drawingml/2006/main" cx="10972800" cy="2428875"/>
        </p:xfrm>
        <a:graphic xmlns:a="http://schemas.openxmlformats.org/drawingml/2006/main">
          <a:graphicData uri="http://schemas.openxmlformats.org/drawingml/2006/table">
            <a:tbl>
              <a:tblPr/>
              <a:tblGrid>
                <a:gridCol w="2333625"/>
                <a:gridCol w="4381500"/>
                <a:gridCol w="4257675"/>
              </a:tblGrid>
              <a:tr h="607219">
                <a:tc>
                  <a:txBody>
                    <a:bodyPr wrap="square" lIns="95250" tIns="76200" rIns="95250" bIns="76200">
                      <a:noAutofit/>
                    </a:bodyPr>
                    <a:lstStyle/>
                    <a:p>
                      <a:pPr algn="l">
                        <a:buNone/>
                      </a:pPr>
                      <a:r>
                        <a:rPr sz="1725" b="1">
                          <a:solidFill>
                            <a:srgbClr val="FFFFFF"/>
                          </a:solidFill>
                          <a:latin typeface="Arial"/>
                          <a:ea typeface="Arial"/>
                          <a:cs typeface="Arial"/>
                        </a:rPr>
                        <a:t>Nhóm thông tin</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725" b="1">
                          <a:solidFill>
                            <a:srgbClr val="FFFFFF"/>
                          </a:solidFill>
                          <a:latin typeface="Arial"/>
                          <a:ea typeface="Arial"/>
                          <a:cs typeface="Arial"/>
                        </a:rPr>
                        <a:t>Dữ liệu chính</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725" b="1">
                          <a:solidFill>
                            <a:srgbClr val="FFFFFF"/>
                          </a:solidFill>
                          <a:latin typeface="Arial"/>
                          <a:ea typeface="Arial"/>
                          <a:cs typeface="Arial"/>
                        </a:rPr>
                        <a:t>Vai trò</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607219">
                <a:tc>
                  <a:txBody>
                    <a:bodyPr wrap="square" lIns="95250" tIns="76200" rIns="95250" bIns="76200">
                      <a:noAutofit/>
                    </a:bodyPr>
                    <a:lstStyle/>
                    <a:p>
                      <a:pPr algn="l">
                        <a:buNone/>
                      </a:pPr>
                      <a:r>
                        <a:rPr sz="1725" b="0">
                          <a:solidFill>
                            <a:srgbClr val="1F2937"/>
                          </a:solidFill>
                          <a:latin typeface="Arial"/>
                          <a:ea typeface="Arial"/>
                          <a:cs typeface="Arial"/>
                        </a:rPr>
                        <a:t>Thông tin phiên</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Giờ cắm/rút, mã phiên và cổng</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Tạo hoàn cảnh sạc</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607219">
                <a:tc>
                  <a:txBody>
                    <a:bodyPr wrap="square" lIns="95250" tIns="76200" rIns="95250" bIns="76200">
                      <a:noAutofit/>
                    </a:bodyPr>
                    <a:lstStyle/>
                    <a:p>
                      <a:pPr algn="l">
                        <a:buNone/>
                      </a:pPr>
                      <a:r>
                        <a:rPr sz="1725" b="0">
                          <a:solidFill>
                            <a:srgbClr val="1F2937"/>
                          </a:solidFill>
                          <a:latin typeface="Arial"/>
                          <a:ea typeface="Arial"/>
                          <a:cs typeface="Arial"/>
                        </a:rPr>
                        <a:t>Khai báo người dùng</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Điện yêu cầu, hạn rời, lúc cập nhật</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Xác định nhu cầu đã biết</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607219">
                <a:tc>
                  <a:txBody>
                    <a:bodyPr wrap="square" lIns="95250" tIns="76200" rIns="95250" bIns="76200">
                      <a:noAutofit/>
                    </a:bodyPr>
                    <a:lstStyle/>
                    <a:p>
                      <a:pPr algn="l">
                        <a:buNone/>
                      </a:pPr>
                      <a:r>
                        <a:rPr sz="1725" b="0">
                          <a:solidFill>
                            <a:srgbClr val="1F2937"/>
                          </a:solidFill>
                          <a:latin typeface="Arial"/>
                          <a:ea typeface="Arial"/>
                          <a:cs typeface="Arial"/>
                        </a:rPr>
                        <a:t>Chuỗi 15 phút</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Dòng điện và điện lịch sử</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Khảo sát dữ liệu</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bl>
          </a:graphicData>
        </a:graphic>
      </p:graphicFrame>
      <p:sp>
        <p:nvSpPr>
          <p:cNvPr id="43" name="takeaway">
            <a:extLst xmlns:a="http://schemas.openxmlformats.org/drawingml/2006/main">
              <a:ext uri="{FF2B5EF4-FFF2-40B4-BE49-F238E27FC236}">
                <a16:creationId xmlns:a16="http://schemas.microsoft.com/office/drawing/2014/main" id="{7ACAFC41-F6B6-4E26-96F5-FA7A062D7274}"/>
              </a:ext>
            </a:extLst>
          </p:cNvPr>
          <p:cNvSpPr>
            <a:spLocks xmlns:a="http://schemas.openxmlformats.org/drawingml/2006/main" noGrp="1"/>
          </p:cNvSpPr>
          <p:nvPr/>
        </p:nvSpPr>
        <p:spPr>
          <a:xfrm xmlns:a="http://schemas.openxmlformats.org/drawingml/2006/main">
            <a:off x="609600" y="56007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82D4B"/>
                </a:solidFill>
                <a:latin typeface="Arial"/>
                <a:ea typeface="Arial"/>
                <a:cs typeface="Arial"/>
              </a:defRPr>
            </a:defPPr>
            <a:lvl1pPr algn="l">
              <a:buNone/>
              <a:defRPr sz="1875" b="1">
                <a:solidFill>
                  <a:srgbClr val="182D4B"/>
                </a:solidFill>
                <a:latin typeface="Arial"/>
                <a:ea typeface="Arial"/>
                <a:cs typeface="Arial"/>
              </a:defRPr>
            </a:lvl1pPr>
            <a:lvl2pPr algn="l">
              <a:buNone/>
              <a:defRPr sz="1875" b="1">
                <a:solidFill>
                  <a:srgbClr val="182D4B"/>
                </a:solidFill>
                <a:latin typeface="Arial"/>
                <a:ea typeface="Arial"/>
                <a:cs typeface="Arial"/>
              </a:defRPr>
            </a:lvl2pPr>
            <a:lvl3pPr algn="l">
              <a:buNone/>
              <a:defRPr sz="1875" b="1">
                <a:solidFill>
                  <a:srgbClr val="182D4B"/>
                </a:solidFill>
                <a:latin typeface="Arial"/>
                <a:ea typeface="Arial"/>
                <a:cs typeface="Arial"/>
              </a:defRPr>
            </a:lvl3pPr>
            <a:lvl4pPr algn="l">
              <a:buNone/>
              <a:defRPr sz="1875" b="1">
                <a:solidFill>
                  <a:srgbClr val="182D4B"/>
                </a:solidFill>
                <a:latin typeface="Arial"/>
                <a:ea typeface="Arial"/>
                <a:cs typeface="Arial"/>
              </a:defRPr>
            </a:lvl4pPr>
            <a:lvl5pPr algn="l">
              <a:buNone/>
              <a:defRPr sz="1875" b="1">
                <a:solidFill>
                  <a:srgbClr val="182D4B"/>
                </a:solidFill>
                <a:latin typeface="Arial"/>
                <a:ea typeface="Arial"/>
                <a:cs typeface="Arial"/>
              </a:defRPr>
            </a:lvl5pPr>
            <a:lvl6pPr algn="l">
              <a:buNone/>
              <a:defRPr sz="1875" b="1">
                <a:solidFill>
                  <a:srgbClr val="182D4B"/>
                </a:solidFill>
                <a:latin typeface="Arial"/>
                <a:ea typeface="Arial"/>
                <a:cs typeface="Arial"/>
              </a:defRPr>
            </a:lvl6pPr>
            <a:lvl7pPr algn="l">
              <a:buNone/>
              <a:defRPr sz="1875" b="1">
                <a:solidFill>
                  <a:srgbClr val="182D4B"/>
                </a:solidFill>
                <a:latin typeface="Arial"/>
                <a:ea typeface="Arial"/>
                <a:cs typeface="Arial"/>
              </a:defRPr>
            </a:lvl7pPr>
            <a:lvl8pPr algn="l">
              <a:buNone/>
              <a:defRPr sz="1875" b="1">
                <a:solidFill>
                  <a:srgbClr val="182D4B"/>
                </a:solidFill>
                <a:latin typeface="Arial"/>
                <a:ea typeface="Arial"/>
                <a:cs typeface="Arial"/>
              </a:defRPr>
            </a:lvl8pPr>
            <a:lvl9pPr algn="l">
              <a:buNone/>
              <a:defRPr sz="1875" b="1">
                <a:solidFill>
                  <a:srgbClr val="182D4B"/>
                </a:solidFill>
                <a:latin typeface="Arial"/>
                <a:ea typeface="Arial"/>
                <a:cs typeface="Arial"/>
              </a:defRPr>
            </a:lvl9pPr>
          </a:lstStyle>
          <a:p xmlns:a="http://schemas.openxmlformats.org/drawingml/2006/main">
            <a:pPr algn="l">
              <a:buNone/>
              <a:defRPr sz="1875" b="1">
                <a:solidFill>
                  <a:srgbClr val="182D4B"/>
                </a:solidFill>
                <a:latin typeface="Arial"/>
                <a:ea typeface="Arial"/>
                <a:cs typeface="Arial"/>
              </a:defRPr>
            </a:pPr>
            <a:r>
              <a:rPr sz="1875" b="1">
                <a:solidFill>
                  <a:srgbClr val="182D4B"/>
                </a:solidFill>
                <a:latin typeface="Arial"/>
                <a:ea typeface="Arial"/>
                <a:cs typeface="Arial"/>
              </a:rPr>
              <a:t>Một phiên có nhiều dòng CSV. Điện lịch sử đã cấp chỉ dùng để khảo sát.</a:t>
            </a:r>
          </a:p>
        </p:txBody>
      </p:sp>
    </p:spTree>
    <p:extLst>
      <p:ext uri="{BB962C8B-B14F-4D97-AF65-F5344CB8AC3E}">
        <p14:creationId xmlns:p14="http://schemas.microsoft.com/office/powerpoint/2010/main" val="17996120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Tiền xử lý và lựa chọn phạm vi</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04</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graphicFrame>
        <p:nvGraphicFramePr>
          <p:cNvPr id="15" name="">
            <a:extLst xmlns:a="http://schemas.openxmlformats.org/drawingml/2006/main">
              <a:ext uri="{FF2B5EF4-FFF2-40B4-BE49-F238E27FC236}">
                <a16:creationId xmlns:a16="http://schemas.microsoft.com/office/drawing/2014/main" id="{9875FFF9-9B61-402C-BC41-8DCE16A52AB4}"/>
              </a:ext>
            </a:extLst>
          </p:cNvPr>
          <p:cNvGraphicFramePr/>
          <p:nvPr/>
        </p:nvGraphicFramePr>
        <p:xfrm>
          <a:off xmlns:a="http://schemas.openxmlformats.org/drawingml/2006/main" x="609600" y="1162050"/>
          <a:ext xmlns:a="http://schemas.openxmlformats.org/drawingml/2006/main" cx="10972800" cy="4000500"/>
        </p:xfrm>
        <a:graphic xmlns:a="http://schemas.openxmlformats.org/drawingml/2006/main">
          <a:graphicData uri="http://schemas.openxmlformats.org/drawingml/2006/table">
            <a:tbl>
              <a:tblPr/>
              <a:tblGrid>
                <a:gridCol w="3429000"/>
                <a:gridCol w="1809750"/>
                <a:gridCol w="5734050"/>
              </a:tblGrid>
              <a:tr h="571500">
                <a:tc>
                  <a:txBody>
                    <a:bodyPr wrap="square" lIns="95250" tIns="76200" rIns="95250" bIns="76200">
                      <a:noAutofit/>
                    </a:bodyPr>
                    <a:lstStyle/>
                    <a:p>
                      <a:pPr algn="l">
                        <a:buNone/>
                      </a:pPr>
                      <a:r>
                        <a:rPr sz="1725" b="1">
                          <a:solidFill>
                            <a:srgbClr val="FFFFFF"/>
                          </a:solidFill>
                          <a:latin typeface="Arial"/>
                          <a:ea typeface="Arial"/>
                          <a:cs typeface="Arial"/>
                        </a:rPr>
                        <a:t>Bước</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725" b="1">
                          <a:solidFill>
                            <a:srgbClr val="FFFFFF"/>
                          </a:solidFill>
                          <a:latin typeface="Arial"/>
                          <a:ea typeface="Arial"/>
                          <a:cs typeface="Arial"/>
                        </a:rPr>
                        <a:t>Phiên còn lại</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725" b="1">
                          <a:solidFill>
                            <a:srgbClr val="FFFFFF"/>
                          </a:solidFill>
                          <a:latin typeface="Arial"/>
                          <a:ea typeface="Arial"/>
                          <a:cs typeface="Arial"/>
                        </a:rPr>
                        <a:t>Cách xử lý</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571500">
                <a:tc>
                  <a:txBody>
                    <a:bodyPr wrap="square" lIns="95250" tIns="76200" rIns="95250" bIns="76200">
                      <a:noAutofit/>
                    </a:bodyPr>
                    <a:lstStyle/>
                    <a:p>
                      <a:pPr algn="l">
                        <a:buNone/>
                      </a:pPr>
                      <a:r>
                        <a:rPr sz="1725" b="0">
                          <a:solidFill>
                            <a:srgbClr val="1F2937"/>
                          </a:solidFill>
                          <a:latin typeface="Arial"/>
                          <a:ea typeface="Arial"/>
                          <a:cs typeface="Arial"/>
                        </a:rPr>
                        <a:t>Chọn năm 2019</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10.616</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Năm có nhiều khai báo hợp lệ nhất</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571500">
                <a:tc>
                  <a:txBody>
                    <a:bodyPr wrap="square" lIns="95250" tIns="76200" rIns="95250" bIns="76200">
                      <a:noAutofit/>
                    </a:bodyPr>
                    <a:lstStyle/>
                    <a:p>
                      <a:pPr algn="l">
                        <a:buNone/>
                      </a:pPr>
                      <a:r>
                        <a:rPr sz="1725" b="0">
                          <a:solidFill>
                            <a:srgbClr val="1F2937"/>
                          </a:solidFill>
                          <a:latin typeface="Arial"/>
                          <a:ea typeface="Arial"/>
                          <a:cs typeface="Arial"/>
                        </a:rPr>
                        <a:t>Khai báo đã biết, hợp lệ</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8.485</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Giữ cập nhật có trước mốc điều khiển</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571500">
                <a:tc>
                  <a:txBody>
                    <a:bodyPr wrap="square" lIns="95250" tIns="76200" rIns="95250" bIns="76200">
                      <a:noAutofit/>
                    </a:bodyPr>
                    <a:lstStyle/>
                    <a:p>
                      <a:pPr algn="l">
                        <a:buNone/>
                      </a:pPr>
                      <a:r>
                        <a:rPr sz="1725" b="0">
                          <a:solidFill>
                            <a:srgbClr val="1F2937"/>
                          </a:solidFill>
                          <a:latin typeface="Arial"/>
                          <a:ea typeface="Arial"/>
                          <a:cs typeface="Arial"/>
                        </a:rPr>
                        <a:t>Phiên cùng ngày</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7.933</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Giờ cắm, rút và hạn nằm trong ngày</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571500">
                <a:tc>
                  <a:txBody>
                    <a:bodyPr wrap="square" lIns="95250" tIns="76200" rIns="95250" bIns="76200">
                      <a:noAutofit/>
                    </a:bodyPr>
                    <a:lstStyle/>
                    <a:p>
                      <a:pPr algn="l">
                        <a:buNone/>
                      </a:pPr>
                      <a:r>
                        <a:rPr sz="1725" b="0">
                          <a:solidFill>
                            <a:srgbClr val="1F2937"/>
                          </a:solidFill>
                          <a:latin typeface="Arial"/>
                          <a:ea typeface="Arial"/>
                          <a:cs typeface="Arial"/>
                        </a:rPr>
                        <a:t>Có khoảng 15 phút nguyên vẹn</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7.851</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Đến làm tròn lên, kết thúc làm tròn xuống</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571500">
                <a:tc>
                  <a:txBody>
                    <a:bodyPr wrap="square" lIns="95250" tIns="76200" rIns="95250" bIns="76200">
                      <a:noAutofit/>
                    </a:bodyPr>
                    <a:lstStyle/>
                    <a:p>
                      <a:pPr algn="l">
                        <a:buNone/>
                      </a:pPr>
                      <a:r>
                        <a:rPr sz="1725" b="0">
                          <a:solidFill>
                            <a:srgbClr val="1F2937"/>
                          </a:solidFill>
                          <a:latin typeface="Arial"/>
                          <a:ea typeface="Arial"/>
                          <a:cs typeface="Arial"/>
                        </a:rPr>
                        <a:t>Không chồng lấn cùng cổng</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7.851</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Kiểm tra hai phiên dùng cùng cổng</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571500">
                <a:tc>
                  <a:txBody>
                    <a:bodyPr wrap="square" lIns="95250" tIns="76200" rIns="95250" bIns="76200">
                      <a:noAutofit/>
                    </a:bodyPr>
                    <a:lstStyle/>
                    <a:p>
                      <a:pPr algn="l">
                        <a:buNone/>
                      </a:pPr>
                      <a:r>
                        <a:rPr sz="1725" b="0">
                          <a:solidFill>
                            <a:srgbClr val="1F2937"/>
                          </a:solidFill>
                          <a:latin typeface="Arial"/>
                          <a:ea typeface="Arial"/>
                          <a:cs typeface="Arial"/>
                        </a:rPr>
                        <a:t>Ngày có ít nhất 10 phiên</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7.339</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Giới hạn phạm vi thí nghiệm</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bl>
          </a:graphicData>
        </a:graphic>
      </p:graphicFrame>
      <p:sp>
        <p:nvSpPr>
          <p:cNvPr id="16" name="takeaway">
            <a:extLst xmlns:a="http://schemas.openxmlformats.org/drawingml/2006/main">
              <a:ext uri="{FF2B5EF4-FFF2-40B4-BE49-F238E27FC236}">
                <a16:creationId xmlns:a16="http://schemas.microsoft.com/office/drawing/2014/main" id="{7E40B79F-CB7F-4B8D-8778-43E080D47CE5}"/>
              </a:ext>
            </a:extLst>
          </p:cNvPr>
          <p:cNvSpPr>
            <a:spLocks xmlns:a="http://schemas.openxmlformats.org/drawingml/2006/main" noGrp="1"/>
          </p:cNvSpPr>
          <p:nvPr/>
        </p:nvSpPr>
        <p:spPr>
          <a:xfrm xmlns:a="http://schemas.openxmlformats.org/drawingml/2006/main">
            <a:off x="609600" y="55149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696C5"/>
                </a:solidFill>
                <a:latin typeface="Arial"/>
                <a:ea typeface="Arial"/>
                <a:cs typeface="Arial"/>
              </a:defRPr>
            </a:defPPr>
            <a:lvl1pPr algn="l">
              <a:buNone/>
              <a:defRPr sz="1875" b="1">
                <a:solidFill>
                  <a:srgbClr val="2696C5"/>
                </a:solidFill>
                <a:latin typeface="Arial"/>
                <a:ea typeface="Arial"/>
                <a:cs typeface="Arial"/>
              </a:defRPr>
            </a:lvl1pPr>
            <a:lvl2pPr algn="l">
              <a:buNone/>
              <a:defRPr sz="1875" b="1">
                <a:solidFill>
                  <a:srgbClr val="2696C5"/>
                </a:solidFill>
                <a:latin typeface="Arial"/>
                <a:ea typeface="Arial"/>
                <a:cs typeface="Arial"/>
              </a:defRPr>
            </a:lvl2pPr>
            <a:lvl3pPr algn="l">
              <a:buNone/>
              <a:defRPr sz="1875" b="1">
                <a:solidFill>
                  <a:srgbClr val="2696C5"/>
                </a:solidFill>
                <a:latin typeface="Arial"/>
                <a:ea typeface="Arial"/>
                <a:cs typeface="Arial"/>
              </a:defRPr>
            </a:lvl3pPr>
            <a:lvl4pPr algn="l">
              <a:buNone/>
              <a:defRPr sz="1875" b="1">
                <a:solidFill>
                  <a:srgbClr val="2696C5"/>
                </a:solidFill>
                <a:latin typeface="Arial"/>
                <a:ea typeface="Arial"/>
                <a:cs typeface="Arial"/>
              </a:defRPr>
            </a:lvl4pPr>
            <a:lvl5pPr algn="l">
              <a:buNone/>
              <a:defRPr sz="1875" b="1">
                <a:solidFill>
                  <a:srgbClr val="2696C5"/>
                </a:solidFill>
                <a:latin typeface="Arial"/>
                <a:ea typeface="Arial"/>
                <a:cs typeface="Arial"/>
              </a:defRPr>
            </a:lvl5pPr>
            <a:lvl6pPr algn="l">
              <a:buNone/>
              <a:defRPr sz="1875" b="1">
                <a:solidFill>
                  <a:srgbClr val="2696C5"/>
                </a:solidFill>
                <a:latin typeface="Arial"/>
                <a:ea typeface="Arial"/>
                <a:cs typeface="Arial"/>
              </a:defRPr>
            </a:lvl6pPr>
            <a:lvl7pPr algn="l">
              <a:buNone/>
              <a:defRPr sz="1875" b="1">
                <a:solidFill>
                  <a:srgbClr val="2696C5"/>
                </a:solidFill>
                <a:latin typeface="Arial"/>
                <a:ea typeface="Arial"/>
                <a:cs typeface="Arial"/>
              </a:defRPr>
            </a:lvl7pPr>
            <a:lvl8pPr algn="l">
              <a:buNone/>
              <a:defRPr sz="1875" b="1">
                <a:solidFill>
                  <a:srgbClr val="2696C5"/>
                </a:solidFill>
                <a:latin typeface="Arial"/>
                <a:ea typeface="Arial"/>
                <a:cs typeface="Arial"/>
              </a:defRPr>
            </a:lvl8pPr>
            <a:lvl9pPr algn="l">
              <a:buNone/>
              <a:defRPr sz="1875" b="1">
                <a:solidFill>
                  <a:srgbClr val="2696C5"/>
                </a:solidFill>
                <a:latin typeface="Arial"/>
                <a:ea typeface="Arial"/>
                <a:cs typeface="Arial"/>
              </a:defRPr>
            </a:lvl9pPr>
          </a:lstStyle>
          <a:p xmlns:a="http://schemas.openxmlformats.org/drawingml/2006/main">
            <a:pPr algn="l">
              <a:buNone/>
              <a:defRPr sz="1875" b="1">
                <a:solidFill>
                  <a:srgbClr val="2696C5"/>
                </a:solidFill>
                <a:latin typeface="Arial"/>
                <a:ea typeface="Arial"/>
                <a:cs typeface="Arial"/>
              </a:defRPr>
            </a:pPr>
            <a:r>
              <a:rPr sz="1875" b="1">
                <a:solidFill>
                  <a:srgbClr val="2696C5"/>
                </a:solidFill>
                <a:latin typeface="Arial"/>
                <a:ea typeface="Arial"/>
                <a:cs typeface="Arial"/>
              </a:rPr>
              <a:t>Còn 7.339 phiên trong 276 ngày. Phiên ngoài phạm vi chưa chắc là dữ liệu sai.</a:t>
            </a:r>
          </a:p>
        </p:txBody>
      </p:sp>
    </p:spTree>
    <p:extLst>
      <p:ext uri="{BB962C8B-B14F-4D97-AF65-F5344CB8AC3E}">
        <p14:creationId xmlns:p14="http://schemas.microsoft.com/office/powerpoint/2010/main" val="16168769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Chia dữ liệu 70/30 theo thời gian</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05</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sp>
        <p:nvSpPr>
          <p:cNvPr id="15" name="split-equation">
            <a:extLst xmlns:a="http://schemas.openxmlformats.org/drawingml/2006/main">
              <a:ext uri="{FF2B5EF4-FFF2-40B4-BE49-F238E27FC236}">
                <a16:creationId xmlns:a16="http://schemas.microsoft.com/office/drawing/2014/main" id="{D149474C-0980-4272-AB9C-4E9AE6A24924}"/>
              </a:ext>
            </a:extLst>
          </p:cNvPr>
          <p:cNvSpPr>
            <a:spLocks xmlns:a="http://schemas.openxmlformats.org/drawingml/2006/main" noGrp="1"/>
          </p:cNvSpPr>
          <p:nvPr/>
        </p:nvSpPr>
        <p:spPr>
          <a:xfrm xmlns:a="http://schemas.openxmlformats.org/drawingml/2006/main">
            <a:off x="609600" y="1028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D4B"/>
                </a:solidFill>
                <a:latin typeface="Arial"/>
                <a:ea typeface="Arial"/>
                <a:cs typeface="Arial"/>
              </a:defRPr>
            </a:defPPr>
            <a:lvl1pPr algn="l">
              <a:buNone/>
              <a:defRPr sz="2250" b="1">
                <a:solidFill>
                  <a:srgbClr val="182D4B"/>
                </a:solidFill>
                <a:latin typeface="Arial"/>
                <a:ea typeface="Arial"/>
                <a:cs typeface="Arial"/>
              </a:defRPr>
            </a:lvl1pPr>
            <a:lvl2pPr algn="l">
              <a:buNone/>
              <a:defRPr sz="2250" b="1">
                <a:solidFill>
                  <a:srgbClr val="182D4B"/>
                </a:solidFill>
                <a:latin typeface="Arial"/>
                <a:ea typeface="Arial"/>
                <a:cs typeface="Arial"/>
              </a:defRPr>
            </a:lvl2pPr>
            <a:lvl3pPr algn="l">
              <a:buNone/>
              <a:defRPr sz="2250" b="1">
                <a:solidFill>
                  <a:srgbClr val="182D4B"/>
                </a:solidFill>
                <a:latin typeface="Arial"/>
                <a:ea typeface="Arial"/>
                <a:cs typeface="Arial"/>
              </a:defRPr>
            </a:lvl3pPr>
            <a:lvl4pPr algn="l">
              <a:buNone/>
              <a:defRPr sz="2250" b="1">
                <a:solidFill>
                  <a:srgbClr val="182D4B"/>
                </a:solidFill>
                <a:latin typeface="Arial"/>
                <a:ea typeface="Arial"/>
                <a:cs typeface="Arial"/>
              </a:defRPr>
            </a:lvl4pPr>
            <a:lvl5pPr algn="l">
              <a:buNone/>
              <a:defRPr sz="2250" b="1">
                <a:solidFill>
                  <a:srgbClr val="182D4B"/>
                </a:solidFill>
                <a:latin typeface="Arial"/>
                <a:ea typeface="Arial"/>
                <a:cs typeface="Arial"/>
              </a:defRPr>
            </a:lvl5pPr>
            <a:lvl6pPr algn="l">
              <a:buNone/>
              <a:defRPr sz="2250" b="1">
                <a:solidFill>
                  <a:srgbClr val="182D4B"/>
                </a:solidFill>
                <a:latin typeface="Arial"/>
                <a:ea typeface="Arial"/>
                <a:cs typeface="Arial"/>
              </a:defRPr>
            </a:lvl6pPr>
            <a:lvl7pPr algn="l">
              <a:buNone/>
              <a:defRPr sz="2250" b="1">
                <a:solidFill>
                  <a:srgbClr val="182D4B"/>
                </a:solidFill>
                <a:latin typeface="Arial"/>
                <a:ea typeface="Arial"/>
                <a:cs typeface="Arial"/>
              </a:defRPr>
            </a:lvl7pPr>
            <a:lvl8pPr algn="l">
              <a:buNone/>
              <a:defRPr sz="2250" b="1">
                <a:solidFill>
                  <a:srgbClr val="182D4B"/>
                </a:solidFill>
                <a:latin typeface="Arial"/>
                <a:ea typeface="Arial"/>
                <a:cs typeface="Arial"/>
              </a:defRPr>
            </a:lvl8pPr>
            <a:lvl9pPr algn="l">
              <a:buNone/>
              <a:defRPr sz="2250" b="1">
                <a:solidFill>
                  <a:srgbClr val="182D4B"/>
                </a:solidFill>
                <a:latin typeface="Arial"/>
                <a:ea typeface="Arial"/>
                <a:cs typeface="Arial"/>
              </a:defRPr>
            </a:lvl9pPr>
          </a:lstStyle>
          <a:p xmlns:a="http://schemas.openxmlformats.org/drawingml/2006/main">
            <a:pPr algn="l">
              <a:buNone/>
              <a:defRPr sz="2250" b="1">
                <a:solidFill>
                  <a:srgbClr val="182D4B"/>
                </a:solidFill>
                <a:latin typeface="Arial"/>
                <a:ea typeface="Arial"/>
                <a:cs typeface="Arial"/>
              </a:defRPr>
            </a:pPr>
            <a:r>
              <a:rPr sz="2250" b="1">
                <a:solidFill>
                  <a:srgbClr val="182D4B"/>
                </a:solidFill>
                <a:latin typeface="Arial"/>
                <a:ea typeface="Arial"/>
                <a:cs typeface="Arial"/>
              </a:rPr>
              <a:t>276 ngày: 193 ngày đầu cho học/chọn model, 83 ngày cuối để chấm</a:t>
            </a:r>
          </a:p>
        </p:txBody>
      </p:sp>
      <p:graphicFrame>
        <p:nvGraphicFramePr>
          <p:cNvPr id="16" name="">
            <a:extLst xmlns:a="http://schemas.openxmlformats.org/drawingml/2006/main">
              <a:ext uri="{FF2B5EF4-FFF2-40B4-BE49-F238E27FC236}">
                <a16:creationId xmlns:a16="http://schemas.microsoft.com/office/drawing/2014/main" id="{AD3DBE10-3C2F-4023-8FB3-F51AFABBF2D1}"/>
              </a:ext>
            </a:extLst>
          </p:cNvPr>
          <p:cNvGraphicFramePr/>
          <p:nvPr/>
        </p:nvGraphicFramePr>
        <p:xfrm>
          <a:off xmlns:a="http://schemas.openxmlformats.org/drawingml/2006/main" x="609600" y="2057400"/>
          <a:ext xmlns:a="http://schemas.openxmlformats.org/drawingml/2006/main" cx="10972800" cy="2724150"/>
        </p:xfrm>
        <a:graphic xmlns:a="http://schemas.openxmlformats.org/drawingml/2006/main">
          <a:graphicData uri="http://schemas.openxmlformats.org/drawingml/2006/table">
            <a:tbl>
              <a:tblPr/>
              <a:tblGrid>
                <a:gridCol w="1619250"/>
                <a:gridCol w="1047750"/>
                <a:gridCol w="1238250"/>
                <a:gridCol w="3048000"/>
                <a:gridCol w="4019550"/>
              </a:tblGrid>
              <a:tr h="681038">
                <a:tc>
                  <a:txBody>
                    <a:bodyPr wrap="square" lIns="95250" tIns="76200" rIns="95250" bIns="76200">
                      <a:noAutofit/>
                    </a:bodyPr>
                    <a:lstStyle/>
                    <a:p>
                      <a:pPr algn="l">
                        <a:buNone/>
                      </a:pPr>
                      <a:r>
                        <a:rPr sz="1800" b="1">
                          <a:solidFill>
                            <a:srgbClr val="FFFFFF"/>
                          </a:solidFill>
                          <a:latin typeface="Arial"/>
                          <a:ea typeface="Arial"/>
                          <a:cs typeface="Arial"/>
                        </a:rPr>
                        <a:t>Tập</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800" b="1">
                          <a:solidFill>
                            <a:srgbClr val="FFFFFF"/>
                          </a:solidFill>
                          <a:latin typeface="Arial"/>
                          <a:ea typeface="Arial"/>
                          <a:cs typeface="Arial"/>
                        </a:rPr>
                        <a:t>Ngày</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800" b="1">
                          <a:solidFill>
                            <a:srgbClr val="FFFFFF"/>
                          </a:solidFill>
                          <a:latin typeface="Arial"/>
                          <a:ea typeface="Arial"/>
                          <a:cs typeface="Arial"/>
                        </a:rPr>
                        <a:t>Phiên</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800" b="1">
                          <a:solidFill>
                            <a:srgbClr val="FFFFFF"/>
                          </a:solidFill>
                          <a:latin typeface="Arial"/>
                          <a:ea typeface="Arial"/>
                          <a:cs typeface="Arial"/>
                        </a:rPr>
                        <a:t>Thời gian năm 2019</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800" b="1">
                          <a:solidFill>
                            <a:srgbClr val="FFFFFF"/>
                          </a:solidFill>
                          <a:latin typeface="Arial"/>
                          <a:ea typeface="Arial"/>
                          <a:cs typeface="Arial"/>
                        </a:rPr>
                        <a:t>Vai trò</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681038">
                <a:tc>
                  <a:txBody>
                    <a:bodyPr wrap="square" lIns="95250" tIns="76200" rIns="95250" bIns="76200">
                      <a:noAutofit/>
                    </a:bodyPr>
                    <a:lstStyle/>
                    <a:p>
                      <a:pPr algn="l">
                        <a:buNone/>
                      </a:pPr>
                      <a:r>
                        <a:rPr sz="1800" b="0">
                          <a:solidFill>
                            <a:srgbClr val="1F2937"/>
                          </a:solidFill>
                          <a:latin typeface="Arial"/>
                          <a:ea typeface="Arial"/>
                          <a:cs typeface="Arial"/>
                        </a:rPr>
                        <a:t>Train</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00" b="0">
                          <a:solidFill>
                            <a:srgbClr val="1F2937"/>
                          </a:solidFill>
                          <a:latin typeface="Arial"/>
                          <a:ea typeface="Arial"/>
                          <a:cs typeface="Arial"/>
                        </a:rPr>
                        <a:t>155</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00" b="0">
                          <a:solidFill>
                            <a:srgbClr val="1F2937"/>
                          </a:solidFill>
                          <a:latin typeface="Arial"/>
                          <a:ea typeface="Arial"/>
                          <a:cs typeface="Arial"/>
                        </a:rPr>
                        <a:t>4.155</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00" b="0">
                          <a:solidFill>
                            <a:srgbClr val="1F2937"/>
                          </a:solidFill>
                          <a:latin typeface="Arial"/>
                          <a:ea typeface="Arial"/>
                          <a:cs typeface="Arial"/>
                        </a:rPr>
                        <a:t>02/01 đến 09/07</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00" b="0">
                          <a:solidFill>
                            <a:srgbClr val="1F2937"/>
                          </a:solidFill>
                          <a:latin typeface="Arial"/>
                          <a:ea typeface="Arial"/>
                          <a:cs typeface="Arial"/>
                        </a:rPr>
                        <a:t>Cho máy thử và học</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681038">
                <a:tc>
                  <a:txBody>
                    <a:bodyPr wrap="square" lIns="95250" tIns="76200" rIns="95250" bIns="76200">
                      <a:noAutofit/>
                    </a:bodyPr>
                    <a:lstStyle/>
                    <a:p>
                      <a:pPr algn="l">
                        <a:buNone/>
                      </a:pPr>
                      <a:r>
                        <a:rPr sz="1800" b="0">
                          <a:solidFill>
                            <a:srgbClr val="1F2937"/>
                          </a:solidFill>
                          <a:latin typeface="Arial"/>
                          <a:ea typeface="Arial"/>
                          <a:cs typeface="Arial"/>
                        </a:rPr>
                        <a:t>Validation</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00" b="0">
                          <a:solidFill>
                            <a:srgbClr val="1F2937"/>
                          </a:solidFill>
                          <a:latin typeface="Arial"/>
                          <a:ea typeface="Arial"/>
                          <a:cs typeface="Arial"/>
                        </a:rPr>
                        <a:t>38</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00" b="0">
                          <a:solidFill>
                            <a:srgbClr val="1F2937"/>
                          </a:solidFill>
                          <a:latin typeface="Arial"/>
                          <a:ea typeface="Arial"/>
                          <a:cs typeface="Arial"/>
                        </a:rPr>
                        <a:t>1.005</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00" b="0">
                          <a:solidFill>
                            <a:srgbClr val="1F2937"/>
                          </a:solidFill>
                          <a:latin typeface="Arial"/>
                          <a:ea typeface="Arial"/>
                          <a:cs typeface="Arial"/>
                        </a:rPr>
                        <a:t>10/07 đến 29/08</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00" b="0">
                          <a:solidFill>
                            <a:srgbClr val="1F2937"/>
                          </a:solidFill>
                          <a:latin typeface="Arial"/>
                          <a:ea typeface="Arial"/>
                          <a:cs typeface="Arial"/>
                        </a:rPr>
                        <a:t>Chọn cấu hình/checkpoint</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681038">
                <a:tc>
                  <a:txBody>
                    <a:bodyPr wrap="square" lIns="95250" tIns="76200" rIns="95250" bIns="76200">
                      <a:noAutofit/>
                    </a:bodyPr>
                    <a:lstStyle/>
                    <a:p>
                      <a:pPr algn="l">
                        <a:buNone/>
                      </a:pPr>
                      <a:r>
                        <a:rPr sz="1800" b="0">
                          <a:solidFill>
                            <a:srgbClr val="1F2937"/>
                          </a:solidFill>
                          <a:latin typeface="Arial"/>
                          <a:ea typeface="Arial"/>
                          <a:cs typeface="Arial"/>
                        </a:rPr>
                        <a:t>Test</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00" b="0">
                          <a:solidFill>
                            <a:srgbClr val="1F2937"/>
                          </a:solidFill>
                          <a:latin typeface="Arial"/>
                          <a:ea typeface="Arial"/>
                          <a:cs typeface="Arial"/>
                        </a:rPr>
                        <a:t>83</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00" b="0">
                          <a:solidFill>
                            <a:srgbClr val="1F2937"/>
                          </a:solidFill>
                          <a:latin typeface="Arial"/>
                          <a:ea typeface="Arial"/>
                          <a:cs typeface="Arial"/>
                        </a:rPr>
                        <a:t>2.179</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00" b="0">
                          <a:solidFill>
                            <a:srgbClr val="1F2937"/>
                          </a:solidFill>
                          <a:latin typeface="Arial"/>
                          <a:ea typeface="Arial"/>
                          <a:cs typeface="Arial"/>
                        </a:rPr>
                        <a:t>30/08 đến 20/12</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00" b="0">
                          <a:solidFill>
                            <a:srgbClr val="1F2937"/>
                          </a:solidFill>
                          <a:latin typeface="Arial"/>
                          <a:ea typeface="Arial"/>
                          <a:cs typeface="Arial"/>
                        </a:rPr>
                        <a:t>Chấm kết quả cuối</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bl>
          </a:graphicData>
        </a:graphic>
      </p:graphicFrame>
      <p:sp>
        <p:nvSpPr>
          <p:cNvPr id="17" name="explain-split">
            <a:extLst xmlns:a="http://schemas.openxmlformats.org/drawingml/2006/main">
              <a:ext uri="{FF2B5EF4-FFF2-40B4-BE49-F238E27FC236}">
                <a16:creationId xmlns:a16="http://schemas.microsoft.com/office/drawing/2014/main" id="{ACB1BAFE-8E41-42A0-8BF2-71699991592A}"/>
              </a:ext>
            </a:extLst>
          </p:cNvPr>
          <p:cNvSpPr>
            <a:spLocks xmlns:a="http://schemas.openxmlformats.org/drawingml/2006/main" noGrp="1"/>
          </p:cNvSpPr>
          <p:nvPr/>
        </p:nvSpPr>
        <p:spPr>
          <a:xfrm xmlns:a="http://schemas.openxmlformats.org/drawingml/2006/main">
            <a:off x="609600" y="52768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96C5"/>
                </a:solidFill>
                <a:latin typeface="Arial"/>
                <a:ea typeface="Arial"/>
                <a:cs typeface="Arial"/>
              </a:defRPr>
            </a:defPPr>
            <a:lvl1pPr algn="l">
              <a:buNone/>
              <a:defRPr sz="2025" b="1">
                <a:solidFill>
                  <a:srgbClr val="2696C5"/>
                </a:solidFill>
                <a:latin typeface="Arial"/>
                <a:ea typeface="Arial"/>
                <a:cs typeface="Arial"/>
              </a:defRPr>
            </a:lvl1pPr>
            <a:lvl2pPr algn="l">
              <a:buNone/>
              <a:defRPr sz="2025" b="1">
                <a:solidFill>
                  <a:srgbClr val="2696C5"/>
                </a:solidFill>
                <a:latin typeface="Arial"/>
                <a:ea typeface="Arial"/>
                <a:cs typeface="Arial"/>
              </a:defRPr>
            </a:lvl2pPr>
            <a:lvl3pPr algn="l">
              <a:buNone/>
              <a:defRPr sz="2025" b="1">
                <a:solidFill>
                  <a:srgbClr val="2696C5"/>
                </a:solidFill>
                <a:latin typeface="Arial"/>
                <a:ea typeface="Arial"/>
                <a:cs typeface="Arial"/>
              </a:defRPr>
            </a:lvl3pPr>
            <a:lvl4pPr algn="l">
              <a:buNone/>
              <a:defRPr sz="2025" b="1">
                <a:solidFill>
                  <a:srgbClr val="2696C5"/>
                </a:solidFill>
                <a:latin typeface="Arial"/>
                <a:ea typeface="Arial"/>
                <a:cs typeface="Arial"/>
              </a:defRPr>
            </a:lvl4pPr>
            <a:lvl5pPr algn="l">
              <a:buNone/>
              <a:defRPr sz="2025" b="1">
                <a:solidFill>
                  <a:srgbClr val="2696C5"/>
                </a:solidFill>
                <a:latin typeface="Arial"/>
                <a:ea typeface="Arial"/>
                <a:cs typeface="Arial"/>
              </a:defRPr>
            </a:lvl5pPr>
            <a:lvl6pPr algn="l">
              <a:buNone/>
              <a:defRPr sz="2025" b="1">
                <a:solidFill>
                  <a:srgbClr val="2696C5"/>
                </a:solidFill>
                <a:latin typeface="Arial"/>
                <a:ea typeface="Arial"/>
                <a:cs typeface="Arial"/>
              </a:defRPr>
            </a:lvl6pPr>
            <a:lvl7pPr algn="l">
              <a:buNone/>
              <a:defRPr sz="2025" b="1">
                <a:solidFill>
                  <a:srgbClr val="2696C5"/>
                </a:solidFill>
                <a:latin typeface="Arial"/>
                <a:ea typeface="Arial"/>
                <a:cs typeface="Arial"/>
              </a:defRPr>
            </a:lvl7pPr>
            <a:lvl8pPr algn="l">
              <a:buNone/>
              <a:defRPr sz="2025" b="1">
                <a:solidFill>
                  <a:srgbClr val="2696C5"/>
                </a:solidFill>
                <a:latin typeface="Arial"/>
                <a:ea typeface="Arial"/>
                <a:cs typeface="Arial"/>
              </a:defRPr>
            </a:lvl8pPr>
            <a:lvl9pPr algn="l">
              <a:buNone/>
              <a:defRPr sz="2025" b="1">
                <a:solidFill>
                  <a:srgbClr val="2696C5"/>
                </a:solidFill>
                <a:latin typeface="Arial"/>
                <a:ea typeface="Arial"/>
                <a:cs typeface="Arial"/>
              </a:defRPr>
            </a:lvl9pPr>
          </a:lstStyle>
          <a:p xmlns:a="http://schemas.openxmlformats.org/drawingml/2006/main">
            <a:pPr algn="l">
              <a:buNone/>
              <a:defRPr sz="2025" b="1">
                <a:solidFill>
                  <a:srgbClr val="2696C5"/>
                </a:solidFill>
                <a:latin typeface="Arial"/>
                <a:ea typeface="Arial"/>
                <a:cs typeface="Arial"/>
              </a:defRPr>
            </a:pPr>
            <a:r>
              <a:rPr sz="2025" b="1">
                <a:solidFill>
                  <a:srgbClr val="2696C5"/>
                </a:solidFill>
                <a:latin typeface="Arial"/>
                <a:ea typeface="Arial"/>
                <a:cs typeface="Arial"/>
              </a:rPr>
              <a:t>155 + 38 = 193 ngày, thuộc 70% đầu</a:t>
            </a:r>
          </a:p>
          <a:p xmlns:a="http://schemas.openxmlformats.org/drawingml/2006/main">
            <a:pPr algn="l">
              <a:buNone/>
              <a:defRPr sz="2025" b="1">
                <a:solidFill>
                  <a:srgbClr val="2696C5"/>
                </a:solidFill>
                <a:latin typeface="Arial"/>
                <a:ea typeface="Arial"/>
                <a:cs typeface="Arial"/>
              </a:defRPr>
            </a:pPr>
            <a:r>
              <a:rPr sz="2025" b="1">
                <a:solidFill>
                  <a:srgbClr val="2696C5"/>
                </a:solidFill>
                <a:latin typeface="Arial"/>
                <a:ea typeface="Arial"/>
                <a:cs typeface="Arial"/>
              </a:rPr>
              <a:t>Không xáo ngày và không để một phiên xuất hiện ở hai tập</a:t>
            </a:r>
          </a:p>
        </p:txBody>
      </p:sp>
    </p:spTree>
    <p:extLst>
      <p:ext uri="{BB962C8B-B14F-4D97-AF65-F5344CB8AC3E}">
        <p14:creationId xmlns:p14="http://schemas.microsoft.com/office/powerpoint/2010/main" val="16168769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2C58C77-D149-4CF3-B9C3-2B71F271F5F6}"/>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2067168C-31D6-445C-A3FA-2D51315A65E2}"/>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Giờ cắm xe và nhu cầu điện khai báo</a:t>
            </a:r>
          </a:p>
        </p:txBody>
      </p:sp>
      <p:sp>
        <p:nvSpPr>
          <p:cNvPr id="3" name="Rectangle 2">
            <a:extLst xmlns:a="http://schemas.openxmlformats.org/drawingml/2006/main">
              <a:ext uri="{FF2B5EF4-FFF2-40B4-BE49-F238E27FC236}">
                <a16:creationId xmlns:a16="http://schemas.microsoft.com/office/drawing/2014/main" id="{DCD2F044-215F-48D6-96EE-61457CD6547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06</a:t>
            </a:r>
          </a:p>
        </p:txBody>
      </p:sp>
      <p:sp>
        <p:nvSpPr>
          <p:cNvPr id="13" name="Rectangle 12">
            <a:extLst xmlns:a="http://schemas.openxmlformats.org/drawingml/2006/main">
              <a:ext uri="{FF2B5EF4-FFF2-40B4-BE49-F238E27FC236}">
                <a16:creationId xmlns:a16="http://schemas.microsoft.com/office/drawing/2014/main" id="{24F6EAB0-1DBA-4DAE-86D5-38B2CF011B93}"/>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pic>
        <p:nvPicPr>
          <p:cNvPr id="15" name="">
            <a:extLst xmlns:a="http://schemas.openxmlformats.org/drawingml/2006/main">
              <a:ext uri="{FF2B5EF4-FFF2-40B4-BE49-F238E27FC236}">
                <a16:creationId xmlns:a16="http://schemas.microsoft.com/office/drawing/2014/main" id="{96CAA99F-8EA7-4C4B-A537-84A4CD435416}"/>
              </a:ext>
            </a:extLst>
          </p:cNvPr>
          <p:cNvPicPr>
            <a:picLocks xmlns:a="http://schemas.openxmlformats.org/drawingml/2006/main" noChangeAspect="1"/>
          </p:cNvPicPr>
          <p:nvPr/>
        </p:nvPicPr>
        <p:blipFill>
          <a:blip xmlns:r="http://schemas.openxmlformats.org/officeDocument/2006/relationships" xmlns:a="http://schemas.openxmlformats.org/drawingml/2006/main" r:embed="Rcb35bf9df7ad4344"/>
          <a:stretch xmlns:a="http://schemas.openxmlformats.org/drawingml/2006/main"/>
        </p:blipFill>
        <p:spPr>
          <a:xfrm xmlns:a="http://schemas.openxmlformats.org/drawingml/2006/main">
            <a:off x="476250" y="1278578"/>
            <a:ext cx="11239500" cy="3615044"/>
          </a:xfrm>
          <a:prstGeom xmlns:a="http://schemas.openxmlformats.org/drawingml/2006/main" prst="rect">
            <a:avLst/>
          </a:prstGeom>
        </p:spPr>
      </p:pic>
      <p:sp>
        <p:nvSpPr>
          <p:cNvPr id="16" name="arrival-heading">
            <a:extLst xmlns:a="http://schemas.openxmlformats.org/drawingml/2006/main">
              <a:ext uri="{FF2B5EF4-FFF2-40B4-BE49-F238E27FC236}">
                <a16:creationId xmlns:a16="http://schemas.microsoft.com/office/drawing/2014/main" id="{252405EA-075D-408D-AD83-B828AC513EB9}"/>
              </a:ext>
            </a:extLst>
          </p:cNvPr>
          <p:cNvSpPr>
            <a:spLocks xmlns:a="http://schemas.openxmlformats.org/drawingml/2006/main" noGrp="1"/>
          </p:cNvSpPr>
          <p:nvPr/>
        </p:nvSpPr>
        <p:spPr>
          <a:xfrm xmlns:a="http://schemas.openxmlformats.org/drawingml/2006/main">
            <a:off x="609600" y="52006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Giờ cắm tập trung khoảng 8–9 giờ</a:t>
            </a:r>
          </a:p>
        </p:txBody>
      </p:sp>
      <p:sp>
        <p:nvSpPr>
          <p:cNvPr id="17" name="arrival-body">
            <a:extLst xmlns:a="http://schemas.openxmlformats.org/drawingml/2006/main">
              <a:ext uri="{FF2B5EF4-FFF2-40B4-BE49-F238E27FC236}">
                <a16:creationId xmlns:a16="http://schemas.microsoft.com/office/drawing/2014/main" id="{67271C22-E407-4413-B628-7E91092FFDE7}"/>
              </a:ext>
            </a:extLst>
          </p:cNvPr>
          <p:cNvSpPr>
            <a:spLocks xmlns:a="http://schemas.openxmlformats.org/drawingml/2006/main" noGrp="1"/>
          </p:cNvSpPr>
          <p:nvPr/>
        </p:nvSpPr>
        <p:spPr>
          <a:xfrm xmlns:a="http://schemas.openxmlformats.org/drawingml/2006/main">
            <a:off x="609600" y="5676900"/>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Dữ liệu cho thấy nhu cầu đến trạm tập trung theo giờ.</a:t>
            </a:r>
          </a:p>
        </p:txBody>
      </p:sp>
      <p:sp>
        <p:nvSpPr>
          <p:cNvPr id="18" name="requested-heading">
            <a:extLst xmlns:a="http://schemas.openxmlformats.org/drawingml/2006/main">
              <a:ext uri="{FF2B5EF4-FFF2-40B4-BE49-F238E27FC236}">
                <a16:creationId xmlns:a16="http://schemas.microsoft.com/office/drawing/2014/main" id="{51860594-30F1-482B-A705-AD47F9E5C929}"/>
              </a:ext>
            </a:extLst>
          </p:cNvPr>
          <p:cNvSpPr>
            <a:spLocks xmlns:a="http://schemas.openxmlformats.org/drawingml/2006/main" noGrp="1"/>
          </p:cNvSpPr>
          <p:nvPr/>
        </p:nvSpPr>
        <p:spPr>
          <a:xfrm xmlns:a="http://schemas.openxmlformats.org/drawingml/2006/main">
            <a:off x="6419850" y="520065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Nhiều yêu cầu lớn hơn điện lịch sử</a:t>
            </a:r>
          </a:p>
        </p:txBody>
      </p:sp>
      <p:sp>
        <p:nvSpPr>
          <p:cNvPr id="19" name="requested-body">
            <a:extLst xmlns:a="http://schemas.openxmlformats.org/drawingml/2006/main">
              <a:ext uri="{FF2B5EF4-FFF2-40B4-BE49-F238E27FC236}">
                <a16:creationId xmlns:a16="http://schemas.microsoft.com/office/drawing/2014/main" id="{2A859FCD-06AD-4D07-A6A0-9006D18EB294}"/>
              </a:ext>
            </a:extLst>
          </p:cNvPr>
          <p:cNvSpPr>
            <a:spLocks xmlns:a="http://schemas.openxmlformats.org/drawingml/2006/main" noGrp="1"/>
          </p:cNvSpPr>
          <p:nvPr/>
        </p:nvSpPr>
        <p:spPr>
          <a:xfrm xmlns:a="http://schemas.openxmlformats.org/drawingml/2006/main">
            <a:off x="6419850" y="5676900"/>
            <a:ext cx="514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Điểm trên đường chéo chưa đủ chứng minh người dùng khai sai.</a:t>
            </a:r>
          </a:p>
        </p:txBody>
      </p:sp>
    </p:spTree>
    <p:extLst>
      <p:ext uri="{BB962C8B-B14F-4D97-AF65-F5344CB8AC3E}">
        <p14:creationId xmlns:p14="http://schemas.microsoft.com/office/powerpoint/2010/main" val="1821894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6F545EEB-6E27-4096-8676-E6BE1B41FC74}"/>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19F837AB-BBAF-473B-9DBF-D193BC6D3C30}"/>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Thời lượng đậu và số phiên theo thứ</a:t>
            </a:r>
          </a:p>
        </p:txBody>
      </p:sp>
      <p:sp>
        <p:nvSpPr>
          <p:cNvPr id="3" name="Rectangle 2">
            <a:extLst xmlns:a="http://schemas.openxmlformats.org/drawingml/2006/main">
              <a:ext uri="{FF2B5EF4-FFF2-40B4-BE49-F238E27FC236}">
                <a16:creationId xmlns:a16="http://schemas.microsoft.com/office/drawing/2014/main" id="{208302D4-7C51-45DA-9F28-04683B3B8B1B}"/>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07</a:t>
            </a:r>
          </a:p>
        </p:txBody>
      </p:sp>
      <p:sp>
        <p:nvSpPr>
          <p:cNvPr id="12" name="Rectangle 11">
            <a:extLst xmlns:a="http://schemas.openxmlformats.org/drawingml/2006/main">
              <a:ext uri="{FF2B5EF4-FFF2-40B4-BE49-F238E27FC236}">
                <a16:creationId xmlns:a16="http://schemas.microsoft.com/office/drawing/2014/main" id="{8759BD36-BC61-4EBB-93CB-00FCFBDC018E}"/>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pic>
        <p:nvPicPr>
          <p:cNvPr id="14" name="">
            <a:extLst xmlns:a="http://schemas.openxmlformats.org/drawingml/2006/main">
              <a:ext uri="{FF2B5EF4-FFF2-40B4-BE49-F238E27FC236}">
                <a16:creationId xmlns:a16="http://schemas.microsoft.com/office/drawing/2014/main" id="{E5E053FA-DBB0-4466-8AE0-FADAD63AF1A4}"/>
              </a:ext>
            </a:extLst>
          </p:cNvPr>
          <p:cNvPicPr>
            <a:picLocks xmlns:a="http://schemas.openxmlformats.org/drawingml/2006/main" noChangeAspect="1"/>
          </p:cNvPicPr>
          <p:nvPr/>
        </p:nvPicPr>
        <p:blipFill>
          <a:blip xmlns:r="http://schemas.openxmlformats.org/officeDocument/2006/relationships" xmlns:a="http://schemas.openxmlformats.org/drawingml/2006/main" r:embed="R56f5674f0e7249a0"/>
          <a:stretch xmlns:a="http://schemas.openxmlformats.org/drawingml/2006/main"/>
        </p:blipFill>
        <p:spPr>
          <a:xfrm xmlns:a="http://schemas.openxmlformats.org/drawingml/2006/main">
            <a:off x="476250" y="1258611"/>
            <a:ext cx="11239500" cy="3712128"/>
          </a:xfrm>
          <a:prstGeom xmlns:a="http://schemas.openxmlformats.org/drawingml/2006/main" prst="rect">
            <a:avLst/>
          </a:prstGeom>
        </p:spPr>
      </p:pic>
      <p:sp>
        <p:nvSpPr>
          <p:cNvPr id="15" name="parking-heading">
            <a:extLst xmlns:a="http://schemas.openxmlformats.org/drawingml/2006/main">
              <a:ext uri="{FF2B5EF4-FFF2-40B4-BE49-F238E27FC236}">
                <a16:creationId xmlns:a16="http://schemas.microsoft.com/office/drawing/2014/main" id="{225DFD97-0FE0-405F-A55E-0A928D20DA04}"/>
              </a:ext>
            </a:extLst>
          </p:cNvPr>
          <p:cNvSpPr>
            <a:spLocks xmlns:a="http://schemas.openxmlformats.org/drawingml/2006/main" noGrp="1"/>
          </p:cNvSpPr>
          <p:nvPr/>
        </p:nvSpPr>
        <p:spPr>
          <a:xfrm xmlns:a="http://schemas.openxmlformats.org/drawingml/2006/main">
            <a:off x="609600" y="52387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Trung vị đậu khoảng 5,82 giờ</a:t>
            </a:r>
          </a:p>
        </p:txBody>
      </p:sp>
      <p:sp>
        <p:nvSpPr>
          <p:cNvPr id="16" name="parking-body">
            <a:extLst xmlns:a="http://schemas.openxmlformats.org/drawingml/2006/main">
              <a:ext uri="{FF2B5EF4-FFF2-40B4-BE49-F238E27FC236}">
                <a16:creationId xmlns:a16="http://schemas.microsoft.com/office/drawing/2014/main" id="{3EA3719C-BC5F-42C0-B1A8-3DE55EBA2FC2}"/>
              </a:ext>
            </a:extLst>
          </p:cNvPr>
          <p:cNvSpPr>
            <a:spLocks xmlns:a="http://schemas.openxmlformats.org/drawingml/2006/main" noGrp="1"/>
          </p:cNvSpPr>
          <p:nvPr/>
        </p:nvSpPr>
        <p:spPr>
          <a:xfrm xmlns:a="http://schemas.openxmlformats.org/drawingml/2006/main">
            <a:off x="609600" y="57150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Đậu lâu tạo khả năng điều chỉnh thời điểm và tốc độ sạc.</a:t>
            </a:r>
          </a:p>
        </p:txBody>
      </p:sp>
      <p:sp>
        <p:nvSpPr>
          <p:cNvPr id="17" name="weekday-heading">
            <a:extLst xmlns:a="http://schemas.openxmlformats.org/drawingml/2006/main">
              <a:ext uri="{FF2B5EF4-FFF2-40B4-BE49-F238E27FC236}">
                <a16:creationId xmlns:a16="http://schemas.microsoft.com/office/drawing/2014/main" id="{7A532493-5881-4E43-AE58-DF3ACF2AA20F}"/>
              </a:ext>
            </a:extLst>
          </p:cNvPr>
          <p:cNvSpPr>
            <a:spLocks xmlns:a="http://schemas.openxmlformats.org/drawingml/2006/main" noGrp="1"/>
          </p:cNvSpPr>
          <p:nvPr/>
        </p:nvSpPr>
        <p:spPr>
          <a:xfrm xmlns:a="http://schemas.openxmlformats.org/drawingml/2006/main">
            <a:off x="6419850" y="523875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89,22% phiên vào ngày làm việc</a:t>
            </a:r>
          </a:p>
        </p:txBody>
      </p:sp>
      <p:sp>
        <p:nvSpPr>
          <p:cNvPr id="18" name="weekday-body">
            <a:extLst xmlns:a="http://schemas.openxmlformats.org/drawingml/2006/main">
              <a:ext uri="{FF2B5EF4-FFF2-40B4-BE49-F238E27FC236}">
                <a16:creationId xmlns:a16="http://schemas.microsoft.com/office/drawing/2014/main" id="{1988C664-BA23-4F33-895C-2BAC7060B4A6}"/>
              </a:ext>
            </a:extLst>
          </p:cNvPr>
          <p:cNvSpPr>
            <a:spLocks xmlns:a="http://schemas.openxmlformats.org/drawingml/2006/main" noGrp="1"/>
          </p:cNvSpPr>
          <p:nvPr/>
        </p:nvSpPr>
        <p:spPr>
          <a:xfrm xmlns:a="http://schemas.openxmlformats.org/drawingml/2006/main">
            <a:off x="6419850" y="5715000"/>
            <a:ext cx="5143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Tính trên mọi phiên năm 2019, kể cả phiên ngoài mô phỏng.</a:t>
            </a:r>
          </a:p>
        </p:txBody>
      </p:sp>
    </p:spTree>
    <p:extLst>
      <p:ext uri="{BB962C8B-B14F-4D97-AF65-F5344CB8AC3E}">
        <p14:creationId xmlns:p14="http://schemas.microsoft.com/office/powerpoint/2010/main" val="1568534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Căn cứ hạ tầng và giới hạn công suất</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08</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graphicFrame>
        <p:nvGraphicFramePr>
          <p:cNvPr id="15" name="">
            <a:extLst xmlns:a="http://schemas.openxmlformats.org/drawingml/2006/main">
              <a:ext uri="{FF2B5EF4-FFF2-40B4-BE49-F238E27FC236}">
                <a16:creationId xmlns:a16="http://schemas.microsoft.com/office/drawing/2014/main" id="{CD2DC4D5-D937-46C0-9604-5351792E0CB7}"/>
              </a:ext>
            </a:extLst>
          </p:cNvPr>
          <p:cNvGraphicFramePr/>
          <p:nvPr/>
        </p:nvGraphicFramePr>
        <p:xfrm>
          <a:off xmlns:a="http://schemas.openxmlformats.org/drawingml/2006/main" x="609600" y="1304925"/>
          <a:ext xmlns:a="http://schemas.openxmlformats.org/drawingml/2006/main" cx="10972800" cy="3143250"/>
        </p:xfrm>
        <a:graphic xmlns:a="http://schemas.openxmlformats.org/drawingml/2006/main">
          <a:graphicData uri="http://schemas.openxmlformats.org/drawingml/2006/table">
            <a:tbl>
              <a:tblPr/>
              <a:tblGrid>
                <a:gridCol w="2952750"/>
                <a:gridCol w="2762250"/>
                <a:gridCol w="5257800"/>
              </a:tblGrid>
              <a:tr h="628650">
                <a:tc>
                  <a:txBody>
                    <a:bodyPr wrap="square" lIns="95250" tIns="76200" rIns="95250" bIns="76200">
                      <a:noAutofit/>
                    </a:bodyPr>
                    <a:lstStyle/>
                    <a:p>
                      <a:pPr algn="l">
                        <a:buNone/>
                      </a:pPr>
                      <a:r>
                        <a:rPr sz="1875" b="1">
                          <a:solidFill>
                            <a:srgbClr val="FFFFFF"/>
                          </a:solidFill>
                          <a:latin typeface="Arial"/>
                          <a:ea typeface="Arial"/>
                          <a:cs typeface="Arial"/>
                        </a:rPr>
                        <a:t>Thông số</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875" b="1">
                          <a:solidFill>
                            <a:srgbClr val="FFFFFF"/>
                          </a:solidFill>
                          <a:latin typeface="Arial"/>
                          <a:ea typeface="Arial"/>
                          <a:cs typeface="Arial"/>
                        </a:rPr>
                        <a:t>Giá trị</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875" b="1">
                          <a:solidFill>
                            <a:srgbClr val="FFFFFF"/>
                          </a:solidFill>
                          <a:latin typeface="Arial"/>
                          <a:ea typeface="Arial"/>
                          <a:cs typeface="Arial"/>
                        </a:rPr>
                        <a:t>Căn cứ</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628650">
                <a:tc>
                  <a:txBody>
                    <a:bodyPr wrap="square" lIns="95250" tIns="76200" rIns="95250" bIns="76200">
                      <a:noAutofit/>
                    </a:bodyPr>
                    <a:lstStyle/>
                    <a:p>
                      <a:pPr algn="l">
                        <a:buNone/>
                      </a:pPr>
                      <a:r>
                        <a:rPr sz="1875" b="0">
                          <a:solidFill>
                            <a:srgbClr val="1F2937"/>
                          </a:solidFill>
                          <a:latin typeface="Arial"/>
                          <a:ea typeface="Arial"/>
                          <a:cs typeface="Arial"/>
                        </a:rPr>
                        <a:t>Trần toàn trạm</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75" b="0">
                          <a:solidFill>
                            <a:srgbClr val="1F2937"/>
                          </a:solidFill>
                          <a:latin typeface="Arial"/>
                          <a:ea typeface="Arial"/>
                          <a:cs typeface="Arial"/>
                        </a:rPr>
                        <a:t>150 kW</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75" b="0">
                          <a:solidFill>
                            <a:srgbClr val="1F2937"/>
                          </a:solidFill>
                          <a:latin typeface="Arial"/>
                          <a:ea typeface="Arial"/>
                          <a:cs typeface="Arial"/>
                        </a:rPr>
                        <a:t>Cấu hình tham khảo Caltech</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628650">
                <a:tc>
                  <a:txBody>
                    <a:bodyPr wrap="square" lIns="95250" tIns="76200" rIns="95250" bIns="76200">
                      <a:noAutofit/>
                    </a:bodyPr>
                    <a:lstStyle/>
                    <a:p>
                      <a:pPr algn="l">
                        <a:buNone/>
                      </a:pPr>
                      <a:r>
                        <a:rPr sz="1875" b="0">
                          <a:solidFill>
                            <a:srgbClr val="1F2937"/>
                          </a:solidFill>
                          <a:latin typeface="Arial"/>
                          <a:ea typeface="Arial"/>
                          <a:cs typeface="Arial"/>
                        </a:rPr>
                        <a:t>Mỗi cổng sạc</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75" b="0">
                          <a:solidFill>
                            <a:srgbClr val="1F2937"/>
                          </a:solidFill>
                          <a:latin typeface="Arial"/>
                          <a:ea typeface="Arial"/>
                          <a:cs typeface="Arial"/>
                        </a:rPr>
                        <a:t>6,656 kW</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75" b="0">
                          <a:solidFill>
                            <a:srgbClr val="1F2937"/>
                          </a:solidFill>
                          <a:latin typeface="Arial"/>
                          <a:ea typeface="Arial"/>
                          <a:cs typeface="Arial"/>
                        </a:rPr>
                        <a:t>208 V × 32 A / 1.000</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628650">
                <a:tc>
                  <a:txBody>
                    <a:bodyPr wrap="square" lIns="95250" tIns="76200" rIns="95250" bIns="76200">
                      <a:noAutofit/>
                    </a:bodyPr>
                    <a:lstStyle/>
                    <a:p>
                      <a:pPr algn="l">
                        <a:buNone/>
                      </a:pPr>
                      <a:r>
                        <a:rPr sz="1875" b="0">
                          <a:solidFill>
                            <a:srgbClr val="1F2937"/>
                          </a:solidFill>
                          <a:latin typeface="Arial"/>
                          <a:ea typeface="Arial"/>
                          <a:cs typeface="Arial"/>
                        </a:rPr>
                        <a:t>CC Pod và AV Pod</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75" b="0">
                          <a:solidFill>
                            <a:srgbClr val="1F2937"/>
                          </a:solidFill>
                          <a:latin typeface="Arial"/>
                          <a:ea typeface="Arial"/>
                          <a:cs typeface="Arial"/>
                        </a:rPr>
                        <a:t>16,64 kW mỗi nhóm</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75" b="0">
                          <a:solidFill>
                            <a:srgbClr val="1F2937"/>
                          </a:solidFill>
                          <a:latin typeface="Arial"/>
                          <a:ea typeface="Arial"/>
                          <a:cs typeface="Arial"/>
                        </a:rPr>
                        <a:t>208 V × 80 A / 1.000</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628650">
                <a:tc>
                  <a:txBody>
                    <a:bodyPr wrap="square" lIns="95250" tIns="76200" rIns="95250" bIns="76200">
                      <a:noAutofit/>
                    </a:bodyPr>
                    <a:lstStyle/>
                    <a:p>
                      <a:pPr algn="l">
                        <a:buNone/>
                      </a:pPr>
                      <a:r>
                        <a:rPr sz="1875" b="0">
                          <a:solidFill>
                            <a:srgbClr val="1F2937"/>
                          </a:solidFill>
                          <a:latin typeface="Arial"/>
                          <a:ea typeface="Arial"/>
                          <a:cs typeface="Arial"/>
                        </a:rPr>
                        <a:t>Giới hạn dòng</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75" b="0">
                          <a:solidFill>
                            <a:srgbClr val="1F2937"/>
                          </a:solidFill>
                          <a:latin typeface="Arial"/>
                          <a:ea typeface="Arial"/>
                          <a:cs typeface="Arial"/>
                        </a:rPr>
                        <a:t>2 pod + 6 dòng pha</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75" b="0">
                          <a:solidFill>
                            <a:srgbClr val="1F2937"/>
                          </a:solidFill>
                          <a:latin typeface="Arial"/>
                          <a:ea typeface="Arial"/>
                          <a:cs typeface="Arial"/>
                        </a:rPr>
                        <a:t>Mô hình và cách nối trong ACNPortal</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bl>
          </a:graphicData>
        </a:graphic>
      </p:graphicFrame>
      <p:sp>
        <p:nvSpPr>
          <p:cNvPr id="16" name="pod-example">
            <a:extLst xmlns:a="http://schemas.openxmlformats.org/drawingml/2006/main">
              <a:ext uri="{FF2B5EF4-FFF2-40B4-BE49-F238E27FC236}">
                <a16:creationId xmlns:a16="http://schemas.microsoft.com/office/drawing/2014/main" id="{4B3A565F-353D-47EF-AF64-D6E7BC7D68EC}"/>
              </a:ext>
            </a:extLst>
          </p:cNvPr>
          <p:cNvSpPr>
            <a:spLocks xmlns:a="http://schemas.openxmlformats.org/drawingml/2006/main" noGrp="1"/>
          </p:cNvSpPr>
          <p:nvPr/>
        </p:nvSpPr>
        <p:spPr>
          <a:xfrm xmlns:a="http://schemas.openxmlformats.org/drawingml/2006/main">
            <a:off x="609600" y="4953000"/>
            <a:ext cx="1090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59E42"/>
                </a:solidFill>
                <a:latin typeface="Arial"/>
                <a:ea typeface="Arial"/>
                <a:cs typeface="Arial"/>
              </a:defRPr>
            </a:defPPr>
            <a:lvl1pPr algn="l">
              <a:buNone/>
              <a:defRPr sz="2325" b="1">
                <a:solidFill>
                  <a:srgbClr val="F59E42"/>
                </a:solidFill>
                <a:latin typeface="Arial"/>
                <a:ea typeface="Arial"/>
                <a:cs typeface="Arial"/>
              </a:defRPr>
            </a:lvl1pPr>
            <a:lvl2pPr algn="l">
              <a:buNone/>
              <a:defRPr sz="2325" b="1">
                <a:solidFill>
                  <a:srgbClr val="F59E42"/>
                </a:solidFill>
                <a:latin typeface="Arial"/>
                <a:ea typeface="Arial"/>
                <a:cs typeface="Arial"/>
              </a:defRPr>
            </a:lvl2pPr>
            <a:lvl3pPr algn="l">
              <a:buNone/>
              <a:defRPr sz="2325" b="1">
                <a:solidFill>
                  <a:srgbClr val="F59E42"/>
                </a:solidFill>
                <a:latin typeface="Arial"/>
                <a:ea typeface="Arial"/>
                <a:cs typeface="Arial"/>
              </a:defRPr>
            </a:lvl3pPr>
            <a:lvl4pPr algn="l">
              <a:buNone/>
              <a:defRPr sz="2325" b="1">
                <a:solidFill>
                  <a:srgbClr val="F59E42"/>
                </a:solidFill>
                <a:latin typeface="Arial"/>
                <a:ea typeface="Arial"/>
                <a:cs typeface="Arial"/>
              </a:defRPr>
            </a:lvl4pPr>
            <a:lvl5pPr algn="l">
              <a:buNone/>
              <a:defRPr sz="2325" b="1">
                <a:solidFill>
                  <a:srgbClr val="F59E42"/>
                </a:solidFill>
                <a:latin typeface="Arial"/>
                <a:ea typeface="Arial"/>
                <a:cs typeface="Arial"/>
              </a:defRPr>
            </a:lvl5pPr>
            <a:lvl6pPr algn="l">
              <a:buNone/>
              <a:defRPr sz="2325" b="1">
                <a:solidFill>
                  <a:srgbClr val="F59E42"/>
                </a:solidFill>
                <a:latin typeface="Arial"/>
                <a:ea typeface="Arial"/>
                <a:cs typeface="Arial"/>
              </a:defRPr>
            </a:lvl6pPr>
            <a:lvl7pPr algn="l">
              <a:buNone/>
              <a:defRPr sz="2325" b="1">
                <a:solidFill>
                  <a:srgbClr val="F59E42"/>
                </a:solidFill>
                <a:latin typeface="Arial"/>
                <a:ea typeface="Arial"/>
                <a:cs typeface="Arial"/>
              </a:defRPr>
            </a:lvl7pPr>
            <a:lvl8pPr algn="l">
              <a:buNone/>
              <a:defRPr sz="2325" b="1">
                <a:solidFill>
                  <a:srgbClr val="F59E42"/>
                </a:solidFill>
                <a:latin typeface="Arial"/>
                <a:ea typeface="Arial"/>
                <a:cs typeface="Arial"/>
              </a:defRPr>
            </a:lvl8pPr>
            <a:lvl9pPr algn="l">
              <a:buNone/>
              <a:defRPr sz="2325" b="1">
                <a:solidFill>
                  <a:srgbClr val="F59E42"/>
                </a:solidFill>
                <a:latin typeface="Arial"/>
                <a:ea typeface="Arial"/>
                <a:cs typeface="Arial"/>
              </a:defRPr>
            </a:lvl9pPr>
          </a:lstStyle>
          <a:p xmlns:a="http://schemas.openxmlformats.org/drawingml/2006/main">
            <a:pPr algn="l">
              <a:buNone/>
              <a:defRPr sz="2325" b="1">
                <a:solidFill>
                  <a:srgbClr val="F59E42"/>
                </a:solidFill>
                <a:latin typeface="Arial"/>
                <a:ea typeface="Arial"/>
                <a:cs typeface="Arial"/>
              </a:defRPr>
            </a:pPr>
            <a:r>
              <a:rPr sz="2325" b="1">
                <a:solidFill>
                  <a:srgbClr val="F59E42"/>
                </a:solidFill>
                <a:latin typeface="Arial"/>
                <a:ea typeface="Arial"/>
                <a:cs typeface="Arial"/>
              </a:rPr>
              <a:t>8 xe muốn 53,248 kW, nhưng một pod chỉ được 16,64 kW</a:t>
            </a:r>
          </a:p>
        </p:txBody>
      </p:sp>
      <p:sp>
        <p:nvSpPr>
          <p:cNvPr id="17" name="capacity-caveat">
            <a:extLst xmlns:a="http://schemas.openxmlformats.org/drawingml/2006/main">
              <a:ext uri="{FF2B5EF4-FFF2-40B4-BE49-F238E27FC236}">
                <a16:creationId xmlns:a16="http://schemas.microsoft.com/office/drawing/2014/main" id="{CF360C9F-9B31-4AD1-9B63-67FA040181D9}"/>
              </a:ext>
            </a:extLst>
          </p:cNvPr>
          <p:cNvSpPr>
            <a:spLocks xmlns:a="http://schemas.openxmlformats.org/drawingml/2006/main" noGrp="1"/>
          </p:cNvSpPr>
          <p:nvPr/>
        </p:nvSpPr>
        <p:spPr>
          <a:xfrm xmlns:a="http://schemas.openxmlformats.org/drawingml/2006/main">
            <a:off x="609600" y="5953125"/>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6B7A"/>
                </a:solidFill>
                <a:latin typeface="Arial"/>
                <a:ea typeface="Arial"/>
                <a:cs typeface="Arial"/>
              </a:defRPr>
            </a:defPPr>
            <a:lvl1pPr algn="l">
              <a:buNone/>
              <a:defRPr sz="1650" b="0">
                <a:solidFill>
                  <a:srgbClr val="5E6B7A"/>
                </a:solidFill>
                <a:latin typeface="Arial"/>
                <a:ea typeface="Arial"/>
                <a:cs typeface="Arial"/>
              </a:defRPr>
            </a:lvl1pPr>
            <a:lvl2pPr algn="l">
              <a:buNone/>
              <a:defRPr sz="1650" b="0">
                <a:solidFill>
                  <a:srgbClr val="5E6B7A"/>
                </a:solidFill>
                <a:latin typeface="Arial"/>
                <a:ea typeface="Arial"/>
                <a:cs typeface="Arial"/>
              </a:defRPr>
            </a:lvl2pPr>
            <a:lvl3pPr algn="l">
              <a:buNone/>
              <a:defRPr sz="1650" b="0">
                <a:solidFill>
                  <a:srgbClr val="5E6B7A"/>
                </a:solidFill>
                <a:latin typeface="Arial"/>
                <a:ea typeface="Arial"/>
                <a:cs typeface="Arial"/>
              </a:defRPr>
            </a:lvl3pPr>
            <a:lvl4pPr algn="l">
              <a:buNone/>
              <a:defRPr sz="1650" b="0">
                <a:solidFill>
                  <a:srgbClr val="5E6B7A"/>
                </a:solidFill>
                <a:latin typeface="Arial"/>
                <a:ea typeface="Arial"/>
                <a:cs typeface="Arial"/>
              </a:defRPr>
            </a:lvl4pPr>
            <a:lvl5pPr algn="l">
              <a:buNone/>
              <a:defRPr sz="1650" b="0">
                <a:solidFill>
                  <a:srgbClr val="5E6B7A"/>
                </a:solidFill>
                <a:latin typeface="Arial"/>
                <a:ea typeface="Arial"/>
                <a:cs typeface="Arial"/>
              </a:defRPr>
            </a:lvl5pPr>
            <a:lvl6pPr algn="l">
              <a:buNone/>
              <a:defRPr sz="1650" b="0">
                <a:solidFill>
                  <a:srgbClr val="5E6B7A"/>
                </a:solidFill>
                <a:latin typeface="Arial"/>
                <a:ea typeface="Arial"/>
                <a:cs typeface="Arial"/>
              </a:defRPr>
            </a:lvl6pPr>
            <a:lvl7pPr algn="l">
              <a:buNone/>
              <a:defRPr sz="1650" b="0">
                <a:solidFill>
                  <a:srgbClr val="5E6B7A"/>
                </a:solidFill>
                <a:latin typeface="Arial"/>
                <a:ea typeface="Arial"/>
                <a:cs typeface="Arial"/>
              </a:defRPr>
            </a:lvl7pPr>
            <a:lvl8pPr algn="l">
              <a:buNone/>
              <a:defRPr sz="1650" b="0">
                <a:solidFill>
                  <a:srgbClr val="5E6B7A"/>
                </a:solidFill>
                <a:latin typeface="Arial"/>
                <a:ea typeface="Arial"/>
                <a:cs typeface="Arial"/>
              </a:defRPr>
            </a:lvl8pPr>
            <a:lvl9pPr algn="l">
              <a:buNone/>
              <a:defRPr sz="1650" b="0">
                <a:solidFill>
                  <a:srgbClr val="5E6B7A"/>
                </a:solidFill>
                <a:latin typeface="Arial"/>
                <a:ea typeface="Arial"/>
                <a:cs typeface="Arial"/>
              </a:defRPr>
            </a:lvl9pPr>
          </a:lstStyle>
          <a:p xmlns:a="http://schemas.openxmlformats.org/drawingml/2006/main">
            <a:pPr algn="l">
              <a:buNone/>
              <a:defRPr sz="1650" b="0">
                <a:solidFill>
                  <a:srgbClr val="5E6B7A"/>
                </a:solidFill>
                <a:latin typeface="Arial"/>
                <a:ea typeface="Arial"/>
                <a:cs typeface="Arial"/>
              </a:defRPr>
            </a:pPr>
            <a:r>
              <a:rPr sz="1650" b="0">
                <a:solidFill>
                  <a:srgbClr val="5E6B7A"/>
                </a:solidFill>
                <a:latin typeface="Arial"/>
                <a:ea typeface="Arial"/>
                <a:cs typeface="Arial"/>
              </a:rPr>
              <a:t>Thông số tham khảo có nguồn, chưa chứng minh không đổi suốt năm 2019.</a:t>
            </a:r>
          </a:p>
        </p:txBody>
      </p:sp>
    </p:spTree>
    <p:extLst>
      <p:ext uri="{BB962C8B-B14F-4D97-AF65-F5344CB8AC3E}">
        <p14:creationId xmlns:p14="http://schemas.microsoft.com/office/powerpoint/2010/main" val="16168769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Rectangle 33">
            <a:extLst xmlns:a="http://schemas.openxmlformats.org/drawingml/2006/main">
              <a:ext uri="{FF2B5EF4-FFF2-40B4-BE49-F238E27FC236}">
                <a16:creationId xmlns:a16="http://schemas.microsoft.com/office/drawing/2014/main" id="{3580FBFE-4B75-413B-BDDD-31FDE55E5830}"/>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71A351C9-8A06-4258-8594-B3C6DA73E9CB}"/>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Một bước mô phỏng dài 15 phút</a:t>
            </a:r>
          </a:p>
        </p:txBody>
      </p:sp>
      <p:sp>
        <p:nvSpPr>
          <p:cNvPr id="3" name="Rectangle 2">
            <a:extLst xmlns:a="http://schemas.openxmlformats.org/drawingml/2006/main">
              <a:ext uri="{FF2B5EF4-FFF2-40B4-BE49-F238E27FC236}">
                <a16:creationId xmlns:a16="http://schemas.microsoft.com/office/drawing/2014/main" id="{C5DF7662-656C-40EE-A845-B04D6602E63E}"/>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09</a:t>
            </a:r>
          </a:p>
        </p:txBody>
      </p:sp>
      <p:sp>
        <p:nvSpPr>
          <p:cNvPr id="4" name="Rectangle: Rounded Corners 3">
            <a:extLst xmlns:a="http://schemas.openxmlformats.org/drawingml/2006/main">
              <a:ext uri="{FF2B5EF4-FFF2-40B4-BE49-F238E27FC236}">
                <a16:creationId xmlns:a16="http://schemas.microsoft.com/office/drawing/2014/main" id="{EA4E928E-6483-4C0B-B968-E7A000CC8B17}"/>
              </a:ext>
            </a:extLst>
          </p:cNvPr>
          <p:cNvSpPr>
            <a:spLocks xmlns:a="http://schemas.openxmlformats.org/drawingml/2006/main" noGrp="1"/>
          </p:cNvSpPr>
          <p:nvPr/>
        </p:nvSpPr>
        <p:spPr>
          <a:xfrm xmlns:a="http://schemas.openxmlformats.org/drawingml/2006/main">
            <a:off x="438150" y="1428750"/>
            <a:ext cx="1952625" cy="2419350"/>
          </a:xfrm>
          <a:prstGeom xmlns:a="http://schemas.openxmlformats.org/drawingml/2006/main" prst="roundRect">
            <a:avLst>
              <a:gd name="adj" fmla="val 5854"/>
            </a:avLst>
          </a:prstGeom>
          <a:solidFill xmlns:a="http://schemas.openxmlformats.org/drawingml/2006/main">
            <a:srgbClr val="F4F7FA"/>
          </a:solidFill>
          <a:ln xmlns:a="http://schemas.openxmlformats.org/drawingml/2006/main" w="19050">
            <a:solidFill>
              <a:srgbClr val="F59E42"/>
            </a:solidFill>
          </a:ln>
        </p:spPr>
      </p:sp>
      <p:sp>
        <p:nvSpPr>
          <p:cNvPr id="5" name="Oval 4">
            <a:extLst xmlns:a="http://schemas.openxmlformats.org/drawingml/2006/main">
              <a:ext uri="{FF2B5EF4-FFF2-40B4-BE49-F238E27FC236}">
                <a16:creationId xmlns:a16="http://schemas.microsoft.com/office/drawing/2014/main" id="{2A5478A8-76A3-47AF-B393-CB0CA4DF3695}"/>
              </a:ext>
            </a:extLst>
          </p:cNvPr>
          <p:cNvSpPr>
            <a:spLocks xmlns:a="http://schemas.openxmlformats.org/drawingml/2006/main" noGrp="1"/>
          </p:cNvSpPr>
          <p:nvPr/>
        </p:nvSpPr>
        <p:spPr>
          <a:xfrm xmlns:a="http://schemas.openxmlformats.org/drawingml/2006/main">
            <a:off x="1066800" y="1104900"/>
            <a:ext cx="685800" cy="685800"/>
          </a:xfrm>
          <a:prstGeom xmlns:a="http://schemas.openxmlformats.org/drawingml/2006/main" prst="ellipse">
            <a:avLst/>
          </a:prstGeom>
          <a:solidFill xmlns:a="http://schemas.openxmlformats.org/drawingml/2006/main">
            <a:srgbClr val="F59E42"/>
          </a:solidFill>
          <a:ln xmlns:a="http://schemas.openxmlformats.org/drawingml/2006/main" w="28575">
            <a:solidFill>
              <a:srgbClr val="FFFFFF"/>
            </a:solidFill>
          </a:ln>
        </p:spPr>
      </p:sp>
      <p:sp>
        <p:nvSpPr>
          <p:cNvPr id="6" name="Rectangle 5">
            <a:extLst xmlns:a="http://schemas.openxmlformats.org/drawingml/2006/main">
              <a:ext uri="{FF2B5EF4-FFF2-40B4-BE49-F238E27FC236}">
                <a16:creationId xmlns:a16="http://schemas.microsoft.com/office/drawing/2014/main" id="{B77155D5-8165-443F-B7D6-1C32CAE27FAC}"/>
              </a:ext>
            </a:extLst>
          </p:cNvPr>
          <p:cNvSpPr>
            <a:spLocks xmlns:a="http://schemas.openxmlformats.org/drawingml/2006/main" noGrp="1"/>
          </p:cNvSpPr>
          <p:nvPr/>
        </p:nvSpPr>
        <p:spPr>
          <a:xfrm xmlns:a="http://schemas.openxmlformats.org/drawingml/2006/main">
            <a:off x="1066800" y="1143000"/>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xmlns:a="http://schemas.openxmlformats.org/drawingml/2006/main">
              <a:ext uri="{FF2B5EF4-FFF2-40B4-BE49-F238E27FC236}">
                <a16:creationId xmlns:a16="http://schemas.microsoft.com/office/drawing/2014/main" id="{D09D8F51-A54E-49C9-B0C6-FCA0D93AC383}"/>
              </a:ext>
            </a:extLst>
          </p:cNvPr>
          <p:cNvSpPr>
            <a:spLocks xmlns:a="http://schemas.openxmlformats.org/drawingml/2006/main" noGrp="1"/>
          </p:cNvSpPr>
          <p:nvPr/>
        </p:nvSpPr>
        <p:spPr>
          <a:xfrm xmlns:a="http://schemas.openxmlformats.org/drawingml/2006/main">
            <a:off x="571500" y="19621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182D4B"/>
                </a:solidFill>
                <a:latin typeface="Arial"/>
                <a:ea typeface="Arial"/>
                <a:cs typeface="Arial"/>
              </a:defRPr>
            </a:pPr>
            <a:r>
              <a:rPr sz="1500" b="1">
                <a:solidFill>
                  <a:srgbClr val="182D4B"/>
                </a:solidFill>
                <a:latin typeface="Arial"/>
                <a:ea typeface="Arial"/>
                <a:cs typeface="Arial"/>
              </a:rPr>
              <a:t>Xe đang cần điện</a:t>
            </a:r>
          </a:p>
        </p:txBody>
      </p:sp>
      <p:sp>
        <p:nvSpPr>
          <p:cNvPr id="8" name="Rectangle 7">
            <a:extLst xmlns:a="http://schemas.openxmlformats.org/drawingml/2006/main">
              <a:ext uri="{FF2B5EF4-FFF2-40B4-BE49-F238E27FC236}">
                <a16:creationId xmlns:a16="http://schemas.microsoft.com/office/drawing/2014/main" id="{B0F3D356-6DF7-4A72-BFB1-BF05A4770493}"/>
              </a:ext>
            </a:extLst>
          </p:cNvPr>
          <p:cNvSpPr>
            <a:spLocks xmlns:a="http://schemas.openxmlformats.org/drawingml/2006/main" noGrp="1"/>
          </p:cNvSpPr>
          <p:nvPr/>
        </p:nvSpPr>
        <p:spPr>
          <a:xfrm xmlns:a="http://schemas.openxmlformats.org/drawingml/2006/main">
            <a:off x="609600" y="2495550"/>
            <a:ext cx="16097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Đã cắm, chưa rời</a:t>
            </a:r>
          </a:p>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và còn điện cần sạc</a:t>
            </a:r>
          </a:p>
        </p:txBody>
      </p:sp>
      <p:sp>
        <p:nvSpPr>
          <p:cNvPr id="9" name="Rectangle: Rounded Corners 8">
            <a:extLst xmlns:a="http://schemas.openxmlformats.org/drawingml/2006/main">
              <a:ext uri="{FF2B5EF4-FFF2-40B4-BE49-F238E27FC236}">
                <a16:creationId xmlns:a16="http://schemas.microsoft.com/office/drawing/2014/main" id="{1293B7DF-3D4E-4D3A-AF25-846657425AC0}"/>
              </a:ext>
            </a:extLst>
          </p:cNvPr>
          <p:cNvSpPr>
            <a:spLocks xmlns:a="http://schemas.openxmlformats.org/drawingml/2006/main" noGrp="1"/>
          </p:cNvSpPr>
          <p:nvPr/>
        </p:nvSpPr>
        <p:spPr>
          <a:xfrm xmlns:a="http://schemas.openxmlformats.org/drawingml/2006/main">
            <a:off x="2743200" y="1428750"/>
            <a:ext cx="1952625" cy="2419350"/>
          </a:xfrm>
          <a:prstGeom xmlns:a="http://schemas.openxmlformats.org/drawingml/2006/main" prst="roundRect">
            <a:avLst>
              <a:gd name="adj" fmla="val 5854"/>
            </a:avLst>
          </a:prstGeom>
          <a:solidFill xmlns:a="http://schemas.openxmlformats.org/drawingml/2006/main">
            <a:srgbClr val="F4F7FA"/>
          </a:solidFill>
          <a:ln xmlns:a="http://schemas.openxmlformats.org/drawingml/2006/main" w="19050">
            <a:solidFill>
              <a:srgbClr val="2696C5"/>
            </a:solidFill>
          </a:ln>
        </p:spPr>
      </p:sp>
      <p:sp>
        <p:nvSpPr>
          <p:cNvPr id="10" name="Oval 9">
            <a:extLst xmlns:a="http://schemas.openxmlformats.org/drawingml/2006/main">
              <a:ext uri="{FF2B5EF4-FFF2-40B4-BE49-F238E27FC236}">
                <a16:creationId xmlns:a16="http://schemas.microsoft.com/office/drawing/2014/main" id="{691231FB-4D79-450C-909E-A5FD321C5C74}"/>
              </a:ext>
            </a:extLst>
          </p:cNvPr>
          <p:cNvSpPr>
            <a:spLocks xmlns:a="http://schemas.openxmlformats.org/drawingml/2006/main" noGrp="1"/>
          </p:cNvSpPr>
          <p:nvPr/>
        </p:nvSpPr>
        <p:spPr>
          <a:xfrm xmlns:a="http://schemas.openxmlformats.org/drawingml/2006/main">
            <a:off x="3371850" y="1104900"/>
            <a:ext cx="685800" cy="685800"/>
          </a:xfrm>
          <a:prstGeom xmlns:a="http://schemas.openxmlformats.org/drawingml/2006/main" prst="ellipse">
            <a:avLst/>
          </a:prstGeom>
          <a:solidFill xmlns:a="http://schemas.openxmlformats.org/drawingml/2006/main">
            <a:srgbClr val="2696C5"/>
          </a:solidFill>
          <a:ln xmlns:a="http://schemas.openxmlformats.org/drawingml/2006/main" w="28575">
            <a:solidFill>
              <a:srgbClr val="FFFFFF"/>
            </a:solidFill>
          </a:ln>
        </p:spPr>
      </p:sp>
      <p:sp>
        <p:nvSpPr>
          <p:cNvPr id="11" name="Rectangle 10">
            <a:extLst xmlns:a="http://schemas.openxmlformats.org/drawingml/2006/main">
              <a:ext uri="{FF2B5EF4-FFF2-40B4-BE49-F238E27FC236}">
                <a16:creationId xmlns:a16="http://schemas.microsoft.com/office/drawing/2014/main" id="{DBCCD472-B2D3-47EB-9E61-4FD6860F2AFD}"/>
              </a:ext>
            </a:extLst>
          </p:cNvPr>
          <p:cNvSpPr>
            <a:spLocks xmlns:a="http://schemas.openxmlformats.org/drawingml/2006/main" noGrp="1"/>
          </p:cNvSpPr>
          <p:nvPr/>
        </p:nvSpPr>
        <p:spPr>
          <a:xfrm xmlns:a="http://schemas.openxmlformats.org/drawingml/2006/main">
            <a:off x="3371850" y="1143000"/>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2" name="Rectangle 11">
            <a:extLst xmlns:a="http://schemas.openxmlformats.org/drawingml/2006/main">
              <a:ext uri="{FF2B5EF4-FFF2-40B4-BE49-F238E27FC236}">
                <a16:creationId xmlns:a16="http://schemas.microsoft.com/office/drawing/2014/main" id="{2773EB91-D853-4BCD-9DFF-635FC17BA60C}"/>
              </a:ext>
            </a:extLst>
          </p:cNvPr>
          <p:cNvSpPr>
            <a:spLocks xmlns:a="http://schemas.openxmlformats.org/drawingml/2006/main" noGrp="1"/>
          </p:cNvSpPr>
          <p:nvPr/>
        </p:nvSpPr>
        <p:spPr>
          <a:xfrm xmlns:a="http://schemas.openxmlformats.org/drawingml/2006/main">
            <a:off x="2876550" y="19621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182D4B"/>
                </a:solidFill>
                <a:latin typeface="Arial"/>
                <a:ea typeface="Arial"/>
                <a:cs typeface="Arial"/>
              </a:defRPr>
            </a:pPr>
            <a:r>
              <a:rPr sz="1500" b="1">
                <a:solidFill>
                  <a:srgbClr val="182D4B"/>
                </a:solidFill>
                <a:latin typeface="Arial"/>
                <a:ea typeface="Arial"/>
                <a:cs typeface="Arial"/>
              </a:rPr>
              <a:t>Chọn hành động</a:t>
            </a:r>
          </a:p>
        </p:txBody>
      </p:sp>
      <p:sp>
        <p:nvSpPr>
          <p:cNvPr id="13" name="Rectangle 12">
            <a:extLst xmlns:a="http://schemas.openxmlformats.org/drawingml/2006/main">
              <a:ext uri="{FF2B5EF4-FFF2-40B4-BE49-F238E27FC236}">
                <a16:creationId xmlns:a16="http://schemas.microsoft.com/office/drawing/2014/main" id="{81960DC3-19C6-4BFC-A8A5-DDDF7065171F}"/>
              </a:ext>
            </a:extLst>
          </p:cNvPr>
          <p:cNvSpPr>
            <a:spLocks xmlns:a="http://schemas.openxmlformats.org/drawingml/2006/main" noGrp="1"/>
          </p:cNvSpPr>
          <p:nvPr/>
        </p:nvSpPr>
        <p:spPr>
          <a:xfrm xmlns:a="http://schemas.openxmlformats.org/drawingml/2006/main">
            <a:off x="2914650" y="2495550"/>
            <a:ext cx="16097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Quy tắc hoặc RL</a:t>
            </a:r>
          </a:p>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chọn cách chia điện</a:t>
            </a:r>
          </a:p>
        </p:txBody>
      </p:sp>
      <p:sp>
        <p:nvSpPr>
          <p:cNvPr id="14" name="Rectangle: Rounded Corners 13">
            <a:extLst xmlns:a="http://schemas.openxmlformats.org/drawingml/2006/main">
              <a:ext uri="{FF2B5EF4-FFF2-40B4-BE49-F238E27FC236}">
                <a16:creationId xmlns:a16="http://schemas.microsoft.com/office/drawing/2014/main" id="{A11A5C59-E282-4191-AC3D-E3FF38BCFC42}"/>
              </a:ext>
            </a:extLst>
          </p:cNvPr>
          <p:cNvSpPr>
            <a:spLocks xmlns:a="http://schemas.openxmlformats.org/drawingml/2006/main" noGrp="1"/>
          </p:cNvSpPr>
          <p:nvPr/>
        </p:nvSpPr>
        <p:spPr>
          <a:xfrm xmlns:a="http://schemas.openxmlformats.org/drawingml/2006/main">
            <a:off x="5048250" y="1428750"/>
            <a:ext cx="1952625" cy="2419350"/>
          </a:xfrm>
          <a:prstGeom xmlns:a="http://schemas.openxmlformats.org/drawingml/2006/main" prst="roundRect">
            <a:avLst>
              <a:gd name="adj" fmla="val 5854"/>
            </a:avLst>
          </a:prstGeom>
          <a:solidFill xmlns:a="http://schemas.openxmlformats.org/drawingml/2006/main">
            <a:srgbClr val="F4F7FA"/>
          </a:solidFill>
          <a:ln xmlns:a="http://schemas.openxmlformats.org/drawingml/2006/main" w="19050">
            <a:solidFill>
              <a:srgbClr val="26A69A"/>
            </a:solidFill>
          </a:ln>
        </p:spPr>
      </p:sp>
      <p:sp>
        <p:nvSpPr>
          <p:cNvPr id="15" name="Oval 14">
            <a:extLst xmlns:a="http://schemas.openxmlformats.org/drawingml/2006/main">
              <a:ext uri="{FF2B5EF4-FFF2-40B4-BE49-F238E27FC236}">
                <a16:creationId xmlns:a16="http://schemas.microsoft.com/office/drawing/2014/main" id="{C72E849D-BB1A-4806-B3DA-2A7F8A53A611}"/>
              </a:ext>
            </a:extLst>
          </p:cNvPr>
          <p:cNvSpPr>
            <a:spLocks xmlns:a="http://schemas.openxmlformats.org/drawingml/2006/main" noGrp="1"/>
          </p:cNvSpPr>
          <p:nvPr/>
        </p:nvSpPr>
        <p:spPr>
          <a:xfrm xmlns:a="http://schemas.openxmlformats.org/drawingml/2006/main">
            <a:off x="5676900" y="1104900"/>
            <a:ext cx="685800" cy="685800"/>
          </a:xfrm>
          <a:prstGeom xmlns:a="http://schemas.openxmlformats.org/drawingml/2006/main" prst="ellipse">
            <a:avLst/>
          </a:prstGeom>
          <a:solidFill xmlns:a="http://schemas.openxmlformats.org/drawingml/2006/main">
            <a:srgbClr val="26A69A"/>
          </a:solidFill>
          <a:ln xmlns:a="http://schemas.openxmlformats.org/drawingml/2006/main" w="28575">
            <a:solidFill>
              <a:srgbClr val="FFFFFF"/>
            </a:solidFill>
          </a:ln>
        </p:spPr>
      </p:sp>
      <p:sp>
        <p:nvSpPr>
          <p:cNvPr id="16" name="Rectangle 15">
            <a:extLst xmlns:a="http://schemas.openxmlformats.org/drawingml/2006/main">
              <a:ext uri="{FF2B5EF4-FFF2-40B4-BE49-F238E27FC236}">
                <a16:creationId xmlns:a16="http://schemas.microsoft.com/office/drawing/2014/main" id="{041A6247-7B3C-427E-925C-C699EDE5C7C9}"/>
              </a:ext>
            </a:extLst>
          </p:cNvPr>
          <p:cNvSpPr>
            <a:spLocks xmlns:a="http://schemas.openxmlformats.org/drawingml/2006/main" noGrp="1"/>
          </p:cNvSpPr>
          <p:nvPr/>
        </p:nvSpPr>
        <p:spPr>
          <a:xfrm xmlns:a="http://schemas.openxmlformats.org/drawingml/2006/main">
            <a:off x="5676900" y="1143000"/>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7" name="Rectangle 16">
            <a:extLst xmlns:a="http://schemas.openxmlformats.org/drawingml/2006/main">
              <a:ext uri="{FF2B5EF4-FFF2-40B4-BE49-F238E27FC236}">
                <a16:creationId xmlns:a16="http://schemas.microsoft.com/office/drawing/2014/main" id="{21BA2BBB-6120-4A31-BA9A-877A0CB32E62}"/>
              </a:ext>
            </a:extLst>
          </p:cNvPr>
          <p:cNvSpPr>
            <a:spLocks xmlns:a="http://schemas.openxmlformats.org/drawingml/2006/main" noGrp="1"/>
          </p:cNvSpPr>
          <p:nvPr/>
        </p:nvSpPr>
        <p:spPr>
          <a:xfrm xmlns:a="http://schemas.openxmlformats.org/drawingml/2006/main">
            <a:off x="5181600" y="19621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182D4B"/>
                </a:solidFill>
                <a:latin typeface="Arial"/>
                <a:ea typeface="Arial"/>
                <a:cs typeface="Arial"/>
              </a:defRPr>
            </a:pPr>
            <a:r>
              <a:rPr sz="1500" b="1">
                <a:solidFill>
                  <a:srgbClr val="182D4B"/>
                </a:solidFill>
                <a:latin typeface="Arial"/>
                <a:ea typeface="Arial"/>
                <a:cs typeface="Arial"/>
              </a:rPr>
              <a:t>Phân bổ kW</a:t>
            </a:r>
          </a:p>
        </p:txBody>
      </p:sp>
      <p:sp>
        <p:nvSpPr>
          <p:cNvPr id="18" name="Rectangle 17">
            <a:extLst xmlns:a="http://schemas.openxmlformats.org/drawingml/2006/main">
              <a:ext uri="{FF2B5EF4-FFF2-40B4-BE49-F238E27FC236}">
                <a16:creationId xmlns:a16="http://schemas.microsoft.com/office/drawing/2014/main" id="{3A6F8991-D7B2-439B-BBC6-FFE4BEAB7934}"/>
              </a:ext>
            </a:extLst>
          </p:cNvPr>
          <p:cNvSpPr>
            <a:spLocks xmlns:a="http://schemas.openxmlformats.org/drawingml/2006/main" noGrp="1"/>
          </p:cNvSpPr>
          <p:nvPr/>
        </p:nvSpPr>
        <p:spPr>
          <a:xfrm xmlns:a="http://schemas.openxmlformats.org/drawingml/2006/main">
            <a:off x="5219700" y="2495550"/>
            <a:ext cx="16097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Bộ phân bổ tính</a:t>
            </a:r>
          </a:p>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công suất từng xe</a:t>
            </a:r>
          </a:p>
        </p:txBody>
      </p:sp>
      <p:sp>
        <p:nvSpPr>
          <p:cNvPr id="19" name="Rectangle: Rounded Corners 18">
            <a:extLst xmlns:a="http://schemas.openxmlformats.org/drawingml/2006/main">
              <a:ext uri="{FF2B5EF4-FFF2-40B4-BE49-F238E27FC236}">
                <a16:creationId xmlns:a16="http://schemas.microsoft.com/office/drawing/2014/main" id="{5FABE48F-5631-49F3-B6D6-BB9ADE7DAE51}"/>
              </a:ext>
            </a:extLst>
          </p:cNvPr>
          <p:cNvSpPr>
            <a:spLocks xmlns:a="http://schemas.openxmlformats.org/drawingml/2006/main" noGrp="1"/>
          </p:cNvSpPr>
          <p:nvPr/>
        </p:nvSpPr>
        <p:spPr>
          <a:xfrm xmlns:a="http://schemas.openxmlformats.org/drawingml/2006/main">
            <a:off x="7353300" y="1428750"/>
            <a:ext cx="1952625" cy="2419350"/>
          </a:xfrm>
          <a:prstGeom xmlns:a="http://schemas.openxmlformats.org/drawingml/2006/main" prst="roundRect">
            <a:avLst>
              <a:gd name="adj" fmla="val 5854"/>
            </a:avLst>
          </a:prstGeom>
          <a:solidFill xmlns:a="http://schemas.openxmlformats.org/drawingml/2006/main">
            <a:srgbClr val="F4F7FA"/>
          </a:solidFill>
          <a:ln xmlns:a="http://schemas.openxmlformats.org/drawingml/2006/main" w="19050">
            <a:solidFill>
              <a:srgbClr val="28A745"/>
            </a:solidFill>
          </a:ln>
        </p:spPr>
      </p:sp>
      <p:sp>
        <p:nvSpPr>
          <p:cNvPr id="20" name="Oval 19">
            <a:extLst xmlns:a="http://schemas.openxmlformats.org/drawingml/2006/main">
              <a:ext uri="{FF2B5EF4-FFF2-40B4-BE49-F238E27FC236}">
                <a16:creationId xmlns:a16="http://schemas.microsoft.com/office/drawing/2014/main" id="{D59E64CE-7EE9-4357-B6B3-D005EAACB05D}"/>
              </a:ext>
            </a:extLst>
          </p:cNvPr>
          <p:cNvSpPr>
            <a:spLocks xmlns:a="http://schemas.openxmlformats.org/drawingml/2006/main" noGrp="1"/>
          </p:cNvSpPr>
          <p:nvPr/>
        </p:nvSpPr>
        <p:spPr>
          <a:xfrm xmlns:a="http://schemas.openxmlformats.org/drawingml/2006/main">
            <a:off x="7981950" y="1104900"/>
            <a:ext cx="685800" cy="685800"/>
          </a:xfrm>
          <a:prstGeom xmlns:a="http://schemas.openxmlformats.org/drawingml/2006/main" prst="ellipse">
            <a:avLst/>
          </a:prstGeom>
          <a:solidFill xmlns:a="http://schemas.openxmlformats.org/drawingml/2006/main">
            <a:srgbClr val="28A745"/>
          </a:solidFill>
          <a:ln xmlns:a="http://schemas.openxmlformats.org/drawingml/2006/main" w="28575">
            <a:solidFill>
              <a:srgbClr val="FFFFFF"/>
            </a:solidFill>
          </a:ln>
        </p:spPr>
      </p:sp>
      <p:sp>
        <p:nvSpPr>
          <p:cNvPr id="21" name="Rectangle 20">
            <a:extLst xmlns:a="http://schemas.openxmlformats.org/drawingml/2006/main">
              <a:ext uri="{FF2B5EF4-FFF2-40B4-BE49-F238E27FC236}">
                <a16:creationId xmlns:a16="http://schemas.microsoft.com/office/drawing/2014/main" id="{21B73F60-9067-45AC-99BF-BCC8C16AFFF5}"/>
              </a:ext>
            </a:extLst>
          </p:cNvPr>
          <p:cNvSpPr>
            <a:spLocks xmlns:a="http://schemas.openxmlformats.org/drawingml/2006/main" noGrp="1"/>
          </p:cNvSpPr>
          <p:nvPr/>
        </p:nvSpPr>
        <p:spPr>
          <a:xfrm xmlns:a="http://schemas.openxmlformats.org/drawingml/2006/main">
            <a:off x="7981950" y="1143000"/>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B67A5F1A-6FD8-4FC9-BF7D-DEC12B689C20}"/>
              </a:ext>
            </a:extLst>
          </p:cNvPr>
          <p:cNvSpPr>
            <a:spLocks xmlns:a="http://schemas.openxmlformats.org/drawingml/2006/main" noGrp="1"/>
          </p:cNvSpPr>
          <p:nvPr/>
        </p:nvSpPr>
        <p:spPr>
          <a:xfrm xmlns:a="http://schemas.openxmlformats.org/drawingml/2006/main">
            <a:off x="7486650" y="19621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182D4B"/>
                </a:solidFill>
                <a:latin typeface="Arial"/>
                <a:ea typeface="Arial"/>
                <a:cs typeface="Arial"/>
              </a:defRPr>
            </a:pPr>
            <a:r>
              <a:rPr sz="1500" b="1">
                <a:solidFill>
                  <a:srgbClr val="182D4B"/>
                </a:solidFill>
                <a:latin typeface="Arial"/>
                <a:ea typeface="Arial"/>
                <a:cs typeface="Arial"/>
              </a:rPr>
              <a:t>Giữ giới hạn</a:t>
            </a:r>
          </a:p>
        </p:txBody>
      </p:sp>
      <p:sp>
        <p:nvSpPr>
          <p:cNvPr id="23" name="Rectangle 22">
            <a:extLst xmlns:a="http://schemas.openxmlformats.org/drawingml/2006/main">
              <a:ext uri="{FF2B5EF4-FFF2-40B4-BE49-F238E27FC236}">
                <a16:creationId xmlns:a16="http://schemas.microsoft.com/office/drawing/2014/main" id="{094E5CC8-8D3E-4F22-999C-5D262C6535DA}"/>
              </a:ext>
            </a:extLst>
          </p:cNvPr>
          <p:cNvSpPr>
            <a:spLocks xmlns:a="http://schemas.openxmlformats.org/drawingml/2006/main" noGrp="1"/>
          </p:cNvSpPr>
          <p:nvPr/>
        </p:nvSpPr>
        <p:spPr>
          <a:xfrm xmlns:a="http://schemas.openxmlformats.org/drawingml/2006/main">
            <a:off x="7524750" y="2495550"/>
            <a:ext cx="16097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Áp trần cổng, trạm,</a:t>
            </a:r>
          </a:p>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pod và dòng pha</a:t>
            </a:r>
          </a:p>
        </p:txBody>
      </p:sp>
      <p:sp>
        <p:nvSpPr>
          <p:cNvPr id="24" name="Rectangle: Rounded Corners 23">
            <a:extLst xmlns:a="http://schemas.openxmlformats.org/drawingml/2006/main">
              <a:ext uri="{FF2B5EF4-FFF2-40B4-BE49-F238E27FC236}">
                <a16:creationId xmlns:a16="http://schemas.microsoft.com/office/drawing/2014/main" id="{B93D5FD4-CC0C-47B7-9A5B-EE578436D859}"/>
              </a:ext>
            </a:extLst>
          </p:cNvPr>
          <p:cNvSpPr>
            <a:spLocks xmlns:a="http://schemas.openxmlformats.org/drawingml/2006/main" noGrp="1"/>
          </p:cNvSpPr>
          <p:nvPr/>
        </p:nvSpPr>
        <p:spPr>
          <a:xfrm xmlns:a="http://schemas.openxmlformats.org/drawingml/2006/main">
            <a:off x="9658350" y="1428750"/>
            <a:ext cx="1952625" cy="2419350"/>
          </a:xfrm>
          <a:prstGeom xmlns:a="http://schemas.openxmlformats.org/drawingml/2006/main" prst="roundRect">
            <a:avLst>
              <a:gd name="adj" fmla="val 5854"/>
            </a:avLst>
          </a:prstGeom>
          <a:solidFill xmlns:a="http://schemas.openxmlformats.org/drawingml/2006/main">
            <a:srgbClr val="F4F7FA"/>
          </a:solidFill>
          <a:ln xmlns:a="http://schemas.openxmlformats.org/drawingml/2006/main" w="19050">
            <a:solidFill>
              <a:srgbClr val="274568"/>
            </a:solidFill>
          </a:ln>
        </p:spPr>
      </p:sp>
      <p:sp>
        <p:nvSpPr>
          <p:cNvPr id="25" name="Oval 24">
            <a:extLst xmlns:a="http://schemas.openxmlformats.org/drawingml/2006/main">
              <a:ext uri="{FF2B5EF4-FFF2-40B4-BE49-F238E27FC236}">
                <a16:creationId xmlns:a16="http://schemas.microsoft.com/office/drawing/2014/main" id="{6844A22F-536A-45C6-A9D5-B82C291E5597}"/>
              </a:ext>
            </a:extLst>
          </p:cNvPr>
          <p:cNvSpPr>
            <a:spLocks xmlns:a="http://schemas.openxmlformats.org/drawingml/2006/main" noGrp="1"/>
          </p:cNvSpPr>
          <p:nvPr/>
        </p:nvSpPr>
        <p:spPr>
          <a:xfrm xmlns:a="http://schemas.openxmlformats.org/drawingml/2006/main">
            <a:off x="10287000" y="1104900"/>
            <a:ext cx="685800" cy="685800"/>
          </a:xfrm>
          <a:prstGeom xmlns:a="http://schemas.openxmlformats.org/drawingml/2006/main" prst="ellipse">
            <a:avLst/>
          </a:prstGeom>
          <a:solidFill xmlns:a="http://schemas.openxmlformats.org/drawingml/2006/main">
            <a:srgbClr val="274568"/>
          </a:solidFill>
          <a:ln xmlns:a="http://schemas.openxmlformats.org/drawingml/2006/main" w="28575">
            <a:solidFill>
              <a:srgbClr val="FFFFFF"/>
            </a:solidFill>
          </a:ln>
        </p:spPr>
      </p:sp>
      <p:sp>
        <p:nvSpPr>
          <p:cNvPr id="26" name="Rectangle 25">
            <a:extLst xmlns:a="http://schemas.openxmlformats.org/drawingml/2006/main">
              <a:ext uri="{FF2B5EF4-FFF2-40B4-BE49-F238E27FC236}">
                <a16:creationId xmlns:a16="http://schemas.microsoft.com/office/drawing/2014/main" id="{0AAEF81A-0BA4-4ADC-8B9E-5C86D4CC8004}"/>
              </a:ext>
            </a:extLst>
          </p:cNvPr>
          <p:cNvSpPr>
            <a:spLocks xmlns:a="http://schemas.openxmlformats.org/drawingml/2006/main" noGrp="1"/>
          </p:cNvSpPr>
          <p:nvPr/>
        </p:nvSpPr>
        <p:spPr>
          <a:xfrm xmlns:a="http://schemas.openxmlformats.org/drawingml/2006/main">
            <a:off x="10287000" y="1143000"/>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5</a:t>
            </a:r>
          </a:p>
        </p:txBody>
      </p:sp>
      <p:sp>
        <p:nvSpPr>
          <p:cNvPr id="27" name="Rectangle 26">
            <a:extLst xmlns:a="http://schemas.openxmlformats.org/drawingml/2006/main">
              <a:ext uri="{FF2B5EF4-FFF2-40B4-BE49-F238E27FC236}">
                <a16:creationId xmlns:a16="http://schemas.microsoft.com/office/drawing/2014/main" id="{00F6C6D8-97C8-4EC3-8C0D-1583A6E3A68E}"/>
              </a:ext>
            </a:extLst>
          </p:cNvPr>
          <p:cNvSpPr>
            <a:spLocks xmlns:a="http://schemas.openxmlformats.org/drawingml/2006/main" noGrp="1"/>
          </p:cNvSpPr>
          <p:nvPr/>
        </p:nvSpPr>
        <p:spPr>
          <a:xfrm xmlns:a="http://schemas.openxmlformats.org/drawingml/2006/main">
            <a:off x="9791700" y="19621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182D4B"/>
                </a:solidFill>
                <a:latin typeface="Arial"/>
                <a:ea typeface="Arial"/>
                <a:cs typeface="Arial"/>
              </a:defRPr>
            </a:pPr>
            <a:r>
              <a:rPr sz="1500" b="1">
                <a:solidFill>
                  <a:srgbClr val="182D4B"/>
                </a:solidFill>
                <a:latin typeface="Arial"/>
                <a:ea typeface="Arial"/>
                <a:cs typeface="Arial"/>
              </a:rPr>
              <a:t>Cập nhật và chấm</a:t>
            </a:r>
          </a:p>
        </p:txBody>
      </p:sp>
      <p:sp>
        <p:nvSpPr>
          <p:cNvPr id="28" name="Rectangle 27">
            <a:extLst xmlns:a="http://schemas.openxmlformats.org/drawingml/2006/main">
              <a:ext uri="{FF2B5EF4-FFF2-40B4-BE49-F238E27FC236}">
                <a16:creationId xmlns:a16="http://schemas.microsoft.com/office/drawing/2014/main" id="{53148D5B-931D-4F6F-B6FF-EE08AB3A922A}"/>
              </a:ext>
            </a:extLst>
          </p:cNvPr>
          <p:cNvSpPr>
            <a:spLocks xmlns:a="http://schemas.openxmlformats.org/drawingml/2006/main" noGrp="1"/>
          </p:cNvSpPr>
          <p:nvPr/>
        </p:nvSpPr>
        <p:spPr>
          <a:xfrm xmlns:a="http://schemas.openxmlformats.org/drawingml/2006/main">
            <a:off x="9829800" y="2495550"/>
            <a:ext cx="16097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Cộng điện đã cấp,</a:t>
            </a:r>
          </a:p>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phút chờ/chậm</a:t>
            </a:r>
          </a:p>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và điểm phạt</a:t>
            </a:r>
          </a:p>
        </p:txBody>
      </p:sp>
      <p:sp>
        <p:nvSpPr>
          <p:cNvPr id="29" name="Rectangle: Rounded Corners 28">
            <a:extLst xmlns:a="http://schemas.openxmlformats.org/drawingml/2006/main">
              <a:ext uri="{FF2B5EF4-FFF2-40B4-BE49-F238E27FC236}">
                <a16:creationId xmlns:a16="http://schemas.microsoft.com/office/drawing/2014/main" id="{CE633FB4-553F-4E12-BD14-22188CB045FC}"/>
              </a:ext>
            </a:extLst>
          </p:cNvPr>
          <p:cNvSpPr>
            <a:spLocks xmlns:a="http://schemas.openxmlformats.org/drawingml/2006/main" noGrp="1"/>
          </p:cNvSpPr>
          <p:nvPr/>
        </p:nvSpPr>
        <p:spPr>
          <a:xfrm xmlns:a="http://schemas.openxmlformats.org/drawingml/2006/main">
            <a:off x="857250" y="4457700"/>
            <a:ext cx="10477500" cy="1257300"/>
          </a:xfrm>
          <a:prstGeom xmlns:a="http://schemas.openxmlformats.org/drawingml/2006/main" prst="roundRect">
            <a:avLst>
              <a:gd name="adj" fmla="val 7576"/>
            </a:avLst>
          </a:prstGeom>
          <a:solidFill xmlns:a="http://schemas.openxmlformats.org/drawingml/2006/main">
            <a:srgbClr val="EDF7FB"/>
          </a:solidFill>
          <a:ln xmlns:a="http://schemas.openxmlformats.org/drawingml/2006/main" w="14288">
            <a:solidFill>
              <a:srgbClr val="2696C5"/>
            </a:solidFill>
          </a:ln>
        </p:spPr>
      </p:sp>
      <p:sp>
        <p:nvSpPr>
          <p:cNvPr id="30" name="Rectangle 29">
            <a:extLst xmlns:a="http://schemas.openxmlformats.org/drawingml/2006/main">
              <a:ext uri="{FF2B5EF4-FFF2-40B4-BE49-F238E27FC236}">
                <a16:creationId xmlns:a16="http://schemas.microsoft.com/office/drawing/2014/main" id="{1457D007-34DB-4879-B98C-8F36BE5D9561}"/>
              </a:ext>
            </a:extLst>
          </p:cNvPr>
          <p:cNvSpPr>
            <a:spLocks xmlns:a="http://schemas.openxmlformats.org/drawingml/2006/main" noGrp="1"/>
          </p:cNvSpPr>
          <p:nvPr/>
        </p:nvSpPr>
        <p:spPr>
          <a:xfrm xmlns:a="http://schemas.openxmlformats.org/drawingml/2006/main">
            <a:off x="1104900" y="46291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575" b="1">
                <a:solidFill>
                  <a:srgbClr val="182D4B"/>
                </a:solidFill>
                <a:latin typeface="Arial"/>
                <a:ea typeface="Arial"/>
                <a:cs typeface="Arial"/>
              </a:defRPr>
            </a:pPr>
            <a:r>
              <a:rPr sz="1575" b="1">
                <a:solidFill>
                  <a:srgbClr val="182D4B"/>
                </a:solidFill>
                <a:latin typeface="Arial"/>
                <a:ea typeface="Arial"/>
                <a:cs typeface="Arial"/>
              </a:rPr>
              <a:t>Điện cấp trong 15 phút</a:t>
            </a:r>
          </a:p>
        </p:txBody>
      </p:sp>
      <p:sp>
        <p:nvSpPr>
          <p:cNvPr id="31" name="Rectangle 30">
            <a:extLst xmlns:a="http://schemas.openxmlformats.org/drawingml/2006/main">
              <a:ext uri="{FF2B5EF4-FFF2-40B4-BE49-F238E27FC236}">
                <a16:creationId xmlns:a16="http://schemas.microsoft.com/office/drawing/2014/main" id="{169994B1-67D0-4725-A94C-E93075C7A93F}"/>
              </a:ext>
            </a:extLst>
          </p:cNvPr>
          <p:cNvSpPr>
            <a:spLocks xmlns:a="http://schemas.openxmlformats.org/drawingml/2006/main" noGrp="1"/>
          </p:cNvSpPr>
          <p:nvPr/>
        </p:nvSpPr>
        <p:spPr>
          <a:xfrm xmlns:a="http://schemas.openxmlformats.org/drawingml/2006/main">
            <a:off x="1104900" y="5048250"/>
            <a:ext cx="9696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800" b="1">
                <a:solidFill>
                  <a:srgbClr val="2696C5"/>
                </a:solidFill>
                <a:latin typeface="Arial"/>
                <a:ea typeface="Arial"/>
                <a:cs typeface="Arial"/>
              </a:defRPr>
            </a:pPr>
            <a:r>
              <a:rPr sz="1800" b="1">
                <a:solidFill>
                  <a:srgbClr val="2696C5"/>
                </a:solidFill>
                <a:latin typeface="Arial"/>
                <a:ea typeface="Arial"/>
                <a:cs typeface="Arial"/>
              </a:rPr>
              <a:t>4 kW × 0,25 giờ = 1 kWh</a:t>
            </a:r>
          </a:p>
        </p:txBody>
      </p:sp>
      <p:sp>
        <p:nvSpPr>
          <p:cNvPr id="32" name="Rectangle 31">
            <a:extLst xmlns:a="http://schemas.openxmlformats.org/drawingml/2006/main">
              <a:ext uri="{FF2B5EF4-FFF2-40B4-BE49-F238E27FC236}">
                <a16:creationId xmlns:a16="http://schemas.microsoft.com/office/drawing/2014/main" id="{9A5C73E8-970D-4E3E-8D74-3D129CA468E5}"/>
              </a:ext>
            </a:extLst>
          </p:cNvPr>
          <p:cNvSpPr>
            <a:spLocks xmlns:a="http://schemas.openxmlformats.org/drawingml/2006/main" noGrp="1"/>
          </p:cNvSpPr>
          <p:nvPr/>
        </p:nvSpPr>
        <p:spPr>
          <a:xfrm xmlns:a="http://schemas.openxmlformats.org/drawingml/2006/main">
            <a:off x="1104900" y="5429250"/>
            <a:ext cx="969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E6B7A"/>
                </a:solidFill>
                <a:latin typeface="Arial"/>
                <a:ea typeface="Arial"/>
                <a:cs typeface="Arial"/>
              </a:defRPr>
            </a:pPr>
            <a:r>
              <a:rPr sz="1200" b="0">
                <a:solidFill>
                  <a:srgbClr val="5E6B7A"/>
                </a:solidFill>
                <a:latin typeface="Arial"/>
                <a:ea typeface="Arial"/>
                <a:cs typeface="Arial"/>
              </a:rPr>
              <a:t>Xe còn cần 10 kWh, sau bước này còn 9 kWh. Một ngày thường có 96 bước.</a:t>
            </a:r>
          </a:p>
        </p:txBody>
      </p:sp>
      <p:sp>
        <p:nvSpPr>
          <p:cNvPr id="33" name="Rectangle 32">
            <a:extLst xmlns:a="http://schemas.openxmlformats.org/drawingml/2006/main">
              <a:ext uri="{FF2B5EF4-FFF2-40B4-BE49-F238E27FC236}">
                <a16:creationId xmlns:a16="http://schemas.microsoft.com/office/drawing/2014/main" id="{92052E31-EC72-4720-902B-A9A96B0F3839}"/>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spTree>
    <p:extLst>
      <p:ext uri="{BB962C8B-B14F-4D97-AF65-F5344CB8AC3E}">
        <p14:creationId xmlns:p14="http://schemas.microsoft.com/office/powerpoint/2010/main" val="13375778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Điện thiếu, chờ và chậm tương đương</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10</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graphicFrame>
        <p:nvGraphicFramePr>
          <p:cNvPr id="15" name="">
            <a:extLst xmlns:a="http://schemas.openxmlformats.org/drawingml/2006/main">
              <a:ext uri="{FF2B5EF4-FFF2-40B4-BE49-F238E27FC236}">
                <a16:creationId xmlns:a16="http://schemas.microsoft.com/office/drawing/2014/main" id="{6B2F9355-A1A8-4C79-8F84-A6222D687A05}"/>
              </a:ext>
            </a:extLst>
          </p:cNvPr>
          <p:cNvGraphicFramePr/>
          <p:nvPr/>
        </p:nvGraphicFramePr>
        <p:xfrm>
          <a:off xmlns:a="http://schemas.openxmlformats.org/drawingml/2006/main" x="609600" y="1190625"/>
          <a:ext xmlns:a="http://schemas.openxmlformats.org/drawingml/2006/main" cx="10972800" cy="3533775"/>
        </p:xfrm>
        <a:graphic xmlns:a="http://schemas.openxmlformats.org/drawingml/2006/main">
          <a:graphicData uri="http://schemas.openxmlformats.org/drawingml/2006/table">
            <a:tbl>
              <a:tblPr/>
              <a:tblGrid>
                <a:gridCol w="2333625"/>
                <a:gridCol w="4857750"/>
                <a:gridCol w="3781425"/>
              </a:tblGrid>
              <a:tr h="706755">
                <a:tc>
                  <a:txBody>
                    <a:bodyPr wrap="square" lIns="95250" tIns="76200" rIns="95250" bIns="76200">
                      <a:noAutofit/>
                    </a:bodyPr>
                    <a:lstStyle/>
                    <a:p>
                      <a:pPr algn="l">
                        <a:buNone/>
                      </a:pPr>
                      <a:r>
                        <a:rPr sz="1725" b="1">
                          <a:solidFill>
                            <a:srgbClr val="FFFFFF"/>
                          </a:solidFill>
                          <a:latin typeface="Arial"/>
                          <a:ea typeface="Arial"/>
                          <a:cs typeface="Arial"/>
                        </a:rPr>
                        <a:t>Chỉ số</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725" b="1">
                          <a:solidFill>
                            <a:srgbClr val="FFFFFF"/>
                          </a:solidFill>
                          <a:latin typeface="Arial"/>
                          <a:ea typeface="Arial"/>
                          <a:cs typeface="Arial"/>
                        </a:rPr>
                        <a:t>Cách tính</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725" b="1">
                          <a:solidFill>
                            <a:srgbClr val="FFFFFF"/>
                          </a:solidFill>
                          <a:latin typeface="Arial"/>
                          <a:ea typeface="Arial"/>
                          <a:cs typeface="Arial"/>
                        </a:rPr>
                        <a:t>Ví dụ</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706755">
                <a:tc>
                  <a:txBody>
                    <a:bodyPr wrap="square" lIns="95250" tIns="76200" rIns="95250" bIns="76200">
                      <a:noAutofit/>
                    </a:bodyPr>
                    <a:lstStyle/>
                    <a:p>
                      <a:pPr algn="l">
                        <a:buNone/>
                      </a:pPr>
                      <a:r>
                        <a:rPr sz="1725" b="0">
                          <a:solidFill>
                            <a:srgbClr val="1F2937"/>
                          </a:solidFill>
                          <a:latin typeface="Arial"/>
                          <a:ea typeface="Arial"/>
                          <a:cs typeface="Arial"/>
                        </a:rPr>
                        <a:t>Điện thiếu</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Yêu cầu − đã cấp</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10 − 7 = 3 kWh</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706755">
                <a:tc>
                  <a:txBody>
                    <a:bodyPr wrap="square" lIns="95250" tIns="76200" rIns="95250" bIns="76200">
                      <a:noAutofit/>
                    </a:bodyPr>
                    <a:lstStyle/>
                    <a:p>
                      <a:pPr algn="l">
                        <a:buNone/>
                      </a:pPr>
                      <a:r>
                        <a:rPr sz="1725" b="0">
                          <a:solidFill>
                            <a:srgbClr val="1F2937"/>
                          </a:solidFill>
                          <a:latin typeface="Arial"/>
                          <a:ea typeface="Arial"/>
                          <a:cs typeface="Arial"/>
                        </a:rPr>
                        <a:t>Tỷ lệ thiếu</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100 × thiếu / yêu cầu</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3 / 10 × 100 = 30%</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706755">
                <a:tc>
                  <a:txBody>
                    <a:bodyPr wrap="square" lIns="95250" tIns="76200" rIns="95250" bIns="76200">
                      <a:noAutofit/>
                    </a:bodyPr>
                    <a:lstStyle/>
                    <a:p>
                      <a:pPr algn="l">
                        <a:buNone/>
                      </a:pPr>
                      <a:r>
                        <a:rPr sz="1725" b="0">
                          <a:solidFill>
                            <a:srgbClr val="1F2937"/>
                          </a:solidFill>
                          <a:latin typeface="Arial"/>
                          <a:ea typeface="Arial"/>
                          <a:cs typeface="Arial"/>
                        </a:rPr>
                        <a:t>Chờ ban đầu</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Đến mốc điều khiển tới lần đầu có điện</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9:00 đến 9:15 = 15 phút</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706755">
                <a:tc>
                  <a:txBody>
                    <a:bodyPr wrap="square" lIns="95250" tIns="76200" rIns="95250" bIns="76200">
                      <a:noAutofit/>
                    </a:bodyPr>
                    <a:lstStyle/>
                    <a:p>
                      <a:pPr algn="l">
                        <a:buNone/>
                      </a:pPr>
                      <a:r>
                        <a:rPr sz="1725" b="0">
                          <a:solidFill>
                            <a:srgbClr val="1F2937"/>
                          </a:solidFill>
                          <a:latin typeface="Arial"/>
                          <a:ea typeface="Arial"/>
                          <a:cs typeface="Arial"/>
                        </a:rPr>
                        <a:t>Chậm tương đương</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Thời gian phục vụ − thời gian lý tưởng</a:t>
                      </a:r>
                    </a:p>
                    <a:p>
                      <a:pPr algn="l">
                        <a:buNone/>
                      </a:pPr>
                      <a:r>
                        <a:rPr sz="1725" b="0">
                          <a:solidFill>
                            <a:srgbClr val="1F2937"/>
                          </a:solidFill>
                          <a:latin typeface="Arial"/>
                          <a:ea typeface="Arial"/>
                          <a:cs typeface="Arial"/>
                        </a:rPr>
                        <a:t>cho chính lượng điện đã cấp</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Cần 30 phút ở mức tối đa,</a:t>
                      </a:r>
                    </a:p>
                    <a:p>
                      <a:pPr algn="l">
                        <a:buNone/>
                      </a:pPr>
                      <a:r>
                        <a:rPr sz="1725" b="0">
                          <a:solidFill>
                            <a:srgbClr val="1F2937"/>
                          </a:solidFill>
                          <a:latin typeface="Arial"/>
                          <a:ea typeface="Arial"/>
                          <a:cs typeface="Arial"/>
                        </a:rPr>
                        <a:t>phục vụ 45 phút: chậm 15 phút</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bl>
          </a:graphicData>
        </a:graphic>
      </p:graphicFrame>
      <p:sp>
        <p:nvSpPr>
          <p:cNvPr id="16" name="takeaway">
            <a:extLst xmlns:a="http://schemas.openxmlformats.org/drawingml/2006/main">
              <a:ext uri="{FF2B5EF4-FFF2-40B4-BE49-F238E27FC236}">
                <a16:creationId xmlns:a16="http://schemas.microsoft.com/office/drawing/2014/main" id="{F13185D2-8DE5-4259-AEB2-DBEA9219366B}"/>
              </a:ext>
            </a:extLst>
          </p:cNvPr>
          <p:cNvSpPr>
            <a:spLocks xmlns:a="http://schemas.openxmlformats.org/drawingml/2006/main" noGrp="1"/>
          </p:cNvSpPr>
          <p:nvPr/>
        </p:nvSpPr>
        <p:spPr>
          <a:xfrm xmlns:a="http://schemas.openxmlformats.org/drawingml/2006/main">
            <a:off x="609600" y="5191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59E42"/>
                </a:solidFill>
                <a:latin typeface="Arial"/>
                <a:ea typeface="Arial"/>
                <a:cs typeface="Arial"/>
              </a:defRPr>
            </a:defPPr>
            <a:lvl1pPr algn="l">
              <a:buNone/>
              <a:defRPr sz="2025" b="1">
                <a:solidFill>
                  <a:srgbClr val="F59E42"/>
                </a:solidFill>
                <a:latin typeface="Arial"/>
                <a:ea typeface="Arial"/>
                <a:cs typeface="Arial"/>
              </a:defRPr>
            </a:lvl1pPr>
            <a:lvl2pPr algn="l">
              <a:buNone/>
              <a:defRPr sz="2025" b="1">
                <a:solidFill>
                  <a:srgbClr val="F59E42"/>
                </a:solidFill>
                <a:latin typeface="Arial"/>
                <a:ea typeface="Arial"/>
                <a:cs typeface="Arial"/>
              </a:defRPr>
            </a:lvl2pPr>
            <a:lvl3pPr algn="l">
              <a:buNone/>
              <a:defRPr sz="2025" b="1">
                <a:solidFill>
                  <a:srgbClr val="F59E42"/>
                </a:solidFill>
                <a:latin typeface="Arial"/>
                <a:ea typeface="Arial"/>
                <a:cs typeface="Arial"/>
              </a:defRPr>
            </a:lvl3pPr>
            <a:lvl4pPr algn="l">
              <a:buNone/>
              <a:defRPr sz="2025" b="1">
                <a:solidFill>
                  <a:srgbClr val="F59E42"/>
                </a:solidFill>
                <a:latin typeface="Arial"/>
                <a:ea typeface="Arial"/>
                <a:cs typeface="Arial"/>
              </a:defRPr>
            </a:lvl4pPr>
            <a:lvl5pPr algn="l">
              <a:buNone/>
              <a:defRPr sz="2025" b="1">
                <a:solidFill>
                  <a:srgbClr val="F59E42"/>
                </a:solidFill>
                <a:latin typeface="Arial"/>
                <a:ea typeface="Arial"/>
                <a:cs typeface="Arial"/>
              </a:defRPr>
            </a:lvl5pPr>
            <a:lvl6pPr algn="l">
              <a:buNone/>
              <a:defRPr sz="2025" b="1">
                <a:solidFill>
                  <a:srgbClr val="F59E42"/>
                </a:solidFill>
                <a:latin typeface="Arial"/>
                <a:ea typeface="Arial"/>
                <a:cs typeface="Arial"/>
              </a:defRPr>
            </a:lvl6pPr>
            <a:lvl7pPr algn="l">
              <a:buNone/>
              <a:defRPr sz="2025" b="1">
                <a:solidFill>
                  <a:srgbClr val="F59E42"/>
                </a:solidFill>
                <a:latin typeface="Arial"/>
                <a:ea typeface="Arial"/>
                <a:cs typeface="Arial"/>
              </a:defRPr>
            </a:lvl7pPr>
            <a:lvl8pPr algn="l">
              <a:buNone/>
              <a:defRPr sz="2025" b="1">
                <a:solidFill>
                  <a:srgbClr val="F59E42"/>
                </a:solidFill>
                <a:latin typeface="Arial"/>
                <a:ea typeface="Arial"/>
                <a:cs typeface="Arial"/>
              </a:defRPr>
            </a:lvl8pPr>
            <a:lvl9pPr algn="l">
              <a:buNone/>
              <a:defRPr sz="2025" b="1">
                <a:solidFill>
                  <a:srgbClr val="F59E42"/>
                </a:solidFill>
                <a:latin typeface="Arial"/>
                <a:ea typeface="Arial"/>
                <a:cs typeface="Arial"/>
              </a:defRPr>
            </a:lvl9pPr>
          </a:lstStyle>
          <a:p xmlns:a="http://schemas.openxmlformats.org/drawingml/2006/main">
            <a:pPr algn="l">
              <a:buNone/>
              <a:defRPr sz="2025" b="1">
                <a:solidFill>
                  <a:srgbClr val="F59E42"/>
                </a:solidFill>
                <a:latin typeface="Arial"/>
                <a:ea typeface="Arial"/>
                <a:cs typeface="Arial"/>
              </a:defRPr>
            </a:pPr>
            <a:r>
              <a:rPr sz="2025" b="1">
                <a:solidFill>
                  <a:srgbClr val="F59E42"/>
                </a:solidFill>
                <a:latin typeface="Arial"/>
                <a:ea typeface="Arial"/>
                <a:cs typeface="Arial"/>
              </a:rPr>
              <a:t>Xe có thể đủ điện nhưng vẫn chậm. Chậm ở đây không phải trễ giờ hẹn.</a:t>
            </a:r>
          </a:p>
        </p:txBody>
      </p:sp>
      <p:sp>
        <p:nvSpPr>
          <p:cNvPr id="17" name="read-metrics">
            <a:extLst xmlns:a="http://schemas.openxmlformats.org/drawingml/2006/main">
              <a:ext uri="{FF2B5EF4-FFF2-40B4-BE49-F238E27FC236}">
                <a16:creationId xmlns:a16="http://schemas.microsoft.com/office/drawing/2014/main" id="{65E04974-A270-4DB7-8E79-EFC1185AC502}"/>
              </a:ext>
            </a:extLst>
          </p:cNvPr>
          <p:cNvSpPr>
            <a:spLocks xmlns:a="http://schemas.openxmlformats.org/drawingml/2006/main" noGrp="1"/>
          </p:cNvSpPr>
          <p:nvPr/>
        </p:nvSpPr>
        <p:spPr>
          <a:xfrm xmlns:a="http://schemas.openxmlformats.org/drawingml/2006/main">
            <a:off x="609600" y="60483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6B7A"/>
                </a:solidFill>
                <a:latin typeface="Arial"/>
                <a:ea typeface="Arial"/>
                <a:cs typeface="Arial"/>
              </a:defRPr>
            </a:defPPr>
            <a:lvl1pPr algn="l">
              <a:buNone/>
              <a:defRPr sz="1650" b="0">
                <a:solidFill>
                  <a:srgbClr val="5E6B7A"/>
                </a:solidFill>
                <a:latin typeface="Arial"/>
                <a:ea typeface="Arial"/>
                <a:cs typeface="Arial"/>
              </a:defRPr>
            </a:lvl1pPr>
            <a:lvl2pPr algn="l">
              <a:buNone/>
              <a:defRPr sz="1650" b="0">
                <a:solidFill>
                  <a:srgbClr val="5E6B7A"/>
                </a:solidFill>
                <a:latin typeface="Arial"/>
                <a:ea typeface="Arial"/>
                <a:cs typeface="Arial"/>
              </a:defRPr>
            </a:lvl2pPr>
            <a:lvl3pPr algn="l">
              <a:buNone/>
              <a:defRPr sz="1650" b="0">
                <a:solidFill>
                  <a:srgbClr val="5E6B7A"/>
                </a:solidFill>
                <a:latin typeface="Arial"/>
                <a:ea typeface="Arial"/>
                <a:cs typeface="Arial"/>
              </a:defRPr>
            </a:lvl3pPr>
            <a:lvl4pPr algn="l">
              <a:buNone/>
              <a:defRPr sz="1650" b="0">
                <a:solidFill>
                  <a:srgbClr val="5E6B7A"/>
                </a:solidFill>
                <a:latin typeface="Arial"/>
                <a:ea typeface="Arial"/>
                <a:cs typeface="Arial"/>
              </a:defRPr>
            </a:lvl4pPr>
            <a:lvl5pPr algn="l">
              <a:buNone/>
              <a:defRPr sz="1650" b="0">
                <a:solidFill>
                  <a:srgbClr val="5E6B7A"/>
                </a:solidFill>
                <a:latin typeface="Arial"/>
                <a:ea typeface="Arial"/>
                <a:cs typeface="Arial"/>
              </a:defRPr>
            </a:lvl5pPr>
            <a:lvl6pPr algn="l">
              <a:buNone/>
              <a:defRPr sz="1650" b="0">
                <a:solidFill>
                  <a:srgbClr val="5E6B7A"/>
                </a:solidFill>
                <a:latin typeface="Arial"/>
                <a:ea typeface="Arial"/>
                <a:cs typeface="Arial"/>
              </a:defRPr>
            </a:lvl6pPr>
            <a:lvl7pPr algn="l">
              <a:buNone/>
              <a:defRPr sz="1650" b="0">
                <a:solidFill>
                  <a:srgbClr val="5E6B7A"/>
                </a:solidFill>
                <a:latin typeface="Arial"/>
                <a:ea typeface="Arial"/>
                <a:cs typeface="Arial"/>
              </a:defRPr>
            </a:lvl7pPr>
            <a:lvl8pPr algn="l">
              <a:buNone/>
              <a:defRPr sz="1650" b="0">
                <a:solidFill>
                  <a:srgbClr val="5E6B7A"/>
                </a:solidFill>
                <a:latin typeface="Arial"/>
                <a:ea typeface="Arial"/>
                <a:cs typeface="Arial"/>
              </a:defRPr>
            </a:lvl8pPr>
            <a:lvl9pPr algn="l">
              <a:buNone/>
              <a:defRPr sz="1650" b="0">
                <a:solidFill>
                  <a:srgbClr val="5E6B7A"/>
                </a:solidFill>
                <a:latin typeface="Arial"/>
                <a:ea typeface="Arial"/>
                <a:cs typeface="Arial"/>
              </a:defRPr>
            </a:lvl9pPr>
          </a:lstStyle>
          <a:p xmlns:a="http://schemas.openxmlformats.org/drawingml/2006/main">
            <a:pPr algn="l">
              <a:buNone/>
              <a:defRPr sz="1650" b="0">
                <a:solidFill>
                  <a:srgbClr val="5E6B7A"/>
                </a:solidFill>
                <a:latin typeface="Arial"/>
                <a:ea typeface="Arial"/>
                <a:cs typeface="Arial"/>
              </a:defRPr>
            </a:pPr>
            <a:r>
              <a:rPr sz="1650" b="0">
                <a:solidFill>
                  <a:srgbClr val="5E6B7A"/>
                </a:solidFill>
                <a:latin typeface="Arial"/>
                <a:ea typeface="Arial"/>
                <a:cs typeface="Arial"/>
              </a:rPr>
              <a:t>Chờ và chậm lấy trung bình trên tất cả phiên trong ngày.</a:t>
            </a:r>
          </a:p>
        </p:txBody>
      </p:sp>
    </p:spTree>
    <p:extLst>
      <p:ext uri="{BB962C8B-B14F-4D97-AF65-F5344CB8AC3E}">
        <p14:creationId xmlns:p14="http://schemas.microsoft.com/office/powerpoint/2010/main" val="16168769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Các phương pháp đối chứng</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11</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graphicFrame>
        <p:nvGraphicFramePr>
          <p:cNvPr id="15" name="">
            <a:extLst xmlns:a="http://schemas.openxmlformats.org/drawingml/2006/main">
              <a:ext uri="{FF2B5EF4-FFF2-40B4-BE49-F238E27FC236}">
                <a16:creationId xmlns:a16="http://schemas.microsoft.com/office/drawing/2014/main" id="{5CDE1290-24A5-44C2-868A-A4DEB718B006}"/>
              </a:ext>
            </a:extLst>
          </p:cNvPr>
          <p:cNvGraphicFramePr/>
          <p:nvPr/>
        </p:nvGraphicFramePr>
        <p:xfrm>
          <a:off xmlns:a="http://schemas.openxmlformats.org/drawingml/2006/main" x="609600" y="1143000"/>
          <a:ext xmlns:a="http://schemas.openxmlformats.org/drawingml/2006/main" cx="10972800" cy="4095750"/>
        </p:xfrm>
        <a:graphic xmlns:a="http://schemas.openxmlformats.org/drawingml/2006/main">
          <a:graphicData uri="http://schemas.openxmlformats.org/drawingml/2006/table">
            <a:tbl>
              <a:tblPr/>
              <a:tblGrid>
                <a:gridCol w="2333625"/>
                <a:gridCol w="8639175"/>
              </a:tblGrid>
              <a:tr h="585107">
                <a:tc>
                  <a:txBody>
                    <a:bodyPr wrap="square" lIns="95250" tIns="76200" rIns="95250" bIns="76200">
                      <a:noAutofit/>
                    </a:bodyPr>
                    <a:lstStyle/>
                    <a:p>
                      <a:pPr algn="l">
                        <a:buNone/>
                      </a:pPr>
                      <a:r>
                        <a:rPr sz="1800" b="1">
                          <a:solidFill>
                            <a:srgbClr val="FFFFFF"/>
                          </a:solidFill>
                          <a:latin typeface="Arial"/>
                          <a:ea typeface="Arial"/>
                          <a:cs typeface="Arial"/>
                        </a:rPr>
                        <a:t>Phương pháp</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800" b="1">
                          <a:solidFill>
                            <a:srgbClr val="FFFFFF"/>
                          </a:solidFill>
                          <a:latin typeface="Arial"/>
                          <a:ea typeface="Arial"/>
                          <a:cs typeface="Arial"/>
                        </a:rPr>
                        <a:t>Quy tắc</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585107">
                <a:tc>
                  <a:txBody>
                    <a:bodyPr wrap="square" lIns="95250" tIns="76200" rIns="95250" bIns="76200">
                      <a:noAutofit/>
                    </a:bodyPr>
                    <a:lstStyle/>
                    <a:p>
                      <a:pPr algn="l">
                        <a:buNone/>
                      </a:pPr>
                      <a:r>
                        <a:rPr sz="1800" b="0">
                          <a:solidFill>
                            <a:srgbClr val="1F2937"/>
                          </a:solidFill>
                          <a:latin typeface="Arial"/>
                          <a:ea typeface="Arial"/>
                          <a:cs typeface="Arial"/>
                        </a:rPr>
                        <a:t>FIFO</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00" b="0">
                          <a:solidFill>
                            <a:srgbClr val="1F2937"/>
                          </a:solidFill>
                          <a:latin typeface="Arial"/>
                          <a:ea typeface="Arial"/>
                          <a:cs typeface="Arial"/>
                        </a:rPr>
                        <a:t>Ưu tiên xe đến trước</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585107">
                <a:tc>
                  <a:txBody>
                    <a:bodyPr wrap="square" lIns="95250" tIns="76200" rIns="95250" bIns="76200">
                      <a:noAutofit/>
                    </a:bodyPr>
                    <a:lstStyle/>
                    <a:p>
                      <a:pPr algn="l">
                        <a:buNone/>
                      </a:pPr>
                      <a:r>
                        <a:rPr sz="1800" b="0">
                          <a:solidFill>
                            <a:srgbClr val="1F2937"/>
                          </a:solidFill>
                          <a:latin typeface="Arial"/>
                          <a:ea typeface="Arial"/>
                          <a:cs typeface="Arial"/>
                        </a:rPr>
                        <a:t>EDF</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00" b="0">
                          <a:solidFill>
                            <a:srgbClr val="1F2937"/>
                          </a:solidFill>
                          <a:latin typeface="Arial"/>
                          <a:ea typeface="Arial"/>
                          <a:cs typeface="Arial"/>
                        </a:rPr>
                        <a:t>Ưu tiên hạn rời khai báo sớm</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585107">
                <a:tc>
                  <a:txBody>
                    <a:bodyPr wrap="square" lIns="95250" tIns="76200" rIns="95250" bIns="76200">
                      <a:noAutofit/>
                    </a:bodyPr>
                    <a:lstStyle/>
                    <a:p>
                      <a:pPr algn="l">
                        <a:buNone/>
                      </a:pPr>
                      <a:r>
                        <a:rPr sz="1800" b="0">
                          <a:solidFill>
                            <a:srgbClr val="1F2937"/>
                          </a:solidFill>
                          <a:latin typeface="Arial"/>
                          <a:ea typeface="Arial"/>
                          <a:cs typeface="Arial"/>
                        </a:rPr>
                        <a:t>LLF</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00" b="0">
                          <a:solidFill>
                            <a:srgbClr val="1F2937"/>
                          </a:solidFill>
                          <a:latin typeface="Arial"/>
                          <a:ea typeface="Arial"/>
                          <a:cs typeface="Arial"/>
                        </a:rPr>
                        <a:t>Ưu tiên xe có ít thời gian dự phòng nhất</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585107">
                <a:tc>
                  <a:txBody>
                    <a:bodyPr wrap="square" lIns="95250" tIns="76200" rIns="95250" bIns="76200">
                      <a:noAutofit/>
                    </a:bodyPr>
                    <a:lstStyle/>
                    <a:p>
                      <a:pPr algn="l">
                        <a:buNone/>
                      </a:pPr>
                      <a:r>
                        <a:rPr sz="1800" b="0">
                          <a:solidFill>
                            <a:srgbClr val="1F2937"/>
                          </a:solidFill>
                          <a:latin typeface="Arial"/>
                          <a:ea typeface="Arial"/>
                          <a:cs typeface="Arial"/>
                        </a:rPr>
                        <a:t>Equal</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00" b="0">
                          <a:solidFill>
                            <a:srgbClr val="1F2937"/>
                          </a:solidFill>
                          <a:latin typeface="Arial"/>
                          <a:ea typeface="Arial"/>
                          <a:cs typeface="Arial"/>
                        </a:rPr>
                        <a:t>Chia đều trong khả năng nhận của xe</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585107">
                <a:tc>
                  <a:txBody>
                    <a:bodyPr wrap="square" lIns="95250" tIns="76200" rIns="95250" bIns="76200">
                      <a:noAutofit/>
                    </a:bodyPr>
                    <a:lstStyle/>
                    <a:p>
                      <a:pPr algn="l">
                        <a:buNone/>
                      </a:pPr>
                      <a:r>
                        <a:rPr sz="1800" b="0">
                          <a:solidFill>
                            <a:srgbClr val="1F2937"/>
                          </a:solidFill>
                          <a:latin typeface="Arial"/>
                          <a:ea typeface="Arial"/>
                          <a:cs typeface="Arial"/>
                        </a:rPr>
                        <a:t>AverageRate</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00" b="0">
                          <a:solidFill>
                            <a:srgbClr val="1F2937"/>
                          </a:solidFill>
                          <a:latin typeface="Arial"/>
                          <a:ea typeface="Arial"/>
                          <a:cs typeface="Arial"/>
                        </a:rPr>
                        <a:t>Điện còn cần / thời gian tới hạn</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585107">
                <a:tc>
                  <a:txBody>
                    <a:bodyPr wrap="square" lIns="95250" tIns="76200" rIns="95250" bIns="76200">
                      <a:noAutofit/>
                    </a:bodyPr>
                    <a:lstStyle/>
                    <a:p>
                      <a:pPr algn="l">
                        <a:buNone/>
                      </a:pPr>
                      <a:r>
                        <a:rPr sz="1800" b="0">
                          <a:solidFill>
                            <a:srgbClr val="1F2937"/>
                          </a:solidFill>
                          <a:latin typeface="Arial"/>
                          <a:ea typeface="Arial"/>
                          <a:cs typeface="Arial"/>
                        </a:rPr>
                        <a:t>Fixed100</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00" b="0">
                          <a:solidFill>
                            <a:srgbClr val="1F2937"/>
                          </a:solidFill>
                          <a:latin typeface="Arial"/>
                          <a:ea typeface="Arial"/>
                          <a:cs typeface="Arial"/>
                        </a:rPr>
                        <a:t>Cùng bộ phân bổ như PPO, dùng ngân sách tối đa và ưu tiên cố định</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bl>
          </a:graphicData>
        </a:graphic>
      </p:graphicFrame>
      <p:sp>
        <p:nvSpPr>
          <p:cNvPr id="16" name="takeaway">
            <a:extLst xmlns:a="http://schemas.openxmlformats.org/drawingml/2006/main">
              <a:ext uri="{FF2B5EF4-FFF2-40B4-BE49-F238E27FC236}">
                <a16:creationId xmlns:a16="http://schemas.microsoft.com/office/drawing/2014/main" id="{6EC27BB4-4F2C-40A3-B284-A7281712FC30}"/>
              </a:ext>
            </a:extLst>
          </p:cNvPr>
          <p:cNvSpPr>
            <a:spLocks xmlns:a="http://schemas.openxmlformats.org/drawingml/2006/main" noGrp="1"/>
          </p:cNvSpPr>
          <p:nvPr/>
        </p:nvSpPr>
        <p:spPr>
          <a:xfrm xmlns:a="http://schemas.openxmlformats.org/drawingml/2006/main">
            <a:off x="609600" y="5619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96C5"/>
                </a:solidFill>
                <a:latin typeface="Arial"/>
                <a:ea typeface="Arial"/>
                <a:cs typeface="Arial"/>
              </a:defRPr>
            </a:defPPr>
            <a:lvl1pPr algn="l">
              <a:buNone/>
              <a:defRPr sz="2025" b="1">
                <a:solidFill>
                  <a:srgbClr val="2696C5"/>
                </a:solidFill>
                <a:latin typeface="Arial"/>
                <a:ea typeface="Arial"/>
                <a:cs typeface="Arial"/>
              </a:defRPr>
            </a:lvl1pPr>
            <a:lvl2pPr algn="l">
              <a:buNone/>
              <a:defRPr sz="2025" b="1">
                <a:solidFill>
                  <a:srgbClr val="2696C5"/>
                </a:solidFill>
                <a:latin typeface="Arial"/>
                <a:ea typeface="Arial"/>
                <a:cs typeface="Arial"/>
              </a:defRPr>
            </a:lvl2pPr>
            <a:lvl3pPr algn="l">
              <a:buNone/>
              <a:defRPr sz="2025" b="1">
                <a:solidFill>
                  <a:srgbClr val="2696C5"/>
                </a:solidFill>
                <a:latin typeface="Arial"/>
                <a:ea typeface="Arial"/>
                <a:cs typeface="Arial"/>
              </a:defRPr>
            </a:lvl3pPr>
            <a:lvl4pPr algn="l">
              <a:buNone/>
              <a:defRPr sz="2025" b="1">
                <a:solidFill>
                  <a:srgbClr val="2696C5"/>
                </a:solidFill>
                <a:latin typeface="Arial"/>
                <a:ea typeface="Arial"/>
                <a:cs typeface="Arial"/>
              </a:defRPr>
            </a:lvl4pPr>
            <a:lvl5pPr algn="l">
              <a:buNone/>
              <a:defRPr sz="2025" b="1">
                <a:solidFill>
                  <a:srgbClr val="2696C5"/>
                </a:solidFill>
                <a:latin typeface="Arial"/>
                <a:ea typeface="Arial"/>
                <a:cs typeface="Arial"/>
              </a:defRPr>
            </a:lvl5pPr>
            <a:lvl6pPr algn="l">
              <a:buNone/>
              <a:defRPr sz="2025" b="1">
                <a:solidFill>
                  <a:srgbClr val="2696C5"/>
                </a:solidFill>
                <a:latin typeface="Arial"/>
                <a:ea typeface="Arial"/>
                <a:cs typeface="Arial"/>
              </a:defRPr>
            </a:lvl6pPr>
            <a:lvl7pPr algn="l">
              <a:buNone/>
              <a:defRPr sz="2025" b="1">
                <a:solidFill>
                  <a:srgbClr val="2696C5"/>
                </a:solidFill>
                <a:latin typeface="Arial"/>
                <a:ea typeface="Arial"/>
                <a:cs typeface="Arial"/>
              </a:defRPr>
            </a:lvl7pPr>
            <a:lvl8pPr algn="l">
              <a:buNone/>
              <a:defRPr sz="2025" b="1">
                <a:solidFill>
                  <a:srgbClr val="2696C5"/>
                </a:solidFill>
                <a:latin typeface="Arial"/>
                <a:ea typeface="Arial"/>
                <a:cs typeface="Arial"/>
              </a:defRPr>
            </a:lvl8pPr>
            <a:lvl9pPr algn="l">
              <a:buNone/>
              <a:defRPr sz="2025" b="1">
                <a:solidFill>
                  <a:srgbClr val="2696C5"/>
                </a:solidFill>
                <a:latin typeface="Arial"/>
                <a:ea typeface="Arial"/>
                <a:cs typeface="Arial"/>
              </a:defRPr>
            </a:lvl9pPr>
          </a:lstStyle>
          <a:p xmlns:a="http://schemas.openxmlformats.org/drawingml/2006/main">
            <a:pPr algn="l">
              <a:buNone/>
              <a:defRPr sz="2025" b="1">
                <a:solidFill>
                  <a:srgbClr val="2696C5"/>
                </a:solidFill>
                <a:latin typeface="Arial"/>
                <a:ea typeface="Arial"/>
                <a:cs typeface="Arial"/>
              </a:defRPr>
            </a:pPr>
            <a:r>
              <a:rPr sz="2025" b="1">
                <a:solidFill>
                  <a:srgbClr val="2696C5"/>
                </a:solidFill>
                <a:latin typeface="Arial"/>
                <a:ea typeface="Arial"/>
                <a:cs typeface="Arial"/>
              </a:rPr>
              <a:t>Fixed100 giúp kiểm tra phần học của PPO có thêm ích lợi hay không.</a:t>
            </a:r>
          </a:p>
        </p:txBody>
      </p:sp>
    </p:spTree>
    <p:extLst>
      <p:ext uri="{BB962C8B-B14F-4D97-AF65-F5344CB8AC3E}">
        <p14:creationId xmlns:p14="http://schemas.microsoft.com/office/powerpoint/2010/main" val="16168769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Q-learning và chín hành động</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12</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sp>
        <p:nvSpPr>
          <p:cNvPr id="15" name="q-state-heading">
            <a:extLst xmlns:a="http://schemas.openxmlformats.org/drawingml/2006/main">
              <a:ext uri="{FF2B5EF4-FFF2-40B4-BE49-F238E27FC236}">
                <a16:creationId xmlns:a16="http://schemas.microsoft.com/office/drawing/2014/main" id="{A04311DE-FC58-4A9D-9DA3-F89E2A0AA93F}"/>
              </a:ext>
            </a:extLst>
          </p:cNvPr>
          <p:cNvSpPr>
            <a:spLocks xmlns:a="http://schemas.openxmlformats.org/drawingml/2006/main" noGrp="1"/>
          </p:cNvSpPr>
          <p:nvPr/>
        </p:nvSpPr>
        <p:spPr>
          <a:xfrm xmlns:a="http://schemas.openxmlformats.org/drawingml/2006/main">
            <a:off x="609600" y="114300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Một bảng ghi kinh nghiệm</a:t>
            </a:r>
          </a:p>
        </p:txBody>
      </p:sp>
      <p:sp>
        <p:nvSpPr>
          <p:cNvPr id="16" name="q-state-body">
            <a:extLst xmlns:a="http://schemas.openxmlformats.org/drawingml/2006/main">
              <a:ext uri="{FF2B5EF4-FFF2-40B4-BE49-F238E27FC236}">
                <a16:creationId xmlns:a16="http://schemas.microsoft.com/office/drawing/2014/main" id="{DD844DD7-462F-42C2-8190-BC8AAE43F629}"/>
              </a:ext>
            </a:extLst>
          </p:cNvPr>
          <p:cNvSpPr>
            <a:spLocks xmlns:a="http://schemas.openxmlformats.org/drawingml/2006/main" noGrp="1"/>
          </p:cNvSpPr>
          <p:nvPr/>
        </p:nvSpPr>
        <p:spPr>
          <a:xfrm xmlns:a="http://schemas.openxmlformats.org/drawingml/2006/main">
            <a:off x="609600" y="1619250"/>
            <a:ext cx="5334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Nén tình trạng thành giờ, số xe, điện còn cần và độ khẩn cấp.</a:t>
            </a:r>
          </a:p>
        </p:txBody>
      </p:sp>
      <p:sp>
        <p:nvSpPr>
          <p:cNvPr id="17" name="q-act-heading">
            <a:extLst xmlns:a="http://schemas.openxmlformats.org/drawingml/2006/main">
              <a:ext uri="{FF2B5EF4-FFF2-40B4-BE49-F238E27FC236}">
                <a16:creationId xmlns:a16="http://schemas.microsoft.com/office/drawing/2014/main" id="{0165812A-B0FD-408C-BEE2-443A691865F7}"/>
              </a:ext>
            </a:extLst>
          </p:cNvPr>
          <p:cNvSpPr>
            <a:spLocks xmlns:a="http://schemas.openxmlformats.org/drawingml/2006/main" noGrp="1"/>
          </p:cNvSpPr>
          <p:nvPr/>
        </p:nvSpPr>
        <p:spPr>
          <a:xfrm xmlns:a="http://schemas.openxmlformats.org/drawingml/2006/main">
            <a:off x="6477000" y="114300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9 tổ hợp điều chỉnh</a:t>
            </a:r>
          </a:p>
        </p:txBody>
      </p:sp>
      <p:sp>
        <p:nvSpPr>
          <p:cNvPr id="18" name="q-act-body">
            <a:extLst xmlns:a="http://schemas.openxmlformats.org/drawingml/2006/main">
              <a:ext uri="{FF2B5EF4-FFF2-40B4-BE49-F238E27FC236}">
                <a16:creationId xmlns:a16="http://schemas.microsoft.com/office/drawing/2014/main" id="{5B0FBD2A-F176-484D-93D7-B4164346E355}"/>
              </a:ext>
            </a:extLst>
          </p:cNvPr>
          <p:cNvSpPr>
            <a:spLocks xmlns:a="http://schemas.openxmlformats.org/drawingml/2006/main" noGrp="1"/>
          </p:cNvSpPr>
          <p:nvPr/>
        </p:nvSpPr>
        <p:spPr>
          <a:xfrm xmlns:a="http://schemas.openxmlformats.org/drawingml/2006/main">
            <a:off x="6477000" y="161925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3 mức ngân sách × 3 mức ưu tiên</a:t>
            </a:r>
          </a:p>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Mỗi tổ hợp áp dụng cho các xe đang cần điện.</a:t>
            </a:r>
          </a:p>
        </p:txBody>
      </p:sp>
      <p:graphicFrame>
        <p:nvGraphicFramePr>
          <p:cNvPr id="19" name="">
            <a:extLst xmlns:a="http://schemas.openxmlformats.org/drawingml/2006/main">
              <a:ext uri="{FF2B5EF4-FFF2-40B4-BE49-F238E27FC236}">
                <a16:creationId xmlns:a16="http://schemas.microsoft.com/office/drawing/2014/main" id="{A9025F99-36F0-4CFC-A50D-5D3046812DAF}"/>
              </a:ext>
            </a:extLst>
          </p:cNvPr>
          <p:cNvGraphicFramePr/>
          <p:nvPr/>
        </p:nvGraphicFramePr>
        <p:xfrm>
          <a:off xmlns:a="http://schemas.openxmlformats.org/drawingml/2006/main" x="609600" y="3095625"/>
          <a:ext xmlns:a="http://schemas.openxmlformats.org/drawingml/2006/main" cx="10972800" cy="2238375"/>
        </p:xfrm>
        <a:graphic xmlns:a="http://schemas.openxmlformats.org/drawingml/2006/main">
          <a:graphicData uri="http://schemas.openxmlformats.org/drawingml/2006/table">
            <a:tbl>
              <a:tblPr/>
              <a:tblGrid>
                <a:gridCol w="3619500"/>
                <a:gridCol w="7353300"/>
              </a:tblGrid>
              <a:tr h="559594">
                <a:tc>
                  <a:txBody>
                    <a:bodyPr wrap="square" lIns="95250" tIns="76200" rIns="95250" bIns="76200">
                      <a:noAutofit/>
                    </a:bodyPr>
                    <a:lstStyle/>
                    <a:p>
                      <a:pPr algn="l">
                        <a:buNone/>
                      </a:pPr>
                      <a:r>
                        <a:rPr sz="1950" b="1">
                          <a:solidFill>
                            <a:srgbClr val="FFFFFF"/>
                          </a:solidFill>
                          <a:latin typeface="Arial"/>
                          <a:ea typeface="Arial"/>
                          <a:cs typeface="Arial"/>
                        </a:rPr>
                        <a:t>Mức ngân sách</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950" b="1">
                          <a:solidFill>
                            <a:srgbClr val="FFFFFF"/>
                          </a:solidFill>
                          <a:latin typeface="Arial"/>
                          <a:ea typeface="Arial"/>
                          <a:cs typeface="Arial"/>
                        </a:rPr>
                        <a:t>Mức ưu tiên có thể chọn</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559594">
                <a:tc>
                  <a:txBody>
                    <a:bodyPr wrap="square" lIns="95250" tIns="76200" rIns="95250" bIns="76200">
                      <a:noAutofit/>
                    </a:bodyPr>
                    <a:lstStyle/>
                    <a:p>
                      <a:pPr algn="l">
                        <a:buNone/>
                      </a:pPr>
                      <a:r>
                        <a:rPr sz="1950" b="0">
                          <a:solidFill>
                            <a:srgbClr val="1F2937"/>
                          </a:solidFill>
                          <a:latin typeface="Arial"/>
                          <a:ea typeface="Arial"/>
                          <a:cs typeface="Arial"/>
                        </a:rPr>
                        <a:t>25%</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950" b="0">
                          <a:solidFill>
                            <a:srgbClr val="1F2937"/>
                          </a:solidFill>
                          <a:latin typeface="Arial"/>
                          <a:ea typeface="Arial"/>
                          <a:cs typeface="Arial"/>
                        </a:rPr>
                        <a:t>0 hoặc 0,5 hoặc 1</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559594">
                <a:tc>
                  <a:txBody>
                    <a:bodyPr wrap="square" lIns="95250" tIns="76200" rIns="95250" bIns="76200">
                      <a:noAutofit/>
                    </a:bodyPr>
                    <a:lstStyle/>
                    <a:p>
                      <a:pPr algn="l">
                        <a:buNone/>
                      </a:pPr>
                      <a:r>
                        <a:rPr sz="1950" b="0">
                          <a:solidFill>
                            <a:srgbClr val="1F2937"/>
                          </a:solidFill>
                          <a:latin typeface="Arial"/>
                          <a:ea typeface="Arial"/>
                          <a:cs typeface="Arial"/>
                        </a:rPr>
                        <a:t>50%</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950" b="0">
                          <a:solidFill>
                            <a:srgbClr val="1F2937"/>
                          </a:solidFill>
                          <a:latin typeface="Arial"/>
                          <a:ea typeface="Arial"/>
                          <a:cs typeface="Arial"/>
                        </a:rPr>
                        <a:t>0 hoặc 0,5 hoặc 1</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559594">
                <a:tc>
                  <a:txBody>
                    <a:bodyPr wrap="square" lIns="95250" tIns="76200" rIns="95250" bIns="76200">
                      <a:noAutofit/>
                    </a:bodyPr>
                    <a:lstStyle/>
                    <a:p>
                      <a:pPr algn="l">
                        <a:buNone/>
                      </a:pPr>
                      <a:r>
                        <a:rPr sz="1950" b="0">
                          <a:solidFill>
                            <a:srgbClr val="1F2937"/>
                          </a:solidFill>
                          <a:latin typeface="Arial"/>
                          <a:ea typeface="Arial"/>
                          <a:cs typeface="Arial"/>
                        </a:rPr>
                        <a:t>100%</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950" b="0">
                          <a:solidFill>
                            <a:srgbClr val="1F2937"/>
                          </a:solidFill>
                          <a:latin typeface="Arial"/>
                          <a:ea typeface="Arial"/>
                          <a:cs typeface="Arial"/>
                        </a:rPr>
                        <a:t>0 hoặc 0,5 hoặc 1</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bl>
          </a:graphicData>
        </a:graphic>
      </p:graphicFrame>
      <p:sp>
        <p:nvSpPr>
          <p:cNvPr id="20" name="takeaway">
            <a:extLst xmlns:a="http://schemas.openxmlformats.org/drawingml/2006/main">
              <a:ext uri="{FF2B5EF4-FFF2-40B4-BE49-F238E27FC236}">
                <a16:creationId xmlns:a16="http://schemas.microsoft.com/office/drawing/2014/main" id="{A038CA96-CB23-4830-86F3-7FF133C9DDAE}"/>
              </a:ext>
            </a:extLst>
          </p:cNvPr>
          <p:cNvSpPr>
            <a:spLocks xmlns:a="http://schemas.openxmlformats.org/drawingml/2006/main" noGrp="1"/>
          </p:cNvSpPr>
          <p:nvPr/>
        </p:nvSpPr>
        <p:spPr>
          <a:xfrm xmlns:a="http://schemas.openxmlformats.org/drawingml/2006/main">
            <a:off x="609600" y="5762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82D4B"/>
                </a:solidFill>
                <a:latin typeface="Arial"/>
                <a:ea typeface="Arial"/>
                <a:cs typeface="Arial"/>
              </a:defRPr>
            </a:defPPr>
            <a:lvl1pPr algn="l">
              <a:buNone/>
              <a:defRPr sz="1875" b="1">
                <a:solidFill>
                  <a:srgbClr val="182D4B"/>
                </a:solidFill>
                <a:latin typeface="Arial"/>
                <a:ea typeface="Arial"/>
                <a:cs typeface="Arial"/>
              </a:defRPr>
            </a:lvl1pPr>
            <a:lvl2pPr algn="l">
              <a:buNone/>
              <a:defRPr sz="1875" b="1">
                <a:solidFill>
                  <a:srgbClr val="182D4B"/>
                </a:solidFill>
                <a:latin typeface="Arial"/>
                <a:ea typeface="Arial"/>
                <a:cs typeface="Arial"/>
              </a:defRPr>
            </a:lvl2pPr>
            <a:lvl3pPr algn="l">
              <a:buNone/>
              <a:defRPr sz="1875" b="1">
                <a:solidFill>
                  <a:srgbClr val="182D4B"/>
                </a:solidFill>
                <a:latin typeface="Arial"/>
                <a:ea typeface="Arial"/>
                <a:cs typeface="Arial"/>
              </a:defRPr>
            </a:lvl3pPr>
            <a:lvl4pPr algn="l">
              <a:buNone/>
              <a:defRPr sz="1875" b="1">
                <a:solidFill>
                  <a:srgbClr val="182D4B"/>
                </a:solidFill>
                <a:latin typeface="Arial"/>
                <a:ea typeface="Arial"/>
                <a:cs typeface="Arial"/>
              </a:defRPr>
            </a:lvl4pPr>
            <a:lvl5pPr algn="l">
              <a:buNone/>
              <a:defRPr sz="1875" b="1">
                <a:solidFill>
                  <a:srgbClr val="182D4B"/>
                </a:solidFill>
                <a:latin typeface="Arial"/>
                <a:ea typeface="Arial"/>
                <a:cs typeface="Arial"/>
              </a:defRPr>
            </a:lvl5pPr>
            <a:lvl6pPr algn="l">
              <a:buNone/>
              <a:defRPr sz="1875" b="1">
                <a:solidFill>
                  <a:srgbClr val="182D4B"/>
                </a:solidFill>
                <a:latin typeface="Arial"/>
                <a:ea typeface="Arial"/>
                <a:cs typeface="Arial"/>
              </a:defRPr>
            </a:lvl6pPr>
            <a:lvl7pPr algn="l">
              <a:buNone/>
              <a:defRPr sz="1875" b="1">
                <a:solidFill>
                  <a:srgbClr val="182D4B"/>
                </a:solidFill>
                <a:latin typeface="Arial"/>
                <a:ea typeface="Arial"/>
                <a:cs typeface="Arial"/>
              </a:defRPr>
            </a:lvl7pPr>
            <a:lvl8pPr algn="l">
              <a:buNone/>
              <a:defRPr sz="1875" b="1">
                <a:solidFill>
                  <a:srgbClr val="182D4B"/>
                </a:solidFill>
                <a:latin typeface="Arial"/>
                <a:ea typeface="Arial"/>
                <a:cs typeface="Arial"/>
              </a:defRPr>
            </a:lvl8pPr>
            <a:lvl9pPr algn="l">
              <a:buNone/>
              <a:defRPr sz="1875" b="1">
                <a:solidFill>
                  <a:srgbClr val="182D4B"/>
                </a:solidFill>
                <a:latin typeface="Arial"/>
                <a:ea typeface="Arial"/>
                <a:cs typeface="Arial"/>
              </a:defRPr>
            </a:lvl9pPr>
          </a:lstStyle>
          <a:p xmlns:a="http://schemas.openxmlformats.org/drawingml/2006/main">
            <a:pPr algn="l">
              <a:buNone/>
              <a:defRPr sz="1875" b="1">
                <a:solidFill>
                  <a:srgbClr val="182D4B"/>
                </a:solidFill>
                <a:latin typeface="Arial"/>
                <a:ea typeface="Arial"/>
                <a:cs typeface="Arial"/>
              </a:defRPr>
            </a:pPr>
            <a:r>
              <a:rPr sz="1875" b="1">
                <a:solidFill>
                  <a:srgbClr val="182D4B"/>
                </a:solidFill>
                <a:latin typeface="Arial"/>
                <a:ea typeface="Arial"/>
                <a:cs typeface="Arial"/>
              </a:rPr>
              <a:t>4.000 lượt ngày mô phỏng cho mỗi seed. Chọn bảng Q tốt nhất bằng validation.</a:t>
            </a:r>
          </a:p>
        </p:txBody>
      </p:sp>
    </p:spTree>
    <p:extLst>
      <p:ext uri="{BB962C8B-B14F-4D97-AF65-F5344CB8AC3E}">
        <p14:creationId xmlns:p14="http://schemas.microsoft.com/office/powerpoint/2010/main" val="161687690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PPO điều chỉnh ngân sách và mức ưu tiên</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13</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graphicFrame>
        <p:nvGraphicFramePr>
          <p:cNvPr id="15" name="">
            <a:extLst xmlns:a="http://schemas.openxmlformats.org/drawingml/2006/main">
              <a:ext uri="{FF2B5EF4-FFF2-40B4-BE49-F238E27FC236}">
                <a16:creationId xmlns:a16="http://schemas.microsoft.com/office/drawing/2014/main" id="{354492A8-99B4-4E2C-BA39-C0B6BD086960}"/>
              </a:ext>
            </a:extLst>
          </p:cNvPr>
          <p:cNvGraphicFramePr/>
          <p:nvPr/>
        </p:nvGraphicFramePr>
        <p:xfrm>
          <a:off xmlns:a="http://schemas.openxmlformats.org/drawingml/2006/main" x="609600" y="1333500"/>
          <a:ext xmlns:a="http://schemas.openxmlformats.org/drawingml/2006/main" cx="10972800" cy="3190875"/>
        </p:xfrm>
        <a:graphic xmlns:a="http://schemas.openxmlformats.org/drawingml/2006/main">
          <a:graphicData uri="http://schemas.openxmlformats.org/drawingml/2006/table">
            <a:tbl>
              <a:tblPr/>
              <a:tblGrid>
                <a:gridCol w="2476500"/>
                <a:gridCol w="8496300"/>
              </a:tblGrid>
              <a:tr h="638175">
                <a:tc>
                  <a:txBody>
                    <a:bodyPr wrap="square" lIns="95250" tIns="76200" rIns="95250" bIns="76200">
                      <a:noAutofit/>
                    </a:bodyPr>
                    <a:lstStyle/>
                    <a:p>
                      <a:pPr algn="l">
                        <a:buNone/>
                      </a:pPr>
                      <a:r>
                        <a:rPr sz="1875" b="1">
                          <a:solidFill>
                            <a:srgbClr val="FFFFFF"/>
                          </a:solidFill>
                          <a:latin typeface="Arial"/>
                          <a:ea typeface="Arial"/>
                          <a:cs typeface="Arial"/>
                        </a:rPr>
                        <a:t>Thành phần</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875" b="1">
                          <a:solidFill>
                            <a:srgbClr val="FFFFFF"/>
                          </a:solidFill>
                          <a:latin typeface="Arial"/>
                          <a:ea typeface="Arial"/>
                          <a:cs typeface="Arial"/>
                        </a:rPr>
                        <a:t>Nội dung</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638175">
                <a:tc>
                  <a:txBody>
                    <a:bodyPr wrap="square" lIns="95250" tIns="76200" rIns="95250" bIns="76200">
                      <a:noAutofit/>
                    </a:bodyPr>
                    <a:lstStyle/>
                    <a:p>
                      <a:pPr algn="l">
                        <a:buNone/>
                      </a:pPr>
                      <a:r>
                        <a:rPr sz="1875" b="0">
                          <a:solidFill>
                            <a:srgbClr val="1F2937"/>
                          </a:solidFill>
                          <a:latin typeface="Arial"/>
                          <a:ea typeface="Arial"/>
                          <a:cs typeface="Arial"/>
                        </a:rPr>
                        <a:t>Đầu vào</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75" b="0">
                          <a:solidFill>
                            <a:srgbClr val="1F2937"/>
                          </a:solidFill>
                          <a:latin typeface="Arial"/>
                          <a:ea typeface="Arial"/>
                          <a:cs typeface="Arial"/>
                        </a:rPr>
                        <a:t>14 số: giờ, số xe, điện còn cần, độ gấp, tải trước, chờ và áp lực pod</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638175">
                <a:tc>
                  <a:txBody>
                    <a:bodyPr wrap="square" lIns="95250" tIns="76200" rIns="95250" bIns="76200">
                      <a:noAutofit/>
                    </a:bodyPr>
                    <a:lstStyle/>
                    <a:p>
                      <a:pPr algn="l">
                        <a:buNone/>
                      </a:pPr>
                      <a:r>
                        <a:rPr sz="1875" b="0">
                          <a:solidFill>
                            <a:srgbClr val="1F2937"/>
                          </a:solidFill>
                          <a:latin typeface="Arial"/>
                          <a:ea typeface="Arial"/>
                          <a:cs typeface="Arial"/>
                        </a:rPr>
                        <a:t>Đầu ra</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75" b="0">
                          <a:solidFill>
                            <a:srgbClr val="1F2937"/>
                          </a:solidFill>
                          <a:latin typeface="Arial"/>
                          <a:ea typeface="Arial"/>
                          <a:cs typeface="Arial"/>
                        </a:rPr>
                        <a:t>Hai mức liên tục: ngân sách đề xuất và ưu tiên</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638175">
                <a:tc>
                  <a:txBody>
                    <a:bodyPr wrap="square" lIns="95250" tIns="76200" rIns="95250" bIns="76200">
                      <a:noAutofit/>
                    </a:bodyPr>
                    <a:lstStyle/>
                    <a:p>
                      <a:pPr algn="l">
                        <a:buNone/>
                      </a:pPr>
                      <a:r>
                        <a:rPr sz="1875" b="0">
                          <a:solidFill>
                            <a:srgbClr val="1F2937"/>
                          </a:solidFill>
                          <a:latin typeface="Arial"/>
                          <a:ea typeface="Arial"/>
                          <a:cs typeface="Arial"/>
                        </a:rPr>
                        <a:t>Bộ phân bổ</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75" b="0">
                          <a:solidFill>
                            <a:srgbClr val="1F2937"/>
                          </a:solidFill>
                          <a:latin typeface="Arial"/>
                          <a:ea typeface="Arial"/>
                          <a:cs typeface="Arial"/>
                        </a:rPr>
                        <a:t>Đổi hai mức thành công suất từng xe</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638175">
                <a:tc>
                  <a:txBody>
                    <a:bodyPr wrap="square" lIns="95250" tIns="76200" rIns="95250" bIns="76200">
                      <a:noAutofit/>
                    </a:bodyPr>
                    <a:lstStyle/>
                    <a:p>
                      <a:pPr algn="l">
                        <a:buNone/>
                      </a:pPr>
                      <a:r>
                        <a:rPr sz="1875" b="0">
                          <a:solidFill>
                            <a:srgbClr val="1F2937"/>
                          </a:solidFill>
                          <a:latin typeface="Arial"/>
                          <a:ea typeface="Arial"/>
                          <a:cs typeface="Arial"/>
                        </a:rPr>
                        <a:t>Phản hồi</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75" b="0">
                          <a:solidFill>
                            <a:srgbClr val="1F2937"/>
                          </a:solidFill>
                          <a:latin typeface="Arial"/>
                          <a:ea typeface="Arial"/>
                          <a:cs typeface="Arial"/>
                        </a:rPr>
                        <a:t>Ít bị phạt hơn khi điện thiếu, chờ/chậm và tập trung tải giảm</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bl>
          </a:graphicData>
        </a:graphic>
      </p:graphicFrame>
      <p:sp>
        <p:nvSpPr>
          <p:cNvPr id="16" name="ppo-budget">
            <a:extLst xmlns:a="http://schemas.openxmlformats.org/drawingml/2006/main">
              <a:ext uri="{FF2B5EF4-FFF2-40B4-BE49-F238E27FC236}">
                <a16:creationId xmlns:a16="http://schemas.microsoft.com/office/drawing/2014/main" id="{54F2C782-B29D-4F8A-8888-122D63CD79BA}"/>
              </a:ext>
            </a:extLst>
          </p:cNvPr>
          <p:cNvSpPr>
            <a:spLocks xmlns:a="http://schemas.openxmlformats.org/drawingml/2006/main" noGrp="1"/>
          </p:cNvSpPr>
          <p:nvPr/>
        </p:nvSpPr>
        <p:spPr>
          <a:xfrm xmlns:a="http://schemas.openxmlformats.org/drawingml/2006/main">
            <a:off x="609600" y="505777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696C5"/>
                </a:solidFill>
                <a:latin typeface="Arial"/>
                <a:ea typeface="Arial"/>
                <a:cs typeface="Arial"/>
              </a:defRPr>
            </a:defPPr>
            <a:lvl1pPr algn="l">
              <a:buNone/>
              <a:defRPr sz="2550" b="1">
                <a:solidFill>
                  <a:srgbClr val="2696C5"/>
                </a:solidFill>
                <a:latin typeface="Arial"/>
                <a:ea typeface="Arial"/>
                <a:cs typeface="Arial"/>
              </a:defRPr>
            </a:lvl1pPr>
            <a:lvl2pPr algn="l">
              <a:buNone/>
              <a:defRPr sz="2550" b="1">
                <a:solidFill>
                  <a:srgbClr val="2696C5"/>
                </a:solidFill>
                <a:latin typeface="Arial"/>
                <a:ea typeface="Arial"/>
                <a:cs typeface="Arial"/>
              </a:defRPr>
            </a:lvl2pPr>
            <a:lvl3pPr algn="l">
              <a:buNone/>
              <a:defRPr sz="2550" b="1">
                <a:solidFill>
                  <a:srgbClr val="2696C5"/>
                </a:solidFill>
                <a:latin typeface="Arial"/>
                <a:ea typeface="Arial"/>
                <a:cs typeface="Arial"/>
              </a:defRPr>
            </a:lvl3pPr>
            <a:lvl4pPr algn="l">
              <a:buNone/>
              <a:defRPr sz="2550" b="1">
                <a:solidFill>
                  <a:srgbClr val="2696C5"/>
                </a:solidFill>
                <a:latin typeface="Arial"/>
                <a:ea typeface="Arial"/>
                <a:cs typeface="Arial"/>
              </a:defRPr>
            </a:lvl4pPr>
            <a:lvl5pPr algn="l">
              <a:buNone/>
              <a:defRPr sz="2550" b="1">
                <a:solidFill>
                  <a:srgbClr val="2696C5"/>
                </a:solidFill>
                <a:latin typeface="Arial"/>
                <a:ea typeface="Arial"/>
                <a:cs typeface="Arial"/>
              </a:defRPr>
            </a:lvl5pPr>
            <a:lvl6pPr algn="l">
              <a:buNone/>
              <a:defRPr sz="2550" b="1">
                <a:solidFill>
                  <a:srgbClr val="2696C5"/>
                </a:solidFill>
                <a:latin typeface="Arial"/>
                <a:ea typeface="Arial"/>
                <a:cs typeface="Arial"/>
              </a:defRPr>
            </a:lvl6pPr>
            <a:lvl7pPr algn="l">
              <a:buNone/>
              <a:defRPr sz="2550" b="1">
                <a:solidFill>
                  <a:srgbClr val="2696C5"/>
                </a:solidFill>
                <a:latin typeface="Arial"/>
                <a:ea typeface="Arial"/>
                <a:cs typeface="Arial"/>
              </a:defRPr>
            </a:lvl7pPr>
            <a:lvl8pPr algn="l">
              <a:buNone/>
              <a:defRPr sz="2550" b="1">
                <a:solidFill>
                  <a:srgbClr val="2696C5"/>
                </a:solidFill>
                <a:latin typeface="Arial"/>
                <a:ea typeface="Arial"/>
                <a:cs typeface="Arial"/>
              </a:defRPr>
            </a:lvl8pPr>
            <a:lvl9pPr algn="l">
              <a:buNone/>
              <a:defRPr sz="2550" b="1">
                <a:solidFill>
                  <a:srgbClr val="2696C5"/>
                </a:solidFill>
                <a:latin typeface="Arial"/>
                <a:ea typeface="Arial"/>
                <a:cs typeface="Arial"/>
              </a:defRPr>
            </a:lvl9pPr>
          </a:lstStyle>
          <a:p xmlns:a="http://schemas.openxmlformats.org/drawingml/2006/main">
            <a:pPr algn="l">
              <a:buNone/>
              <a:defRPr sz="2550" b="1">
                <a:solidFill>
                  <a:srgbClr val="2696C5"/>
                </a:solidFill>
                <a:latin typeface="Arial"/>
                <a:ea typeface="Arial"/>
                <a:cs typeface="Arial"/>
              </a:defRPr>
            </a:pPr>
            <a:r>
              <a:rPr sz="2550" b="1">
                <a:solidFill>
                  <a:srgbClr val="2696C5"/>
                </a:solidFill>
                <a:latin typeface="Arial"/>
                <a:ea typeface="Arial"/>
                <a:cs typeface="Arial"/>
              </a:rPr>
              <a:t>5 seed × khoảng 300.000 bước</a:t>
            </a:r>
          </a:p>
        </p:txBody>
      </p:sp>
      <p:sp>
        <p:nvSpPr>
          <p:cNvPr id="17" name="ppo-info">
            <a:extLst xmlns:a="http://schemas.openxmlformats.org/drawingml/2006/main">
              <a:ext uri="{FF2B5EF4-FFF2-40B4-BE49-F238E27FC236}">
                <a16:creationId xmlns:a16="http://schemas.microsoft.com/office/drawing/2014/main" id="{57D32CCA-C29A-43CB-A1F2-D9215DDA77F4}"/>
              </a:ext>
            </a:extLst>
          </p:cNvPr>
          <p:cNvSpPr>
            <a:spLocks xmlns:a="http://schemas.openxmlformats.org/drawingml/2006/main" noGrp="1"/>
          </p:cNvSpPr>
          <p:nvPr/>
        </p:nvSpPr>
        <p:spPr>
          <a:xfrm xmlns:a="http://schemas.openxmlformats.org/drawingml/2006/main">
            <a:off x="609600" y="579120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D4B"/>
                </a:solidFill>
                <a:latin typeface="Arial"/>
                <a:ea typeface="Arial"/>
                <a:cs typeface="Arial"/>
              </a:defRPr>
            </a:defPPr>
            <a:lvl1pPr algn="l">
              <a:buNone/>
              <a:defRPr sz="1875" b="0">
                <a:solidFill>
                  <a:srgbClr val="182D4B"/>
                </a:solidFill>
                <a:latin typeface="Arial"/>
                <a:ea typeface="Arial"/>
                <a:cs typeface="Arial"/>
              </a:defRPr>
            </a:lvl1pPr>
            <a:lvl2pPr algn="l">
              <a:buNone/>
              <a:defRPr sz="1875" b="0">
                <a:solidFill>
                  <a:srgbClr val="182D4B"/>
                </a:solidFill>
                <a:latin typeface="Arial"/>
                <a:ea typeface="Arial"/>
                <a:cs typeface="Arial"/>
              </a:defRPr>
            </a:lvl2pPr>
            <a:lvl3pPr algn="l">
              <a:buNone/>
              <a:defRPr sz="1875" b="0">
                <a:solidFill>
                  <a:srgbClr val="182D4B"/>
                </a:solidFill>
                <a:latin typeface="Arial"/>
                <a:ea typeface="Arial"/>
                <a:cs typeface="Arial"/>
              </a:defRPr>
            </a:lvl3pPr>
            <a:lvl4pPr algn="l">
              <a:buNone/>
              <a:defRPr sz="1875" b="0">
                <a:solidFill>
                  <a:srgbClr val="182D4B"/>
                </a:solidFill>
                <a:latin typeface="Arial"/>
                <a:ea typeface="Arial"/>
                <a:cs typeface="Arial"/>
              </a:defRPr>
            </a:lvl4pPr>
            <a:lvl5pPr algn="l">
              <a:buNone/>
              <a:defRPr sz="1875" b="0">
                <a:solidFill>
                  <a:srgbClr val="182D4B"/>
                </a:solidFill>
                <a:latin typeface="Arial"/>
                <a:ea typeface="Arial"/>
                <a:cs typeface="Arial"/>
              </a:defRPr>
            </a:lvl5pPr>
            <a:lvl6pPr algn="l">
              <a:buNone/>
              <a:defRPr sz="1875" b="0">
                <a:solidFill>
                  <a:srgbClr val="182D4B"/>
                </a:solidFill>
                <a:latin typeface="Arial"/>
                <a:ea typeface="Arial"/>
                <a:cs typeface="Arial"/>
              </a:defRPr>
            </a:lvl6pPr>
            <a:lvl7pPr algn="l">
              <a:buNone/>
              <a:defRPr sz="1875" b="0">
                <a:solidFill>
                  <a:srgbClr val="182D4B"/>
                </a:solidFill>
                <a:latin typeface="Arial"/>
                <a:ea typeface="Arial"/>
                <a:cs typeface="Arial"/>
              </a:defRPr>
            </a:lvl7pPr>
            <a:lvl8pPr algn="l">
              <a:buNone/>
              <a:defRPr sz="1875" b="0">
                <a:solidFill>
                  <a:srgbClr val="182D4B"/>
                </a:solidFill>
                <a:latin typeface="Arial"/>
                <a:ea typeface="Arial"/>
                <a:cs typeface="Arial"/>
              </a:defRPr>
            </a:lvl8pPr>
            <a:lvl9pPr algn="l">
              <a:buNone/>
              <a:defRPr sz="1875" b="0">
                <a:solidFill>
                  <a:srgbClr val="182D4B"/>
                </a:solidFill>
                <a:latin typeface="Arial"/>
                <a:ea typeface="Arial"/>
                <a:cs typeface="Arial"/>
              </a:defRPr>
            </a:lvl9pPr>
          </a:lstStyle>
          <a:p xmlns:a="http://schemas.openxmlformats.org/drawingml/2006/main">
            <a:pPr algn="l">
              <a:buNone/>
              <a:defRPr sz="1875" b="0">
                <a:solidFill>
                  <a:srgbClr val="182D4B"/>
                </a:solidFill>
                <a:latin typeface="Arial"/>
                <a:ea typeface="Arial"/>
                <a:cs typeface="Arial"/>
              </a:defRPr>
            </a:pPr>
            <a:r>
              <a:rPr sz="1875" b="0">
                <a:solidFill>
                  <a:srgbClr val="182D4B"/>
                </a:solidFill>
                <a:latin typeface="Arial"/>
                <a:ea typeface="Arial"/>
                <a:cs typeface="Arial"/>
              </a:rPr>
              <a:t>Dùng thông tin đang có. Không nhìn trước xe sắp đến hoặc giờ rút thật.</a:t>
            </a:r>
          </a:p>
        </p:txBody>
      </p:sp>
    </p:spTree>
    <p:extLst>
      <p:ext uri="{BB962C8B-B14F-4D97-AF65-F5344CB8AC3E}">
        <p14:creationId xmlns:p14="http://schemas.microsoft.com/office/powerpoint/2010/main" val="16168769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Hàm mục tiêu và điểm phản hồi</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14</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sp>
        <p:nvSpPr>
          <p:cNvPr id="15" name="J-formula">
            <a:extLst xmlns:a="http://schemas.openxmlformats.org/drawingml/2006/main">
              <a:ext uri="{FF2B5EF4-FFF2-40B4-BE49-F238E27FC236}">
                <a16:creationId xmlns:a16="http://schemas.microsoft.com/office/drawing/2014/main" id="{70F0E7C9-489B-4FB8-8CCE-EBD8A3B25C60}"/>
              </a:ext>
            </a:extLst>
          </p:cNvPr>
          <p:cNvSpPr>
            <a:spLocks xmlns:a="http://schemas.openxmlformats.org/drawingml/2006/main" noGrp="1"/>
          </p:cNvSpPr>
          <p:nvPr/>
        </p:nvSpPr>
        <p:spPr>
          <a:xfrm xmlns:a="http://schemas.openxmlformats.org/drawingml/2006/main">
            <a:off x="609600" y="11620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D4B"/>
                </a:solidFill>
                <a:latin typeface="Arial"/>
                <a:ea typeface="Arial"/>
                <a:cs typeface="Arial"/>
              </a:defRPr>
            </a:defPPr>
            <a:lvl1pPr algn="l">
              <a:buNone/>
              <a:defRPr sz="2400" b="1">
                <a:solidFill>
                  <a:srgbClr val="182D4B"/>
                </a:solidFill>
                <a:latin typeface="Arial"/>
                <a:ea typeface="Arial"/>
                <a:cs typeface="Arial"/>
              </a:defRPr>
            </a:lvl1pPr>
            <a:lvl2pPr algn="l">
              <a:buNone/>
              <a:defRPr sz="2400" b="1">
                <a:solidFill>
                  <a:srgbClr val="182D4B"/>
                </a:solidFill>
                <a:latin typeface="Arial"/>
                <a:ea typeface="Arial"/>
                <a:cs typeface="Arial"/>
              </a:defRPr>
            </a:lvl2pPr>
            <a:lvl3pPr algn="l">
              <a:buNone/>
              <a:defRPr sz="2400" b="1">
                <a:solidFill>
                  <a:srgbClr val="182D4B"/>
                </a:solidFill>
                <a:latin typeface="Arial"/>
                <a:ea typeface="Arial"/>
                <a:cs typeface="Arial"/>
              </a:defRPr>
            </a:lvl3pPr>
            <a:lvl4pPr algn="l">
              <a:buNone/>
              <a:defRPr sz="2400" b="1">
                <a:solidFill>
                  <a:srgbClr val="182D4B"/>
                </a:solidFill>
                <a:latin typeface="Arial"/>
                <a:ea typeface="Arial"/>
                <a:cs typeface="Arial"/>
              </a:defRPr>
            </a:lvl4pPr>
            <a:lvl5pPr algn="l">
              <a:buNone/>
              <a:defRPr sz="2400" b="1">
                <a:solidFill>
                  <a:srgbClr val="182D4B"/>
                </a:solidFill>
                <a:latin typeface="Arial"/>
                <a:ea typeface="Arial"/>
                <a:cs typeface="Arial"/>
              </a:defRPr>
            </a:lvl5pPr>
            <a:lvl6pPr algn="l">
              <a:buNone/>
              <a:defRPr sz="2400" b="1">
                <a:solidFill>
                  <a:srgbClr val="182D4B"/>
                </a:solidFill>
                <a:latin typeface="Arial"/>
                <a:ea typeface="Arial"/>
                <a:cs typeface="Arial"/>
              </a:defRPr>
            </a:lvl6pPr>
            <a:lvl7pPr algn="l">
              <a:buNone/>
              <a:defRPr sz="2400" b="1">
                <a:solidFill>
                  <a:srgbClr val="182D4B"/>
                </a:solidFill>
                <a:latin typeface="Arial"/>
                <a:ea typeface="Arial"/>
                <a:cs typeface="Arial"/>
              </a:defRPr>
            </a:lvl7pPr>
            <a:lvl8pPr algn="l">
              <a:buNone/>
              <a:defRPr sz="2400" b="1">
                <a:solidFill>
                  <a:srgbClr val="182D4B"/>
                </a:solidFill>
                <a:latin typeface="Arial"/>
                <a:ea typeface="Arial"/>
                <a:cs typeface="Arial"/>
              </a:defRPr>
            </a:lvl8pPr>
            <a:lvl9pPr algn="l">
              <a:buNone/>
              <a:defRPr sz="2400" b="1">
                <a:solidFill>
                  <a:srgbClr val="182D4B"/>
                </a:solidFill>
                <a:latin typeface="Arial"/>
                <a:ea typeface="Arial"/>
                <a:cs typeface="Arial"/>
              </a:defRPr>
            </a:lvl9pPr>
          </a:lstStyle>
          <a:p xmlns:a="http://schemas.openxmlformats.org/drawingml/2006/main">
            <a:pPr algn="l">
              <a:buNone/>
              <a:defRPr sz="2400" b="1">
                <a:solidFill>
                  <a:srgbClr val="182D4B"/>
                </a:solidFill>
                <a:latin typeface="Arial"/>
                <a:ea typeface="Arial"/>
                <a:cs typeface="Arial"/>
              </a:defRPr>
            </a:pPr>
            <a:r>
              <a:rPr sz="2400" b="1">
                <a:solidFill>
                  <a:srgbClr val="182D4B"/>
                </a:solidFill>
                <a:latin typeface="Arial"/>
                <a:ea typeface="Arial"/>
                <a:cs typeface="Arial"/>
              </a:rPr>
              <a:t>J = 4 × U/E + 0,5 × W/60 + 0,5 × D/60 + 0,1 × S</a:t>
            </a:r>
          </a:p>
        </p:txBody>
      </p:sp>
      <p:graphicFrame>
        <p:nvGraphicFramePr>
          <p:cNvPr id="16" name="">
            <a:extLst xmlns:a="http://schemas.openxmlformats.org/drawingml/2006/main">
              <a:ext uri="{FF2B5EF4-FFF2-40B4-BE49-F238E27FC236}">
                <a16:creationId xmlns:a16="http://schemas.microsoft.com/office/drawing/2014/main" id="{FCBEB492-97C1-421D-8A2D-AF4A3F0E8631}"/>
              </a:ext>
            </a:extLst>
          </p:cNvPr>
          <p:cNvGraphicFramePr/>
          <p:nvPr/>
        </p:nvGraphicFramePr>
        <p:xfrm>
          <a:off xmlns:a="http://schemas.openxmlformats.org/drawingml/2006/main" x="609600" y="2295525"/>
          <a:ext xmlns:a="http://schemas.openxmlformats.org/drawingml/2006/main" cx="10972800" cy="2667000"/>
        </p:xfrm>
        <a:graphic xmlns:a="http://schemas.openxmlformats.org/drawingml/2006/main">
          <a:graphicData uri="http://schemas.openxmlformats.org/drawingml/2006/table">
            <a:tbl>
              <a:tblPr/>
              <a:tblGrid>
                <a:gridCol w="2571750"/>
                <a:gridCol w="8401050"/>
              </a:tblGrid>
              <a:tr h="533400">
                <a:tc>
                  <a:txBody>
                    <a:bodyPr wrap="square" lIns="95250" tIns="76200" rIns="95250" bIns="76200">
                      <a:noAutofit/>
                    </a:bodyPr>
                    <a:lstStyle/>
                    <a:p>
                      <a:pPr algn="l">
                        <a:buNone/>
                      </a:pPr>
                      <a:r>
                        <a:rPr sz="1875" b="1">
                          <a:solidFill>
                            <a:srgbClr val="FFFFFF"/>
                          </a:solidFill>
                          <a:latin typeface="Arial"/>
                          <a:ea typeface="Arial"/>
                          <a:cs typeface="Arial"/>
                        </a:rPr>
                        <a:t>Ký hiệu</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875" b="1">
                          <a:solidFill>
                            <a:srgbClr val="FFFFFF"/>
                          </a:solidFill>
                          <a:latin typeface="Arial"/>
                          <a:ea typeface="Arial"/>
                          <a:cs typeface="Arial"/>
                        </a:rPr>
                        <a:t>Ý nghĩa</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533400">
                <a:tc>
                  <a:txBody>
                    <a:bodyPr wrap="square" lIns="95250" tIns="76200" rIns="95250" bIns="76200">
                      <a:noAutofit/>
                    </a:bodyPr>
                    <a:lstStyle/>
                    <a:p>
                      <a:pPr algn="l">
                        <a:buNone/>
                      </a:pPr>
                      <a:r>
                        <a:rPr sz="1875" b="0">
                          <a:solidFill>
                            <a:srgbClr val="1F2937"/>
                          </a:solidFill>
                          <a:latin typeface="Arial"/>
                          <a:ea typeface="Arial"/>
                          <a:cs typeface="Arial"/>
                        </a:rPr>
                        <a:t>U / E</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75" b="0">
                          <a:solidFill>
                            <a:srgbClr val="1F2937"/>
                          </a:solidFill>
                          <a:latin typeface="Arial"/>
                          <a:ea typeface="Arial"/>
                          <a:cs typeface="Arial"/>
                        </a:rPr>
                        <a:t>Điện thiếu / điện yêu cầu trong ngày</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533400">
                <a:tc>
                  <a:txBody>
                    <a:bodyPr wrap="square" lIns="95250" tIns="76200" rIns="95250" bIns="76200">
                      <a:noAutofit/>
                    </a:bodyPr>
                    <a:lstStyle/>
                    <a:p>
                      <a:pPr algn="l">
                        <a:buNone/>
                      </a:pPr>
                      <a:r>
                        <a:rPr sz="1875" b="0">
                          <a:solidFill>
                            <a:srgbClr val="1F2937"/>
                          </a:solidFill>
                          <a:latin typeface="Arial"/>
                          <a:ea typeface="Arial"/>
                          <a:cs typeface="Arial"/>
                        </a:rPr>
                        <a:t>W, D</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75" b="0">
                          <a:solidFill>
                            <a:srgbClr val="1F2937"/>
                          </a:solidFill>
                          <a:latin typeface="Arial"/>
                          <a:ea typeface="Arial"/>
                          <a:cs typeface="Arial"/>
                        </a:rPr>
                        <a:t>Chờ và chậm tương đương trung bình, đơn vị phút</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533400">
                <a:tc>
                  <a:txBody>
                    <a:bodyPr wrap="square" lIns="95250" tIns="76200" rIns="95250" bIns="76200">
                      <a:noAutofit/>
                    </a:bodyPr>
                    <a:lstStyle/>
                    <a:p>
                      <a:pPr algn="l">
                        <a:buNone/>
                      </a:pPr>
                      <a:r>
                        <a:rPr sz="1875" b="0">
                          <a:solidFill>
                            <a:srgbClr val="1F2937"/>
                          </a:solidFill>
                          <a:latin typeface="Arial"/>
                          <a:ea typeface="Arial"/>
                          <a:cs typeface="Arial"/>
                        </a:rPr>
                        <a:t>S</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875" b="0">
                          <a:solidFill>
                            <a:srgbClr val="1F2937"/>
                          </a:solidFill>
                          <a:latin typeface="Arial"/>
                          <a:ea typeface="Arial"/>
                          <a:cs typeface="Arial"/>
                        </a:rPr>
                        <a:t>Trung bình các bước của (tổng tải / 150)²</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533400">
                <a:tc>
                  <a:txBody>
                    <a:bodyPr wrap="square" lIns="95250" tIns="76200" rIns="95250" bIns="76200">
                      <a:noAutofit/>
                    </a:bodyPr>
                    <a:lstStyle/>
                    <a:p>
                      <a:pPr algn="l">
                        <a:buNone/>
                      </a:pPr>
                      <a:r>
                        <a:rPr sz="1875" b="0">
                          <a:solidFill>
                            <a:srgbClr val="1F2937"/>
                          </a:solidFill>
                          <a:latin typeface="Arial"/>
                          <a:ea typeface="Arial"/>
                          <a:cs typeface="Arial"/>
                        </a:rPr>
                        <a:t>Tổng reward ngày</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875" b="0">
                          <a:solidFill>
                            <a:srgbClr val="1F2937"/>
                          </a:solidFill>
                          <a:latin typeface="Arial"/>
                          <a:ea typeface="Arial"/>
                          <a:cs typeface="Arial"/>
                        </a:rPr>
                        <a:t>−J, ít bị trừ điểm hơn là tốt hơn</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bl>
          </a:graphicData>
        </a:graphic>
      </p:graphicFrame>
      <p:sp>
        <p:nvSpPr>
          <p:cNvPr id="17" name="J-example">
            <a:extLst xmlns:a="http://schemas.openxmlformats.org/drawingml/2006/main">
              <a:ext uri="{FF2B5EF4-FFF2-40B4-BE49-F238E27FC236}">
                <a16:creationId xmlns:a16="http://schemas.microsoft.com/office/drawing/2014/main" id="{52CF7DE4-2B27-42CE-BB06-C01FF30E0383}"/>
              </a:ext>
            </a:extLst>
          </p:cNvPr>
          <p:cNvSpPr>
            <a:spLocks xmlns:a="http://schemas.openxmlformats.org/drawingml/2006/main" noGrp="1"/>
          </p:cNvSpPr>
          <p:nvPr/>
        </p:nvSpPr>
        <p:spPr>
          <a:xfrm xmlns:a="http://schemas.openxmlformats.org/drawingml/2006/main">
            <a:off x="609600" y="5353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96C5"/>
                </a:solidFill>
                <a:latin typeface="Arial"/>
                <a:ea typeface="Arial"/>
                <a:cs typeface="Arial"/>
              </a:defRPr>
            </a:defPPr>
            <a:lvl1pPr algn="l">
              <a:buNone/>
              <a:defRPr sz="2025" b="1">
                <a:solidFill>
                  <a:srgbClr val="2696C5"/>
                </a:solidFill>
                <a:latin typeface="Arial"/>
                <a:ea typeface="Arial"/>
                <a:cs typeface="Arial"/>
              </a:defRPr>
            </a:lvl1pPr>
            <a:lvl2pPr algn="l">
              <a:buNone/>
              <a:defRPr sz="2025" b="1">
                <a:solidFill>
                  <a:srgbClr val="2696C5"/>
                </a:solidFill>
                <a:latin typeface="Arial"/>
                <a:ea typeface="Arial"/>
                <a:cs typeface="Arial"/>
              </a:defRPr>
            </a:lvl2pPr>
            <a:lvl3pPr algn="l">
              <a:buNone/>
              <a:defRPr sz="2025" b="1">
                <a:solidFill>
                  <a:srgbClr val="2696C5"/>
                </a:solidFill>
                <a:latin typeface="Arial"/>
                <a:ea typeface="Arial"/>
                <a:cs typeface="Arial"/>
              </a:defRPr>
            </a:lvl3pPr>
            <a:lvl4pPr algn="l">
              <a:buNone/>
              <a:defRPr sz="2025" b="1">
                <a:solidFill>
                  <a:srgbClr val="2696C5"/>
                </a:solidFill>
                <a:latin typeface="Arial"/>
                <a:ea typeface="Arial"/>
                <a:cs typeface="Arial"/>
              </a:defRPr>
            </a:lvl4pPr>
            <a:lvl5pPr algn="l">
              <a:buNone/>
              <a:defRPr sz="2025" b="1">
                <a:solidFill>
                  <a:srgbClr val="2696C5"/>
                </a:solidFill>
                <a:latin typeface="Arial"/>
                <a:ea typeface="Arial"/>
                <a:cs typeface="Arial"/>
              </a:defRPr>
            </a:lvl5pPr>
            <a:lvl6pPr algn="l">
              <a:buNone/>
              <a:defRPr sz="2025" b="1">
                <a:solidFill>
                  <a:srgbClr val="2696C5"/>
                </a:solidFill>
                <a:latin typeface="Arial"/>
                <a:ea typeface="Arial"/>
                <a:cs typeface="Arial"/>
              </a:defRPr>
            </a:lvl6pPr>
            <a:lvl7pPr algn="l">
              <a:buNone/>
              <a:defRPr sz="2025" b="1">
                <a:solidFill>
                  <a:srgbClr val="2696C5"/>
                </a:solidFill>
                <a:latin typeface="Arial"/>
                <a:ea typeface="Arial"/>
                <a:cs typeface="Arial"/>
              </a:defRPr>
            </a:lvl7pPr>
            <a:lvl8pPr algn="l">
              <a:buNone/>
              <a:defRPr sz="2025" b="1">
                <a:solidFill>
                  <a:srgbClr val="2696C5"/>
                </a:solidFill>
                <a:latin typeface="Arial"/>
                <a:ea typeface="Arial"/>
                <a:cs typeface="Arial"/>
              </a:defRPr>
            </a:lvl8pPr>
            <a:lvl9pPr algn="l">
              <a:buNone/>
              <a:defRPr sz="2025" b="1">
                <a:solidFill>
                  <a:srgbClr val="2696C5"/>
                </a:solidFill>
                <a:latin typeface="Arial"/>
                <a:ea typeface="Arial"/>
                <a:cs typeface="Arial"/>
              </a:defRPr>
            </a:lvl9pPr>
          </a:lstStyle>
          <a:p xmlns:a="http://schemas.openxmlformats.org/drawingml/2006/main">
            <a:pPr algn="l">
              <a:buNone/>
              <a:defRPr sz="2025" b="1">
                <a:solidFill>
                  <a:srgbClr val="2696C5"/>
                </a:solidFill>
                <a:latin typeface="Arial"/>
                <a:ea typeface="Arial"/>
                <a:cs typeface="Arial"/>
              </a:defRPr>
            </a:pPr>
            <a:r>
              <a:rPr sz="2025" b="1">
                <a:solidFill>
                  <a:srgbClr val="2696C5"/>
                </a:solidFill>
                <a:latin typeface="Arial"/>
                <a:ea typeface="Arial"/>
                <a:cs typeface="Arial"/>
              </a:rPr>
              <a:t>PPO: 1,051347 + 0,016448 + 0,142741 + 0,003184 = 1,213720</a:t>
            </a:r>
          </a:p>
        </p:txBody>
      </p:sp>
      <p:sp>
        <p:nvSpPr>
          <p:cNvPr id="18" name="J-note">
            <a:extLst xmlns:a="http://schemas.openxmlformats.org/drawingml/2006/main">
              <a:ext uri="{FF2B5EF4-FFF2-40B4-BE49-F238E27FC236}">
                <a16:creationId xmlns:a16="http://schemas.microsoft.com/office/drawing/2014/main" id="{4504123A-277A-403A-9746-F9DD71217C30}"/>
              </a:ext>
            </a:extLst>
          </p:cNvPr>
          <p:cNvSpPr>
            <a:spLocks xmlns:a="http://schemas.openxmlformats.org/drawingml/2006/main" noGrp="1"/>
          </p:cNvSpPr>
          <p:nvPr/>
        </p:nvSpPr>
        <p:spPr>
          <a:xfrm xmlns:a="http://schemas.openxmlformats.org/drawingml/2006/main">
            <a:off x="609600" y="60007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6B7A"/>
                </a:solidFill>
                <a:latin typeface="Arial"/>
                <a:ea typeface="Arial"/>
                <a:cs typeface="Arial"/>
              </a:defRPr>
            </a:defPPr>
            <a:lvl1pPr algn="l">
              <a:buNone/>
              <a:defRPr sz="1650" b="0">
                <a:solidFill>
                  <a:srgbClr val="5E6B7A"/>
                </a:solidFill>
                <a:latin typeface="Arial"/>
                <a:ea typeface="Arial"/>
                <a:cs typeface="Arial"/>
              </a:defRPr>
            </a:lvl1pPr>
            <a:lvl2pPr algn="l">
              <a:buNone/>
              <a:defRPr sz="1650" b="0">
                <a:solidFill>
                  <a:srgbClr val="5E6B7A"/>
                </a:solidFill>
                <a:latin typeface="Arial"/>
                <a:ea typeface="Arial"/>
                <a:cs typeface="Arial"/>
              </a:defRPr>
            </a:lvl2pPr>
            <a:lvl3pPr algn="l">
              <a:buNone/>
              <a:defRPr sz="1650" b="0">
                <a:solidFill>
                  <a:srgbClr val="5E6B7A"/>
                </a:solidFill>
                <a:latin typeface="Arial"/>
                <a:ea typeface="Arial"/>
                <a:cs typeface="Arial"/>
              </a:defRPr>
            </a:lvl3pPr>
            <a:lvl4pPr algn="l">
              <a:buNone/>
              <a:defRPr sz="1650" b="0">
                <a:solidFill>
                  <a:srgbClr val="5E6B7A"/>
                </a:solidFill>
                <a:latin typeface="Arial"/>
                <a:ea typeface="Arial"/>
                <a:cs typeface="Arial"/>
              </a:defRPr>
            </a:lvl4pPr>
            <a:lvl5pPr algn="l">
              <a:buNone/>
              <a:defRPr sz="1650" b="0">
                <a:solidFill>
                  <a:srgbClr val="5E6B7A"/>
                </a:solidFill>
                <a:latin typeface="Arial"/>
                <a:ea typeface="Arial"/>
                <a:cs typeface="Arial"/>
              </a:defRPr>
            </a:lvl5pPr>
            <a:lvl6pPr algn="l">
              <a:buNone/>
              <a:defRPr sz="1650" b="0">
                <a:solidFill>
                  <a:srgbClr val="5E6B7A"/>
                </a:solidFill>
                <a:latin typeface="Arial"/>
                <a:ea typeface="Arial"/>
                <a:cs typeface="Arial"/>
              </a:defRPr>
            </a:lvl6pPr>
            <a:lvl7pPr algn="l">
              <a:buNone/>
              <a:defRPr sz="1650" b="0">
                <a:solidFill>
                  <a:srgbClr val="5E6B7A"/>
                </a:solidFill>
                <a:latin typeface="Arial"/>
                <a:ea typeface="Arial"/>
                <a:cs typeface="Arial"/>
              </a:defRPr>
            </a:lvl7pPr>
            <a:lvl8pPr algn="l">
              <a:buNone/>
              <a:defRPr sz="1650" b="0">
                <a:solidFill>
                  <a:srgbClr val="5E6B7A"/>
                </a:solidFill>
                <a:latin typeface="Arial"/>
                <a:ea typeface="Arial"/>
                <a:cs typeface="Arial"/>
              </a:defRPr>
            </a:lvl8pPr>
            <a:lvl9pPr algn="l">
              <a:buNone/>
              <a:defRPr sz="1650" b="0">
                <a:solidFill>
                  <a:srgbClr val="5E6B7A"/>
                </a:solidFill>
                <a:latin typeface="Arial"/>
                <a:ea typeface="Arial"/>
                <a:cs typeface="Arial"/>
              </a:defRPr>
            </a:lvl9pPr>
          </a:lstStyle>
          <a:p xmlns:a="http://schemas.openxmlformats.org/drawingml/2006/main">
            <a:pPr algn="l">
              <a:buNone/>
              <a:defRPr sz="1650" b="0">
                <a:solidFill>
                  <a:srgbClr val="5E6B7A"/>
                </a:solidFill>
                <a:latin typeface="Arial"/>
                <a:ea typeface="Arial"/>
                <a:cs typeface="Arial"/>
              </a:defRPr>
            </a:pPr>
            <a:r>
              <a:rPr sz="1650" b="0">
                <a:solidFill>
                  <a:srgbClr val="5E6B7A"/>
                </a:solidFill>
                <a:latin typeface="Arial"/>
                <a:ea typeface="Arial"/>
                <a:cs typeface="Arial"/>
              </a:rPr>
              <a:t>Tập trung tải chiếm khoảng 0,262% J. Trọng số là ưu tiên thiết kế của nhóm.</a:t>
            </a:r>
          </a:p>
        </p:txBody>
      </p:sp>
    </p:spTree>
    <p:extLst>
      <p:ext uri="{BB962C8B-B14F-4D97-AF65-F5344CB8AC3E}">
        <p14:creationId xmlns:p14="http://schemas.microsoft.com/office/powerpoint/2010/main" val="16168769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F483ED81-BDD8-456C-A7FE-523B1A1A630B}"/>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C34D9C38-9E0D-483C-97BF-151AEC8D2ED4}"/>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Tinh chỉnh PPO trên validation</a:t>
            </a:r>
          </a:p>
        </p:txBody>
      </p:sp>
      <p:sp>
        <p:nvSpPr>
          <p:cNvPr id="3" name="Rectangle 2">
            <a:extLst xmlns:a="http://schemas.openxmlformats.org/drawingml/2006/main">
              <a:ext uri="{FF2B5EF4-FFF2-40B4-BE49-F238E27FC236}">
                <a16:creationId xmlns:a16="http://schemas.microsoft.com/office/drawing/2014/main" id="{B35B1957-EDF2-44F5-A437-319F30F02AAE}"/>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15</a:t>
            </a:r>
          </a:p>
        </p:txBody>
      </p:sp>
      <p:sp>
        <p:nvSpPr>
          <p:cNvPr id="13" name="Rectangle 12">
            <a:extLst xmlns:a="http://schemas.openxmlformats.org/drawingml/2006/main">
              <a:ext uri="{FF2B5EF4-FFF2-40B4-BE49-F238E27FC236}">
                <a16:creationId xmlns:a16="http://schemas.microsoft.com/office/drawing/2014/main" id="{2EE1F8F4-07C1-4E75-AB10-1F8381711E3A}"/>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pic>
        <p:nvPicPr>
          <p:cNvPr id="15" name="">
            <a:extLst xmlns:a="http://schemas.openxmlformats.org/drawingml/2006/main">
              <a:ext uri="{FF2B5EF4-FFF2-40B4-BE49-F238E27FC236}">
                <a16:creationId xmlns:a16="http://schemas.microsoft.com/office/drawing/2014/main" id="{1ACFD222-6CC8-4753-8E35-7D030953666F}"/>
              </a:ext>
            </a:extLst>
          </p:cNvPr>
          <p:cNvPicPr>
            <a:picLocks xmlns:a="http://schemas.openxmlformats.org/drawingml/2006/main" noChangeAspect="1"/>
          </p:cNvPicPr>
          <p:nvPr/>
        </p:nvPicPr>
        <p:blipFill>
          <a:blip xmlns:r="http://schemas.openxmlformats.org/officeDocument/2006/relationships" xmlns:a="http://schemas.openxmlformats.org/drawingml/2006/main" r:embed="Rf46ee22460ac4afc"/>
          <a:stretch xmlns:a="http://schemas.openxmlformats.org/drawingml/2006/main"/>
        </p:blipFill>
        <p:spPr>
          <a:xfrm xmlns:a="http://schemas.openxmlformats.org/drawingml/2006/main">
            <a:off x="523875" y="1184930"/>
            <a:ext cx="11144250" cy="4069039"/>
          </a:xfrm>
          <a:prstGeom xmlns:a="http://schemas.openxmlformats.org/drawingml/2006/main" prst="rect">
            <a:avLst/>
          </a:prstGeom>
        </p:spPr>
      </p:pic>
      <p:sp>
        <p:nvSpPr>
          <p:cNvPr id="16" name="takeaway">
            <a:extLst xmlns:a="http://schemas.openxmlformats.org/drawingml/2006/main">
              <a:ext uri="{FF2B5EF4-FFF2-40B4-BE49-F238E27FC236}">
                <a16:creationId xmlns:a16="http://schemas.microsoft.com/office/drawing/2014/main" id="{42A653B6-B5BF-4CBA-BDCA-C0D88E09FB20}"/>
              </a:ext>
            </a:extLst>
          </p:cNvPr>
          <p:cNvSpPr>
            <a:spLocks xmlns:a="http://schemas.openxmlformats.org/drawingml/2006/main" noGrp="1"/>
          </p:cNvSpPr>
          <p:nvPr/>
        </p:nvSpPr>
        <p:spPr>
          <a:xfrm xmlns:a="http://schemas.openxmlformats.org/drawingml/2006/main">
            <a:off x="609600" y="5524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696C5"/>
                </a:solidFill>
                <a:latin typeface="Arial"/>
                <a:ea typeface="Arial"/>
                <a:cs typeface="Arial"/>
              </a:defRPr>
            </a:defPPr>
            <a:lvl1pPr algn="l">
              <a:buNone/>
              <a:defRPr sz="2175" b="1">
                <a:solidFill>
                  <a:srgbClr val="2696C5"/>
                </a:solidFill>
                <a:latin typeface="Arial"/>
                <a:ea typeface="Arial"/>
                <a:cs typeface="Arial"/>
              </a:defRPr>
            </a:lvl1pPr>
            <a:lvl2pPr algn="l">
              <a:buNone/>
              <a:defRPr sz="2175" b="1">
                <a:solidFill>
                  <a:srgbClr val="2696C5"/>
                </a:solidFill>
                <a:latin typeface="Arial"/>
                <a:ea typeface="Arial"/>
                <a:cs typeface="Arial"/>
              </a:defRPr>
            </a:lvl2pPr>
            <a:lvl3pPr algn="l">
              <a:buNone/>
              <a:defRPr sz="2175" b="1">
                <a:solidFill>
                  <a:srgbClr val="2696C5"/>
                </a:solidFill>
                <a:latin typeface="Arial"/>
                <a:ea typeface="Arial"/>
                <a:cs typeface="Arial"/>
              </a:defRPr>
            </a:lvl3pPr>
            <a:lvl4pPr algn="l">
              <a:buNone/>
              <a:defRPr sz="2175" b="1">
                <a:solidFill>
                  <a:srgbClr val="2696C5"/>
                </a:solidFill>
                <a:latin typeface="Arial"/>
                <a:ea typeface="Arial"/>
                <a:cs typeface="Arial"/>
              </a:defRPr>
            </a:lvl4pPr>
            <a:lvl5pPr algn="l">
              <a:buNone/>
              <a:defRPr sz="2175" b="1">
                <a:solidFill>
                  <a:srgbClr val="2696C5"/>
                </a:solidFill>
                <a:latin typeface="Arial"/>
                <a:ea typeface="Arial"/>
                <a:cs typeface="Arial"/>
              </a:defRPr>
            </a:lvl5pPr>
            <a:lvl6pPr algn="l">
              <a:buNone/>
              <a:defRPr sz="2175" b="1">
                <a:solidFill>
                  <a:srgbClr val="2696C5"/>
                </a:solidFill>
                <a:latin typeface="Arial"/>
                <a:ea typeface="Arial"/>
                <a:cs typeface="Arial"/>
              </a:defRPr>
            </a:lvl6pPr>
            <a:lvl7pPr algn="l">
              <a:buNone/>
              <a:defRPr sz="2175" b="1">
                <a:solidFill>
                  <a:srgbClr val="2696C5"/>
                </a:solidFill>
                <a:latin typeface="Arial"/>
                <a:ea typeface="Arial"/>
                <a:cs typeface="Arial"/>
              </a:defRPr>
            </a:lvl7pPr>
            <a:lvl8pPr algn="l">
              <a:buNone/>
              <a:defRPr sz="2175" b="1">
                <a:solidFill>
                  <a:srgbClr val="2696C5"/>
                </a:solidFill>
                <a:latin typeface="Arial"/>
                <a:ea typeface="Arial"/>
                <a:cs typeface="Arial"/>
              </a:defRPr>
            </a:lvl8pPr>
            <a:lvl9pPr algn="l">
              <a:buNone/>
              <a:defRPr sz="2175" b="1">
                <a:solidFill>
                  <a:srgbClr val="2696C5"/>
                </a:solidFill>
                <a:latin typeface="Arial"/>
                <a:ea typeface="Arial"/>
                <a:cs typeface="Arial"/>
              </a:defRPr>
            </a:lvl9pPr>
          </a:lstStyle>
          <a:p xmlns:a="http://schemas.openxmlformats.org/drawingml/2006/main">
            <a:pPr algn="l">
              <a:buNone/>
              <a:defRPr sz="2175" b="1">
                <a:solidFill>
                  <a:srgbClr val="2696C5"/>
                </a:solidFill>
                <a:latin typeface="Arial"/>
                <a:ea typeface="Arial"/>
                <a:cs typeface="Arial"/>
              </a:defRPr>
            </a:pPr>
            <a:r>
              <a:rPr sz="2175" b="1">
                <a:solidFill>
                  <a:srgbClr val="2696C5"/>
                </a:solidFill>
                <a:latin typeface="Arial"/>
                <a:ea typeface="Arial"/>
                <a:cs typeface="Arial"/>
              </a:rPr>
              <a:t>Chọn tốc độ học 0,0001, mạng 128×128 từ 12 lượt tuning</a:t>
            </a:r>
          </a:p>
        </p:txBody>
      </p:sp>
      <p:sp>
        <p:nvSpPr>
          <p:cNvPr id="17" name="tuning-note">
            <a:extLst xmlns:a="http://schemas.openxmlformats.org/drawingml/2006/main">
              <a:ext uri="{FF2B5EF4-FFF2-40B4-BE49-F238E27FC236}">
                <a16:creationId xmlns:a16="http://schemas.microsoft.com/office/drawing/2014/main" id="{DD8ED7B1-5A9D-418D-BAD9-FC5E6F4C43D5}"/>
              </a:ext>
            </a:extLst>
          </p:cNvPr>
          <p:cNvSpPr>
            <a:spLocks xmlns:a="http://schemas.openxmlformats.org/drawingml/2006/main" noGrp="1"/>
          </p:cNvSpPr>
          <p:nvPr/>
        </p:nvSpPr>
        <p:spPr>
          <a:xfrm xmlns:a="http://schemas.openxmlformats.org/drawingml/2006/main">
            <a:off x="609600" y="60769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E6B7A"/>
                </a:solidFill>
                <a:latin typeface="Arial"/>
                <a:ea typeface="Arial"/>
                <a:cs typeface="Arial"/>
              </a:defRPr>
            </a:defPPr>
            <a:lvl1pPr algn="l">
              <a:buNone/>
              <a:defRPr sz="1650" b="0">
                <a:solidFill>
                  <a:srgbClr val="5E6B7A"/>
                </a:solidFill>
                <a:latin typeface="Arial"/>
                <a:ea typeface="Arial"/>
                <a:cs typeface="Arial"/>
              </a:defRPr>
            </a:lvl1pPr>
            <a:lvl2pPr algn="l">
              <a:buNone/>
              <a:defRPr sz="1650" b="0">
                <a:solidFill>
                  <a:srgbClr val="5E6B7A"/>
                </a:solidFill>
                <a:latin typeface="Arial"/>
                <a:ea typeface="Arial"/>
                <a:cs typeface="Arial"/>
              </a:defRPr>
            </a:lvl2pPr>
            <a:lvl3pPr algn="l">
              <a:buNone/>
              <a:defRPr sz="1650" b="0">
                <a:solidFill>
                  <a:srgbClr val="5E6B7A"/>
                </a:solidFill>
                <a:latin typeface="Arial"/>
                <a:ea typeface="Arial"/>
                <a:cs typeface="Arial"/>
              </a:defRPr>
            </a:lvl3pPr>
            <a:lvl4pPr algn="l">
              <a:buNone/>
              <a:defRPr sz="1650" b="0">
                <a:solidFill>
                  <a:srgbClr val="5E6B7A"/>
                </a:solidFill>
                <a:latin typeface="Arial"/>
                <a:ea typeface="Arial"/>
                <a:cs typeface="Arial"/>
              </a:defRPr>
            </a:lvl4pPr>
            <a:lvl5pPr algn="l">
              <a:buNone/>
              <a:defRPr sz="1650" b="0">
                <a:solidFill>
                  <a:srgbClr val="5E6B7A"/>
                </a:solidFill>
                <a:latin typeface="Arial"/>
                <a:ea typeface="Arial"/>
                <a:cs typeface="Arial"/>
              </a:defRPr>
            </a:lvl5pPr>
            <a:lvl6pPr algn="l">
              <a:buNone/>
              <a:defRPr sz="1650" b="0">
                <a:solidFill>
                  <a:srgbClr val="5E6B7A"/>
                </a:solidFill>
                <a:latin typeface="Arial"/>
                <a:ea typeface="Arial"/>
                <a:cs typeface="Arial"/>
              </a:defRPr>
            </a:lvl6pPr>
            <a:lvl7pPr algn="l">
              <a:buNone/>
              <a:defRPr sz="1650" b="0">
                <a:solidFill>
                  <a:srgbClr val="5E6B7A"/>
                </a:solidFill>
                <a:latin typeface="Arial"/>
                <a:ea typeface="Arial"/>
                <a:cs typeface="Arial"/>
              </a:defRPr>
            </a:lvl7pPr>
            <a:lvl8pPr algn="l">
              <a:buNone/>
              <a:defRPr sz="1650" b="0">
                <a:solidFill>
                  <a:srgbClr val="5E6B7A"/>
                </a:solidFill>
                <a:latin typeface="Arial"/>
                <a:ea typeface="Arial"/>
                <a:cs typeface="Arial"/>
              </a:defRPr>
            </a:lvl8pPr>
            <a:lvl9pPr algn="l">
              <a:buNone/>
              <a:defRPr sz="1650" b="0">
                <a:solidFill>
                  <a:srgbClr val="5E6B7A"/>
                </a:solidFill>
                <a:latin typeface="Arial"/>
                <a:ea typeface="Arial"/>
                <a:cs typeface="Arial"/>
              </a:defRPr>
            </a:lvl9pPr>
          </a:lstStyle>
          <a:p xmlns:a="http://schemas.openxmlformats.org/drawingml/2006/main">
            <a:pPr algn="l">
              <a:buNone/>
              <a:defRPr sz="1650" b="0">
                <a:solidFill>
                  <a:srgbClr val="5E6B7A"/>
                </a:solidFill>
                <a:latin typeface="Arial"/>
                <a:ea typeface="Arial"/>
                <a:cs typeface="Arial"/>
              </a:defRPr>
            </a:pPr>
            <a:r>
              <a:rPr sz="1650" b="0">
                <a:solidFill>
                  <a:srgbClr val="5E6B7A"/>
                </a:solidFill>
                <a:latin typeface="Arial"/>
                <a:ea typeface="Arial"/>
                <a:cs typeface="Arial"/>
              </a:rPr>
              <a:t>3 tốc độ học × 2 kích thước mạng × 2 seed. Seed cuối khác seed tuning.</a:t>
            </a:r>
          </a:p>
        </p:txBody>
      </p:sp>
    </p:spTree>
    <p:extLst>
      <p:ext uri="{BB962C8B-B14F-4D97-AF65-F5344CB8AC3E}">
        <p14:creationId xmlns:p14="http://schemas.microsoft.com/office/powerpoint/2010/main" val="7388836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Đường học trên 38 ngày validation</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16</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pic>
        <p:nvPicPr>
          <p:cNvPr id="15" name="">
            <a:extLst xmlns:a="http://schemas.openxmlformats.org/drawingml/2006/main">
              <a:ext uri="{FF2B5EF4-FFF2-40B4-BE49-F238E27FC236}">
                <a16:creationId xmlns:a16="http://schemas.microsoft.com/office/drawing/2014/main" id="{FF8F2F6A-6B93-4089-9169-FE7908E811E4}"/>
              </a:ext>
            </a:extLst>
          </p:cNvPr>
          <p:cNvPicPr>
            <a:picLocks xmlns:a="http://schemas.openxmlformats.org/drawingml/2006/main" noChangeAspect="1"/>
          </p:cNvPicPr>
          <p:nvPr/>
        </p:nvPicPr>
        <p:blipFill>
          <a:blip xmlns:r="http://schemas.openxmlformats.org/officeDocument/2006/relationships" xmlns:a="http://schemas.openxmlformats.org/drawingml/2006/main" r:embed="R173ef78c761d4775"/>
          <a:stretch xmlns:a="http://schemas.openxmlformats.org/drawingml/2006/main"/>
        </p:blipFill>
        <p:spPr>
          <a:xfrm xmlns:a="http://schemas.openxmlformats.org/drawingml/2006/main">
            <a:off x="476250" y="1278086"/>
            <a:ext cx="11239500" cy="3692228"/>
          </a:xfrm>
          <a:prstGeom xmlns:a="http://schemas.openxmlformats.org/drawingml/2006/main" prst="rect">
            <a:avLst/>
          </a:prstGeom>
        </p:spPr>
      </p:pic>
      <p:sp>
        <p:nvSpPr>
          <p:cNvPr id="16" name="ppo-learning-heading">
            <a:extLst xmlns:a="http://schemas.openxmlformats.org/drawingml/2006/main">
              <a:ext uri="{FF2B5EF4-FFF2-40B4-BE49-F238E27FC236}">
                <a16:creationId xmlns:a16="http://schemas.microsoft.com/office/drawing/2014/main" id="{F5747D29-79D6-4BDE-B837-E56FF1B5DB18}"/>
              </a:ext>
            </a:extLst>
          </p:cNvPr>
          <p:cNvSpPr>
            <a:spLocks xmlns:a="http://schemas.openxmlformats.org/drawingml/2006/main" noGrp="1"/>
          </p:cNvSpPr>
          <p:nvPr/>
        </p:nvSpPr>
        <p:spPr>
          <a:xfrm xmlns:a="http://schemas.openxmlformats.org/drawingml/2006/main">
            <a:off x="609600" y="538162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PPO tiến gần mốc LLF</a:t>
            </a:r>
          </a:p>
        </p:txBody>
      </p:sp>
      <p:sp>
        <p:nvSpPr>
          <p:cNvPr id="17" name="ppo-learning-body">
            <a:extLst xmlns:a="http://schemas.openxmlformats.org/drawingml/2006/main">
              <a:ext uri="{FF2B5EF4-FFF2-40B4-BE49-F238E27FC236}">
                <a16:creationId xmlns:a16="http://schemas.microsoft.com/office/drawing/2014/main" id="{EA2A58B8-AB9F-423E-84E6-073963D32BA8}"/>
              </a:ext>
            </a:extLst>
          </p:cNvPr>
          <p:cNvSpPr>
            <a:spLocks xmlns:a="http://schemas.openxmlformats.org/drawingml/2006/main" noGrp="1"/>
          </p:cNvSpPr>
          <p:nvPr/>
        </p:nvSpPr>
        <p:spPr>
          <a:xfrm xmlns:a="http://schemas.openxmlformats.org/drawingml/2006/main">
            <a:off x="609600" y="5857875"/>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Có dao động. Chấm test bằng checkpoint validation tốt nhất.</a:t>
            </a:r>
          </a:p>
        </p:txBody>
      </p:sp>
      <p:sp>
        <p:nvSpPr>
          <p:cNvPr id="18" name="q-learning-heading">
            <a:extLst xmlns:a="http://schemas.openxmlformats.org/drawingml/2006/main">
              <a:ext uri="{FF2B5EF4-FFF2-40B4-BE49-F238E27FC236}">
                <a16:creationId xmlns:a16="http://schemas.microsoft.com/office/drawing/2014/main" id="{CF358982-7DD2-477A-B027-677D0D7E3A68}"/>
              </a:ext>
            </a:extLst>
          </p:cNvPr>
          <p:cNvSpPr>
            <a:spLocks xmlns:a="http://schemas.openxmlformats.org/drawingml/2006/main" noGrp="1"/>
          </p:cNvSpPr>
          <p:nvPr/>
        </p:nvSpPr>
        <p:spPr>
          <a:xfrm xmlns:a="http://schemas.openxmlformats.org/drawingml/2006/main">
            <a:off x="6419850" y="538162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Q-learning kém dần khi học thêm</a:t>
            </a:r>
          </a:p>
        </p:txBody>
      </p:sp>
      <p:sp>
        <p:nvSpPr>
          <p:cNvPr id="19" name="q-learning-body">
            <a:extLst xmlns:a="http://schemas.openxmlformats.org/drawingml/2006/main">
              <a:ext uri="{FF2B5EF4-FFF2-40B4-BE49-F238E27FC236}">
                <a16:creationId xmlns:a16="http://schemas.microsoft.com/office/drawing/2014/main" id="{2CF222A7-D494-4F23-8C1E-7A0F414AD53C}"/>
              </a:ext>
            </a:extLst>
          </p:cNvPr>
          <p:cNvSpPr>
            <a:spLocks xmlns:a="http://schemas.openxmlformats.org/drawingml/2006/main" noGrp="1"/>
          </p:cNvSpPr>
          <p:nvPr/>
        </p:nvSpPr>
        <p:spPr>
          <a:xfrm xmlns:a="http://schemas.openxmlformats.org/drawingml/2006/main">
            <a:off x="6419850" y="5857875"/>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Cả 5 seed đạt tốt nhất ở episode 400–1.000.</a:t>
            </a:r>
          </a:p>
        </p:txBody>
      </p:sp>
    </p:spTree>
    <p:extLst>
      <p:ext uri="{BB962C8B-B14F-4D97-AF65-F5344CB8AC3E}">
        <p14:creationId xmlns:p14="http://schemas.microsoft.com/office/powerpoint/2010/main" val="161687690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Kết quả trên cùng 83 ngày test</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17</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graphicFrame>
        <p:nvGraphicFramePr>
          <p:cNvPr id="15" name="">
            <a:extLst xmlns:a="http://schemas.openxmlformats.org/drawingml/2006/main">
              <a:ext uri="{FF2B5EF4-FFF2-40B4-BE49-F238E27FC236}">
                <a16:creationId xmlns:a16="http://schemas.microsoft.com/office/drawing/2014/main" id="{E6D44FF0-38F5-454A-9EF3-CFBB113B3AD8}"/>
              </a:ext>
            </a:extLst>
          </p:cNvPr>
          <p:cNvGraphicFramePr/>
          <p:nvPr/>
        </p:nvGraphicFramePr>
        <p:xfrm>
          <a:off xmlns:a="http://schemas.openxmlformats.org/drawingml/2006/main" x="609600" y="1123950"/>
          <a:ext xmlns:a="http://schemas.openxmlformats.org/drawingml/2006/main" cx="10972800" cy="4400550"/>
        </p:xfrm>
        <a:graphic xmlns:a="http://schemas.openxmlformats.org/drawingml/2006/main">
          <a:graphicData uri="http://schemas.openxmlformats.org/drawingml/2006/table">
            <a:tbl>
              <a:tblPr/>
              <a:tblGrid>
                <a:gridCol w="2143125"/>
                <a:gridCol w="1619250"/>
                <a:gridCol w="2238375"/>
                <a:gridCol w="1571625"/>
                <a:gridCol w="1714500"/>
                <a:gridCol w="1685925"/>
              </a:tblGrid>
              <a:tr h="488950">
                <a:tc>
                  <a:txBody>
                    <a:bodyPr wrap="square" lIns="95250" tIns="76200" rIns="95250" bIns="76200">
                      <a:noAutofit/>
                    </a:bodyPr>
                    <a:lstStyle/>
                    <a:p>
                      <a:pPr algn="l">
                        <a:buNone/>
                      </a:pPr>
                      <a:r>
                        <a:rPr sz="1725" b="1">
                          <a:solidFill>
                            <a:srgbClr val="FFFFFF"/>
                          </a:solidFill>
                          <a:latin typeface="Arial"/>
                          <a:ea typeface="Arial"/>
                          <a:cs typeface="Arial"/>
                        </a:rPr>
                        <a:t>Phương pháp</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725" b="1">
                          <a:solidFill>
                            <a:srgbClr val="FFFFFF"/>
                          </a:solidFill>
                          <a:latin typeface="Arial"/>
                          <a:ea typeface="Arial"/>
                          <a:cs typeface="Arial"/>
                        </a:rPr>
                        <a:t>Phục vụ (%)</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725" b="1">
                          <a:solidFill>
                            <a:srgbClr val="FFFFFF"/>
                          </a:solidFill>
                          <a:latin typeface="Arial"/>
                          <a:ea typeface="Arial"/>
                          <a:cs typeface="Arial"/>
                        </a:rPr>
                        <a:t>Thiếu (kWh/ngày)</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725" b="1">
                          <a:solidFill>
                            <a:srgbClr val="FFFFFF"/>
                          </a:solidFill>
                          <a:latin typeface="Arial"/>
                          <a:ea typeface="Arial"/>
                          <a:cs typeface="Arial"/>
                        </a:rPr>
                        <a:t>Chờ (phút)</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725" b="1">
                          <a:solidFill>
                            <a:srgbClr val="FFFFFF"/>
                          </a:solidFill>
                          <a:latin typeface="Arial"/>
                          <a:ea typeface="Arial"/>
                          <a:cs typeface="Arial"/>
                        </a:rPr>
                        <a:t>Chậm (phút)</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725" b="1">
                          <a:solidFill>
                            <a:srgbClr val="FFFFFF"/>
                          </a:solidFill>
                          <a:latin typeface="Arial"/>
                          <a:ea typeface="Arial"/>
                          <a:cs typeface="Arial"/>
                        </a:rPr>
                        <a:t>J</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488950">
                <a:tc>
                  <a:txBody>
                    <a:bodyPr wrap="square" lIns="95250" tIns="76200" rIns="95250" bIns="76200">
                      <a:noAutofit/>
                    </a:bodyPr>
                    <a:lstStyle/>
                    <a:p>
                      <a:pPr algn="l">
                        <a:buNone/>
                      </a:pPr>
                      <a:r>
                        <a:rPr sz="1725" b="1">
                          <a:solidFill>
                            <a:srgbClr val="1F2937"/>
                          </a:solidFill>
                          <a:latin typeface="Arial"/>
                          <a:ea typeface="Arial"/>
                          <a:cs typeface="Arial"/>
                        </a:rPr>
                        <a:t>PPO</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EDF7FB"/>
                    </a:solidFill>
                  </a:tcPr>
                </a:tc>
                <a:tc>
                  <a:txBody>
                    <a:bodyPr wrap="square" lIns="95250" tIns="76200" rIns="95250" bIns="76200">
                      <a:noAutofit/>
                    </a:bodyPr>
                    <a:lstStyle/>
                    <a:p>
                      <a:pPr algn="l">
                        <a:buNone/>
                      </a:pPr>
                      <a:r>
                        <a:rPr sz="1725" b="1">
                          <a:solidFill>
                            <a:srgbClr val="1F2937"/>
                          </a:solidFill>
                          <a:latin typeface="Arial"/>
                          <a:ea typeface="Arial"/>
                          <a:cs typeface="Arial"/>
                        </a:rPr>
                        <a:t>73,72</a:t>
                      </a:r>
                    </a:p>
                  </a:txBody>
                  <a:tcPr marL="91440" marR="91440" marT="45720" marB="45720" anchor="ctr">
                    <a:lnR w="6191">
                      <a:solidFill>
                        <a:srgbClr val="182D4B"/>
                      </a:solidFill>
                      <a:prstDash val="solid"/>
                    </a:lnR>
                    <a:lnB w="6191">
                      <a:solidFill>
                        <a:srgbClr val="182D4B"/>
                      </a:solidFill>
                      <a:prstDash val="solid"/>
                    </a:lnB>
                    <a:solidFill>
                      <a:srgbClr val="EDF7FB"/>
                    </a:solidFill>
                  </a:tcPr>
                </a:tc>
                <a:tc>
                  <a:txBody>
                    <a:bodyPr wrap="square" lIns="95250" tIns="76200" rIns="95250" bIns="76200">
                      <a:noAutofit/>
                    </a:bodyPr>
                    <a:lstStyle/>
                    <a:p>
                      <a:pPr algn="l">
                        <a:buNone/>
                      </a:pPr>
                      <a:r>
                        <a:rPr sz="1725" b="1">
                          <a:solidFill>
                            <a:srgbClr val="1F2937"/>
                          </a:solidFill>
                          <a:latin typeface="Arial"/>
                          <a:ea typeface="Arial"/>
                          <a:cs typeface="Arial"/>
                        </a:rPr>
                        <a:t>131,87</a:t>
                      </a:r>
                    </a:p>
                  </a:txBody>
                  <a:tcPr marL="91440" marR="91440" marT="45720" marB="45720" anchor="ctr">
                    <a:lnR w="6191">
                      <a:solidFill>
                        <a:srgbClr val="182D4B"/>
                      </a:solidFill>
                      <a:prstDash val="solid"/>
                    </a:lnR>
                    <a:lnB w="6191">
                      <a:solidFill>
                        <a:srgbClr val="182D4B"/>
                      </a:solidFill>
                      <a:prstDash val="solid"/>
                    </a:lnB>
                    <a:solidFill>
                      <a:srgbClr val="EDF7FB"/>
                    </a:solidFill>
                  </a:tcPr>
                </a:tc>
                <a:tc>
                  <a:txBody>
                    <a:bodyPr wrap="square" lIns="95250" tIns="76200" rIns="95250" bIns="76200">
                      <a:noAutofit/>
                    </a:bodyPr>
                    <a:lstStyle/>
                    <a:p>
                      <a:pPr algn="l">
                        <a:buNone/>
                      </a:pPr>
                      <a:r>
                        <a:rPr sz="1725" b="1">
                          <a:solidFill>
                            <a:srgbClr val="1F2937"/>
                          </a:solidFill>
                          <a:latin typeface="Arial"/>
                          <a:ea typeface="Arial"/>
                          <a:cs typeface="Arial"/>
                        </a:rPr>
                        <a:t>1,97</a:t>
                      </a:r>
                    </a:p>
                  </a:txBody>
                  <a:tcPr marL="91440" marR="91440" marT="45720" marB="45720" anchor="ctr">
                    <a:lnR w="6191">
                      <a:solidFill>
                        <a:srgbClr val="182D4B"/>
                      </a:solidFill>
                      <a:prstDash val="solid"/>
                    </a:lnR>
                    <a:lnB w="6191">
                      <a:solidFill>
                        <a:srgbClr val="182D4B"/>
                      </a:solidFill>
                      <a:prstDash val="solid"/>
                    </a:lnB>
                    <a:solidFill>
                      <a:srgbClr val="EDF7FB"/>
                    </a:solidFill>
                  </a:tcPr>
                </a:tc>
                <a:tc>
                  <a:txBody>
                    <a:bodyPr wrap="square" lIns="95250" tIns="76200" rIns="95250" bIns="76200">
                      <a:noAutofit/>
                    </a:bodyPr>
                    <a:lstStyle/>
                    <a:p>
                      <a:pPr algn="l">
                        <a:buNone/>
                      </a:pPr>
                      <a:r>
                        <a:rPr sz="1725" b="1">
                          <a:solidFill>
                            <a:srgbClr val="1F2937"/>
                          </a:solidFill>
                          <a:latin typeface="Arial"/>
                          <a:ea typeface="Arial"/>
                          <a:cs typeface="Arial"/>
                        </a:rPr>
                        <a:t>17,13</a:t>
                      </a:r>
                    </a:p>
                  </a:txBody>
                  <a:tcPr marL="91440" marR="91440" marT="45720" marB="45720" anchor="ctr">
                    <a:lnR w="6191">
                      <a:solidFill>
                        <a:srgbClr val="182D4B"/>
                      </a:solidFill>
                      <a:prstDash val="solid"/>
                    </a:lnR>
                    <a:lnB w="6191">
                      <a:solidFill>
                        <a:srgbClr val="182D4B"/>
                      </a:solidFill>
                      <a:prstDash val="solid"/>
                    </a:lnB>
                    <a:solidFill>
                      <a:srgbClr val="EDF7FB"/>
                    </a:solidFill>
                  </a:tcPr>
                </a:tc>
                <a:tc>
                  <a:txBody>
                    <a:bodyPr wrap="square" lIns="95250" tIns="76200" rIns="95250" bIns="76200">
                      <a:noAutofit/>
                    </a:bodyPr>
                    <a:lstStyle/>
                    <a:p>
                      <a:pPr algn="l">
                        <a:buNone/>
                      </a:pPr>
                      <a:r>
                        <a:rPr sz="1725" b="1">
                          <a:solidFill>
                            <a:srgbClr val="1F2937"/>
                          </a:solidFill>
                          <a:latin typeface="Arial"/>
                          <a:ea typeface="Arial"/>
                          <a:cs typeface="Arial"/>
                        </a:rPr>
                        <a:t>1,2137</a:t>
                      </a:r>
                    </a:p>
                  </a:txBody>
                  <a:tcPr marL="91440" marR="91440" marT="45720" marB="45720" anchor="ctr">
                    <a:lnR w="6191">
                      <a:solidFill>
                        <a:srgbClr val="182D4B"/>
                      </a:solidFill>
                      <a:prstDash val="solid"/>
                    </a:lnR>
                    <a:lnB w="6191">
                      <a:solidFill>
                        <a:srgbClr val="182D4B"/>
                      </a:solidFill>
                      <a:prstDash val="solid"/>
                    </a:lnB>
                    <a:solidFill>
                      <a:srgbClr val="EDF7FB"/>
                    </a:solidFill>
                  </a:tcPr>
                </a:tc>
              </a:tr>
              <a:tr h="488950">
                <a:tc>
                  <a:txBody>
                    <a:bodyPr wrap="square" lIns="95250" tIns="76200" rIns="95250" bIns="76200">
                      <a:noAutofit/>
                    </a:bodyPr>
                    <a:lstStyle/>
                    <a:p>
                      <a:pPr algn="l">
                        <a:buNone/>
                      </a:pPr>
                      <a:r>
                        <a:rPr sz="1725" b="0">
                          <a:solidFill>
                            <a:srgbClr val="1F2937"/>
                          </a:solidFill>
                          <a:latin typeface="Arial"/>
                          <a:ea typeface="Arial"/>
                          <a:cs typeface="Arial"/>
                        </a:rPr>
                        <a:t>FIFO</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72,29</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139,42</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4,72</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13,23</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1,2612</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488950">
                <a:tc>
                  <a:txBody>
                    <a:bodyPr wrap="square" lIns="95250" tIns="76200" rIns="95250" bIns="76200">
                      <a:noAutofit/>
                    </a:bodyPr>
                    <a:lstStyle/>
                    <a:p>
                      <a:pPr algn="l">
                        <a:buNone/>
                      </a:pPr>
                      <a:r>
                        <a:rPr sz="1725" b="1">
                          <a:solidFill>
                            <a:srgbClr val="1F2937"/>
                          </a:solidFill>
                          <a:latin typeface="Arial"/>
                          <a:ea typeface="Arial"/>
                          <a:cs typeface="Arial"/>
                        </a:rPr>
                        <a:t>EDF</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6EA"/>
                    </a:solidFill>
                  </a:tcPr>
                </a:tc>
                <a:tc>
                  <a:txBody>
                    <a:bodyPr wrap="square" lIns="95250" tIns="76200" rIns="95250" bIns="76200">
                      <a:noAutofit/>
                    </a:bodyPr>
                    <a:lstStyle/>
                    <a:p>
                      <a:pPr algn="l">
                        <a:buNone/>
                      </a:pPr>
                      <a:r>
                        <a:rPr sz="1725" b="1">
                          <a:solidFill>
                            <a:srgbClr val="1F2937"/>
                          </a:solidFill>
                          <a:latin typeface="Arial"/>
                          <a:ea typeface="Arial"/>
                          <a:cs typeface="Arial"/>
                        </a:rPr>
                        <a:t>73,25</a:t>
                      </a:r>
                    </a:p>
                  </a:txBody>
                  <a:tcPr marL="91440" marR="91440" marT="45720" marB="45720" anchor="ctr">
                    <a:lnR w="6191">
                      <a:solidFill>
                        <a:srgbClr val="182D4B"/>
                      </a:solidFill>
                      <a:prstDash val="solid"/>
                    </a:lnR>
                    <a:lnB w="6191">
                      <a:solidFill>
                        <a:srgbClr val="182D4B"/>
                      </a:solidFill>
                      <a:prstDash val="solid"/>
                    </a:lnB>
                    <a:solidFill>
                      <a:srgbClr val="FFF6EA"/>
                    </a:solidFill>
                  </a:tcPr>
                </a:tc>
                <a:tc>
                  <a:txBody>
                    <a:bodyPr wrap="square" lIns="95250" tIns="76200" rIns="95250" bIns="76200">
                      <a:noAutofit/>
                    </a:bodyPr>
                    <a:lstStyle/>
                    <a:p>
                      <a:pPr algn="l">
                        <a:buNone/>
                      </a:pPr>
                      <a:r>
                        <a:rPr sz="1725" b="1">
                          <a:solidFill>
                            <a:srgbClr val="1F2937"/>
                          </a:solidFill>
                          <a:latin typeface="Arial"/>
                          <a:ea typeface="Arial"/>
                          <a:cs typeface="Arial"/>
                        </a:rPr>
                        <a:t>134,49</a:t>
                      </a:r>
                    </a:p>
                  </a:txBody>
                  <a:tcPr marL="91440" marR="91440" marT="45720" marB="45720" anchor="ctr">
                    <a:lnR w="6191">
                      <a:solidFill>
                        <a:srgbClr val="182D4B"/>
                      </a:solidFill>
                      <a:prstDash val="solid"/>
                    </a:lnR>
                    <a:lnB w="6191">
                      <a:solidFill>
                        <a:srgbClr val="182D4B"/>
                      </a:solidFill>
                      <a:prstDash val="solid"/>
                    </a:lnB>
                    <a:solidFill>
                      <a:srgbClr val="FFF6EA"/>
                    </a:solidFill>
                  </a:tcPr>
                </a:tc>
                <a:tc>
                  <a:txBody>
                    <a:bodyPr wrap="square" lIns="95250" tIns="76200" rIns="95250" bIns="76200">
                      <a:noAutofit/>
                    </a:bodyPr>
                    <a:lstStyle/>
                    <a:p>
                      <a:pPr algn="l">
                        <a:buNone/>
                      </a:pPr>
                      <a:r>
                        <a:rPr sz="1725" b="1">
                          <a:solidFill>
                            <a:srgbClr val="1F2937"/>
                          </a:solidFill>
                          <a:latin typeface="Arial"/>
                          <a:ea typeface="Arial"/>
                          <a:cs typeface="Arial"/>
                        </a:rPr>
                        <a:t>1,99</a:t>
                      </a:r>
                    </a:p>
                  </a:txBody>
                  <a:tcPr marL="91440" marR="91440" marT="45720" marB="45720" anchor="ctr">
                    <a:lnR w="6191">
                      <a:solidFill>
                        <a:srgbClr val="182D4B"/>
                      </a:solidFill>
                      <a:prstDash val="solid"/>
                    </a:lnR>
                    <a:lnB w="6191">
                      <a:solidFill>
                        <a:srgbClr val="182D4B"/>
                      </a:solidFill>
                      <a:prstDash val="solid"/>
                    </a:lnB>
                    <a:solidFill>
                      <a:srgbClr val="FFF6EA"/>
                    </a:solidFill>
                  </a:tcPr>
                </a:tc>
                <a:tc>
                  <a:txBody>
                    <a:bodyPr wrap="square" lIns="95250" tIns="76200" rIns="95250" bIns="76200">
                      <a:noAutofit/>
                    </a:bodyPr>
                    <a:lstStyle/>
                    <a:p>
                      <a:pPr algn="l">
                        <a:buNone/>
                      </a:pPr>
                      <a:r>
                        <a:rPr sz="1725" b="1">
                          <a:solidFill>
                            <a:srgbClr val="1F2937"/>
                          </a:solidFill>
                          <a:latin typeface="Arial"/>
                          <a:ea typeface="Arial"/>
                          <a:cs typeface="Arial"/>
                        </a:rPr>
                        <a:t>13,82</a:t>
                      </a:r>
                    </a:p>
                  </a:txBody>
                  <a:tcPr marL="91440" marR="91440" marT="45720" marB="45720" anchor="ctr">
                    <a:lnR w="6191">
                      <a:solidFill>
                        <a:srgbClr val="182D4B"/>
                      </a:solidFill>
                      <a:prstDash val="solid"/>
                    </a:lnR>
                    <a:lnB w="6191">
                      <a:solidFill>
                        <a:srgbClr val="182D4B"/>
                      </a:solidFill>
                      <a:prstDash val="solid"/>
                    </a:lnB>
                    <a:solidFill>
                      <a:srgbClr val="FFF6EA"/>
                    </a:solidFill>
                  </a:tcPr>
                </a:tc>
                <a:tc>
                  <a:txBody>
                    <a:bodyPr wrap="square" lIns="95250" tIns="76200" rIns="95250" bIns="76200">
                      <a:noAutofit/>
                    </a:bodyPr>
                    <a:lstStyle/>
                    <a:p>
                      <a:pPr algn="l">
                        <a:buNone/>
                      </a:pPr>
                      <a:r>
                        <a:rPr sz="1725" b="1">
                          <a:solidFill>
                            <a:srgbClr val="1F2937"/>
                          </a:solidFill>
                          <a:latin typeface="Arial"/>
                          <a:ea typeface="Arial"/>
                          <a:cs typeface="Arial"/>
                        </a:rPr>
                        <a:t>1,2050</a:t>
                      </a:r>
                    </a:p>
                  </a:txBody>
                  <a:tcPr marL="91440" marR="91440" marT="45720" marB="45720" anchor="ctr">
                    <a:lnR w="6191">
                      <a:solidFill>
                        <a:srgbClr val="182D4B"/>
                      </a:solidFill>
                      <a:prstDash val="solid"/>
                    </a:lnR>
                    <a:lnB w="6191">
                      <a:solidFill>
                        <a:srgbClr val="182D4B"/>
                      </a:solidFill>
                      <a:prstDash val="solid"/>
                    </a:lnB>
                    <a:solidFill>
                      <a:srgbClr val="FFF6EA"/>
                    </a:solidFill>
                  </a:tcPr>
                </a:tc>
              </a:tr>
              <a:tr h="488950">
                <a:tc>
                  <a:txBody>
                    <a:bodyPr wrap="square" lIns="95250" tIns="76200" rIns="95250" bIns="76200">
                      <a:noAutofit/>
                    </a:bodyPr>
                    <a:lstStyle/>
                    <a:p>
                      <a:pPr algn="l">
                        <a:buNone/>
                      </a:pPr>
                      <a:r>
                        <a:rPr sz="1725" b="0">
                          <a:solidFill>
                            <a:srgbClr val="1F2937"/>
                          </a:solidFill>
                          <a:latin typeface="Arial"/>
                          <a:ea typeface="Arial"/>
                          <a:cs typeface="Arial"/>
                        </a:rPr>
                        <a:t>LLF</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73,72</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131,88</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2,12</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17,10</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1,2147</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488950">
                <a:tc>
                  <a:txBody>
                    <a:bodyPr wrap="square" lIns="95250" tIns="76200" rIns="95250" bIns="76200">
                      <a:noAutofit/>
                    </a:bodyPr>
                    <a:lstStyle/>
                    <a:p>
                      <a:pPr algn="l">
                        <a:buNone/>
                      </a:pPr>
                      <a:r>
                        <a:rPr sz="1725" b="0">
                          <a:solidFill>
                            <a:srgbClr val="1F2937"/>
                          </a:solidFill>
                          <a:latin typeface="Arial"/>
                          <a:ea typeface="Arial"/>
                          <a:cs typeface="Arial"/>
                        </a:rPr>
                        <a:t>Fixed100</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73,72</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131,88</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1,75</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18,17</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1,2204</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488950">
                <a:tc>
                  <a:txBody>
                    <a:bodyPr wrap="square" lIns="95250" tIns="76200" rIns="95250" bIns="76200">
                      <a:noAutofit/>
                    </a:bodyPr>
                    <a:lstStyle/>
                    <a:p>
                      <a:pPr algn="l">
                        <a:buNone/>
                      </a:pPr>
                      <a:r>
                        <a:rPr sz="1725" b="0">
                          <a:solidFill>
                            <a:srgbClr val="1F2937"/>
                          </a:solidFill>
                          <a:latin typeface="Arial"/>
                          <a:ea typeface="Arial"/>
                          <a:cs typeface="Arial"/>
                        </a:rPr>
                        <a:t>Q-learning</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73,66</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132,27</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1,74</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19,99</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1,2379</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488950">
                <a:tc>
                  <a:txBody>
                    <a:bodyPr wrap="square" lIns="95250" tIns="76200" rIns="95250" bIns="76200">
                      <a:noAutofit/>
                    </a:bodyPr>
                    <a:lstStyle/>
                    <a:p>
                      <a:pPr algn="l">
                        <a:buNone/>
                      </a:pPr>
                      <a:r>
                        <a:rPr sz="1725" b="0">
                          <a:solidFill>
                            <a:srgbClr val="1F2937"/>
                          </a:solidFill>
                          <a:latin typeface="Arial"/>
                          <a:ea typeface="Arial"/>
                          <a:cs typeface="Arial"/>
                        </a:rPr>
                        <a:t>AverageRate</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70,07</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149,83</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0,00</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99,03</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725" b="0">
                          <a:solidFill>
                            <a:srgbClr val="1F2937"/>
                          </a:solidFill>
                          <a:latin typeface="Arial"/>
                          <a:ea typeface="Arial"/>
                          <a:cs typeface="Arial"/>
                        </a:rPr>
                        <a:t>2,0249</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488950">
                <a:tc>
                  <a:txBody>
                    <a:bodyPr wrap="square" lIns="95250" tIns="76200" rIns="95250" bIns="76200">
                      <a:noAutofit/>
                    </a:bodyPr>
                    <a:lstStyle/>
                    <a:p>
                      <a:pPr algn="l">
                        <a:buNone/>
                      </a:pPr>
                      <a:r>
                        <a:rPr sz="1725" b="0">
                          <a:solidFill>
                            <a:srgbClr val="1F2937"/>
                          </a:solidFill>
                          <a:latin typeface="Arial"/>
                          <a:ea typeface="Arial"/>
                          <a:cs typeface="Arial"/>
                        </a:rPr>
                        <a:t>Equal</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72,71</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137,26</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0,00</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14,64</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725" b="0">
                          <a:solidFill>
                            <a:srgbClr val="1F2937"/>
                          </a:solidFill>
                          <a:latin typeface="Arial"/>
                          <a:ea typeface="Arial"/>
                          <a:cs typeface="Arial"/>
                        </a:rPr>
                        <a:t>1,2168</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bl>
          </a:graphicData>
        </a:graphic>
      </p:graphicFrame>
      <p:sp>
        <p:nvSpPr>
          <p:cNvPr id="16" name="takeaway">
            <a:extLst xmlns:a="http://schemas.openxmlformats.org/drawingml/2006/main">
              <a:ext uri="{FF2B5EF4-FFF2-40B4-BE49-F238E27FC236}">
                <a16:creationId xmlns:a16="http://schemas.microsoft.com/office/drawing/2014/main" id="{2A75E0AA-8285-4452-97F5-ECA068F35B5C}"/>
              </a:ext>
            </a:extLst>
          </p:cNvPr>
          <p:cNvSpPr>
            <a:spLocks xmlns:a="http://schemas.openxmlformats.org/drawingml/2006/main" noGrp="1"/>
          </p:cNvSpPr>
          <p:nvPr/>
        </p:nvSpPr>
        <p:spPr>
          <a:xfrm xmlns:a="http://schemas.openxmlformats.org/drawingml/2006/main">
            <a:off x="609600" y="58388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82D4B"/>
                </a:solidFill>
                <a:latin typeface="Arial"/>
                <a:ea typeface="Arial"/>
                <a:cs typeface="Arial"/>
              </a:defRPr>
            </a:defPPr>
            <a:lvl1pPr algn="l">
              <a:buNone/>
              <a:defRPr sz="1950" b="1">
                <a:solidFill>
                  <a:srgbClr val="182D4B"/>
                </a:solidFill>
                <a:latin typeface="Arial"/>
                <a:ea typeface="Arial"/>
                <a:cs typeface="Arial"/>
              </a:defRPr>
            </a:lvl1pPr>
            <a:lvl2pPr algn="l">
              <a:buNone/>
              <a:defRPr sz="1950" b="1">
                <a:solidFill>
                  <a:srgbClr val="182D4B"/>
                </a:solidFill>
                <a:latin typeface="Arial"/>
                <a:ea typeface="Arial"/>
                <a:cs typeface="Arial"/>
              </a:defRPr>
            </a:lvl2pPr>
            <a:lvl3pPr algn="l">
              <a:buNone/>
              <a:defRPr sz="1950" b="1">
                <a:solidFill>
                  <a:srgbClr val="182D4B"/>
                </a:solidFill>
                <a:latin typeface="Arial"/>
                <a:ea typeface="Arial"/>
                <a:cs typeface="Arial"/>
              </a:defRPr>
            </a:lvl3pPr>
            <a:lvl4pPr algn="l">
              <a:buNone/>
              <a:defRPr sz="1950" b="1">
                <a:solidFill>
                  <a:srgbClr val="182D4B"/>
                </a:solidFill>
                <a:latin typeface="Arial"/>
                <a:ea typeface="Arial"/>
                <a:cs typeface="Arial"/>
              </a:defRPr>
            </a:lvl4pPr>
            <a:lvl5pPr algn="l">
              <a:buNone/>
              <a:defRPr sz="1950" b="1">
                <a:solidFill>
                  <a:srgbClr val="182D4B"/>
                </a:solidFill>
                <a:latin typeface="Arial"/>
                <a:ea typeface="Arial"/>
                <a:cs typeface="Arial"/>
              </a:defRPr>
            </a:lvl5pPr>
            <a:lvl6pPr algn="l">
              <a:buNone/>
              <a:defRPr sz="1950" b="1">
                <a:solidFill>
                  <a:srgbClr val="182D4B"/>
                </a:solidFill>
                <a:latin typeface="Arial"/>
                <a:ea typeface="Arial"/>
                <a:cs typeface="Arial"/>
              </a:defRPr>
            </a:lvl6pPr>
            <a:lvl7pPr algn="l">
              <a:buNone/>
              <a:defRPr sz="1950" b="1">
                <a:solidFill>
                  <a:srgbClr val="182D4B"/>
                </a:solidFill>
                <a:latin typeface="Arial"/>
                <a:ea typeface="Arial"/>
                <a:cs typeface="Arial"/>
              </a:defRPr>
            </a:lvl7pPr>
            <a:lvl8pPr algn="l">
              <a:buNone/>
              <a:defRPr sz="1950" b="1">
                <a:solidFill>
                  <a:srgbClr val="182D4B"/>
                </a:solidFill>
                <a:latin typeface="Arial"/>
                <a:ea typeface="Arial"/>
                <a:cs typeface="Arial"/>
              </a:defRPr>
            </a:lvl8pPr>
            <a:lvl9pPr algn="l">
              <a:buNone/>
              <a:defRPr sz="1950" b="1">
                <a:solidFill>
                  <a:srgbClr val="182D4B"/>
                </a:solidFill>
                <a:latin typeface="Arial"/>
                <a:ea typeface="Arial"/>
                <a:cs typeface="Arial"/>
              </a:defRPr>
            </a:lvl9pPr>
          </a:lstStyle>
          <a:p xmlns:a="http://schemas.openxmlformats.org/drawingml/2006/main">
            <a:pPr algn="l">
              <a:buNone/>
              <a:defRPr sz="1950" b="1">
                <a:solidFill>
                  <a:srgbClr val="182D4B"/>
                </a:solidFill>
                <a:latin typeface="Arial"/>
                <a:ea typeface="Arial"/>
                <a:cs typeface="Arial"/>
              </a:defRPr>
            </a:pPr>
            <a:r>
              <a:rPr sz="1950" b="1">
                <a:solidFill>
                  <a:srgbClr val="182D4B"/>
                </a:solidFill>
                <a:latin typeface="Arial"/>
                <a:ea typeface="Arial"/>
                <a:cs typeface="Arial"/>
              </a:rPr>
              <a:t>EDF có J trung bình thấp nhất. PPO phục vụ điện gần bằng LLF.</a:t>
            </a:r>
          </a:p>
        </p:txBody>
      </p:sp>
    </p:spTree>
    <p:extLst>
      <p:ext uri="{BB962C8B-B14F-4D97-AF65-F5344CB8AC3E}">
        <p14:creationId xmlns:p14="http://schemas.microsoft.com/office/powerpoint/2010/main" val="161687690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D89AD9C4-D285-4E55-8BEC-8EB867F0D1D6}"/>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07AA9A01-A40F-4A29-A096-8EF4597E337B}"/>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Đánh đổi giữa điện thiếu và thời gian phục vụ</a:t>
            </a:r>
          </a:p>
        </p:txBody>
      </p:sp>
      <p:sp>
        <p:nvSpPr>
          <p:cNvPr id="3" name="Rectangle 2">
            <a:extLst xmlns:a="http://schemas.openxmlformats.org/drawingml/2006/main">
              <a:ext uri="{FF2B5EF4-FFF2-40B4-BE49-F238E27FC236}">
                <a16:creationId xmlns:a16="http://schemas.microsoft.com/office/drawing/2014/main" id="{9CD46D19-DC44-44A9-B892-4C9DC94BC87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18</a:t>
            </a:r>
          </a:p>
        </p:txBody>
      </p:sp>
      <p:sp>
        <p:nvSpPr>
          <p:cNvPr id="9" name="Rectangle 8">
            <a:extLst xmlns:a="http://schemas.openxmlformats.org/drawingml/2006/main">
              <a:ext uri="{FF2B5EF4-FFF2-40B4-BE49-F238E27FC236}">
                <a16:creationId xmlns:a16="http://schemas.microsoft.com/office/drawing/2014/main" id="{493D636E-940C-479F-9AAE-4FBA2527FF1F}"/>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pic>
        <p:nvPicPr>
          <p:cNvPr id="11" name="">
            <a:extLst xmlns:a="http://schemas.openxmlformats.org/drawingml/2006/main">
              <a:ext uri="{FF2B5EF4-FFF2-40B4-BE49-F238E27FC236}">
                <a16:creationId xmlns:a16="http://schemas.microsoft.com/office/drawing/2014/main" id="{0F784D8B-E78F-4EA7-B25A-F9B57A757F2F}"/>
              </a:ext>
            </a:extLst>
          </p:cNvPr>
          <p:cNvPicPr>
            <a:picLocks xmlns:a="http://schemas.openxmlformats.org/drawingml/2006/main" noChangeAspect="1"/>
          </p:cNvPicPr>
          <p:nvPr/>
        </p:nvPicPr>
        <p:blipFill>
          <a:blip xmlns:r="http://schemas.openxmlformats.org/officeDocument/2006/relationships" xmlns:a="http://schemas.openxmlformats.org/drawingml/2006/main" r:embed="R8c7c10a159c24e48"/>
          <a:stretch xmlns:a="http://schemas.openxmlformats.org/drawingml/2006/main"/>
        </p:blipFill>
        <p:spPr>
          <a:xfrm xmlns:a="http://schemas.openxmlformats.org/drawingml/2006/main">
            <a:off x="400050" y="1370192"/>
            <a:ext cx="11391900" cy="3403241"/>
          </a:xfrm>
          <a:prstGeom xmlns:a="http://schemas.openxmlformats.org/drawingml/2006/main" prst="rect">
            <a:avLst/>
          </a:prstGeom>
        </p:spPr>
      </p:pic>
      <p:sp>
        <p:nvSpPr>
          <p:cNvPr id="12" name="PPO-EDF-heading">
            <a:extLst xmlns:a="http://schemas.openxmlformats.org/drawingml/2006/main">
              <a:ext uri="{FF2B5EF4-FFF2-40B4-BE49-F238E27FC236}">
                <a16:creationId xmlns:a16="http://schemas.microsoft.com/office/drawing/2014/main" id="{DACEF4B9-853C-4DB1-A9E6-3829C1A0899A}"/>
              </a:ext>
            </a:extLst>
          </p:cNvPr>
          <p:cNvSpPr>
            <a:spLocks xmlns:a="http://schemas.openxmlformats.org/drawingml/2006/main" noGrp="1"/>
          </p:cNvSpPr>
          <p:nvPr/>
        </p:nvSpPr>
        <p:spPr>
          <a:xfrm xmlns:a="http://schemas.openxmlformats.org/drawingml/2006/main">
            <a:off x="609600" y="525780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PPO cấp nhiều hơn EDF 2,62 kWh/ngày</a:t>
            </a:r>
          </a:p>
        </p:txBody>
      </p:sp>
      <p:sp>
        <p:nvSpPr>
          <p:cNvPr id="13" name="PPO-EDF-body">
            <a:extLst xmlns:a="http://schemas.openxmlformats.org/drawingml/2006/main">
              <a:ext uri="{FF2B5EF4-FFF2-40B4-BE49-F238E27FC236}">
                <a16:creationId xmlns:a16="http://schemas.microsoft.com/office/drawing/2014/main" id="{D4A85BAF-DCE7-45FF-BC34-FA3606E41904}"/>
              </a:ext>
            </a:extLst>
          </p:cNvPr>
          <p:cNvSpPr>
            <a:spLocks xmlns:a="http://schemas.openxmlformats.org/drawingml/2006/main" noGrp="1"/>
          </p:cNvSpPr>
          <p:nvPr/>
        </p:nvSpPr>
        <p:spPr>
          <a:xfrm xmlns:a="http://schemas.openxmlformats.org/drawingml/2006/main">
            <a:off x="609600" y="57340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Đổi lại chậm tương đương cao hơn khoảng 3,31 phút.</a:t>
            </a:r>
          </a:p>
        </p:txBody>
      </p:sp>
      <p:sp>
        <p:nvSpPr>
          <p:cNvPr id="14" name="Equal-wait-heading">
            <a:extLst xmlns:a="http://schemas.openxmlformats.org/drawingml/2006/main">
              <a:ext uri="{FF2B5EF4-FFF2-40B4-BE49-F238E27FC236}">
                <a16:creationId xmlns:a16="http://schemas.microsoft.com/office/drawing/2014/main" id="{47BB767F-9E02-4BF9-AB99-159A40B2EEB8}"/>
              </a:ext>
            </a:extLst>
          </p:cNvPr>
          <p:cNvSpPr>
            <a:spLocks xmlns:a="http://schemas.openxmlformats.org/drawingml/2006/main" noGrp="1"/>
          </p:cNvSpPr>
          <p:nvPr/>
        </p:nvSpPr>
        <p:spPr>
          <a:xfrm xmlns:a="http://schemas.openxmlformats.org/drawingml/2006/main">
            <a:off x="6419850" y="525780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Equal có chờ ban đầu bằng 0</a:t>
            </a:r>
          </a:p>
        </p:txBody>
      </p:sp>
      <p:sp>
        <p:nvSpPr>
          <p:cNvPr id="15" name="Equal-wait-body">
            <a:extLst xmlns:a="http://schemas.openxmlformats.org/drawingml/2006/main">
              <a:ext uri="{FF2B5EF4-FFF2-40B4-BE49-F238E27FC236}">
                <a16:creationId xmlns:a16="http://schemas.microsoft.com/office/drawing/2014/main" id="{431EF93B-0350-4398-97B7-A4292A104F6C}"/>
              </a:ext>
            </a:extLst>
          </p:cNvPr>
          <p:cNvSpPr>
            <a:spLocks xmlns:a="http://schemas.openxmlformats.org/drawingml/2006/main" noGrp="1"/>
          </p:cNvSpPr>
          <p:nvPr/>
        </p:nvSpPr>
        <p:spPr>
          <a:xfrm xmlns:a="http://schemas.openxmlformats.org/drawingml/2006/main">
            <a:off x="6419850" y="5734050"/>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Nhận điện ngay chưa có nghĩa nhận đủ hoặc nhận nhanh.</a:t>
            </a:r>
          </a:p>
        </p:txBody>
      </p:sp>
    </p:spTree>
    <p:extLst>
      <p:ext uri="{BB962C8B-B14F-4D97-AF65-F5344CB8AC3E}">
        <p14:creationId xmlns:p14="http://schemas.microsoft.com/office/powerpoint/2010/main" val="18324240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5C6BB90F-6EC7-4EE7-A110-991AADB2BB3E}"/>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8D530BC0-8E72-48A6-87FE-7B5F54A441A9}"/>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Độ ổn định và chênh lệch với đối chứng</a:t>
            </a:r>
          </a:p>
        </p:txBody>
      </p:sp>
      <p:sp>
        <p:nvSpPr>
          <p:cNvPr id="3" name="Rectangle 2">
            <a:extLst xmlns:a="http://schemas.openxmlformats.org/drawingml/2006/main">
              <a:ext uri="{FF2B5EF4-FFF2-40B4-BE49-F238E27FC236}">
                <a16:creationId xmlns:a16="http://schemas.microsoft.com/office/drawing/2014/main" id="{4524F7E2-80B5-4CCD-A6B1-16B12E96E844}"/>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19</a:t>
            </a:r>
          </a:p>
        </p:txBody>
      </p:sp>
      <p:sp>
        <p:nvSpPr>
          <p:cNvPr id="23" name="Rectangle 22">
            <a:extLst xmlns:a="http://schemas.openxmlformats.org/drawingml/2006/main">
              <a:ext uri="{FF2B5EF4-FFF2-40B4-BE49-F238E27FC236}">
                <a16:creationId xmlns:a16="http://schemas.microsoft.com/office/drawing/2014/main" id="{3A66223A-F5A4-4F46-B4D8-E2D668BD2DE8}"/>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sp>
        <p:nvSpPr>
          <p:cNvPr id="25" name="seed-stability">
            <a:extLst xmlns:a="http://schemas.openxmlformats.org/drawingml/2006/main">
              <a:ext uri="{FF2B5EF4-FFF2-40B4-BE49-F238E27FC236}">
                <a16:creationId xmlns:a16="http://schemas.microsoft.com/office/drawing/2014/main" id="{510AD100-1DF7-4F33-9505-82F858B592D8}"/>
              </a:ext>
            </a:extLst>
          </p:cNvPr>
          <p:cNvSpPr>
            <a:spLocks xmlns:a="http://schemas.openxmlformats.org/drawingml/2006/main" noGrp="1"/>
          </p:cNvSpPr>
          <p:nvPr/>
        </p:nvSpPr>
        <p:spPr>
          <a:xfrm xmlns:a="http://schemas.openxmlformats.org/drawingml/2006/main">
            <a:off x="609600" y="1038225"/>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696C5"/>
                </a:solidFill>
                <a:latin typeface="Arial"/>
                <a:ea typeface="Arial"/>
                <a:cs typeface="Arial"/>
              </a:defRPr>
            </a:defPPr>
            <a:lvl1pPr algn="l">
              <a:buNone/>
              <a:defRPr sz="2175" b="1">
                <a:solidFill>
                  <a:srgbClr val="2696C5"/>
                </a:solidFill>
                <a:latin typeface="Arial"/>
                <a:ea typeface="Arial"/>
                <a:cs typeface="Arial"/>
              </a:defRPr>
            </a:lvl1pPr>
            <a:lvl2pPr algn="l">
              <a:buNone/>
              <a:defRPr sz="2175" b="1">
                <a:solidFill>
                  <a:srgbClr val="2696C5"/>
                </a:solidFill>
                <a:latin typeface="Arial"/>
                <a:ea typeface="Arial"/>
                <a:cs typeface="Arial"/>
              </a:defRPr>
            </a:lvl2pPr>
            <a:lvl3pPr algn="l">
              <a:buNone/>
              <a:defRPr sz="2175" b="1">
                <a:solidFill>
                  <a:srgbClr val="2696C5"/>
                </a:solidFill>
                <a:latin typeface="Arial"/>
                <a:ea typeface="Arial"/>
                <a:cs typeface="Arial"/>
              </a:defRPr>
            </a:lvl3pPr>
            <a:lvl4pPr algn="l">
              <a:buNone/>
              <a:defRPr sz="2175" b="1">
                <a:solidFill>
                  <a:srgbClr val="2696C5"/>
                </a:solidFill>
                <a:latin typeface="Arial"/>
                <a:ea typeface="Arial"/>
                <a:cs typeface="Arial"/>
              </a:defRPr>
            </a:lvl4pPr>
            <a:lvl5pPr algn="l">
              <a:buNone/>
              <a:defRPr sz="2175" b="1">
                <a:solidFill>
                  <a:srgbClr val="2696C5"/>
                </a:solidFill>
                <a:latin typeface="Arial"/>
                <a:ea typeface="Arial"/>
                <a:cs typeface="Arial"/>
              </a:defRPr>
            </a:lvl5pPr>
            <a:lvl6pPr algn="l">
              <a:buNone/>
              <a:defRPr sz="2175" b="1">
                <a:solidFill>
                  <a:srgbClr val="2696C5"/>
                </a:solidFill>
                <a:latin typeface="Arial"/>
                <a:ea typeface="Arial"/>
                <a:cs typeface="Arial"/>
              </a:defRPr>
            </a:lvl6pPr>
            <a:lvl7pPr algn="l">
              <a:buNone/>
              <a:defRPr sz="2175" b="1">
                <a:solidFill>
                  <a:srgbClr val="2696C5"/>
                </a:solidFill>
                <a:latin typeface="Arial"/>
                <a:ea typeface="Arial"/>
                <a:cs typeface="Arial"/>
              </a:defRPr>
            </a:lvl7pPr>
            <a:lvl8pPr algn="l">
              <a:buNone/>
              <a:defRPr sz="2175" b="1">
                <a:solidFill>
                  <a:srgbClr val="2696C5"/>
                </a:solidFill>
                <a:latin typeface="Arial"/>
                <a:ea typeface="Arial"/>
                <a:cs typeface="Arial"/>
              </a:defRPr>
            </a:lvl8pPr>
            <a:lvl9pPr algn="l">
              <a:buNone/>
              <a:defRPr sz="2175" b="1">
                <a:solidFill>
                  <a:srgbClr val="2696C5"/>
                </a:solidFill>
                <a:latin typeface="Arial"/>
                <a:ea typeface="Arial"/>
                <a:cs typeface="Arial"/>
              </a:defRPr>
            </a:lvl9pPr>
          </a:lstStyle>
          <a:p xmlns:a="http://schemas.openxmlformats.org/drawingml/2006/main">
            <a:pPr algn="l">
              <a:buNone/>
              <a:defRPr sz="2175" b="1">
                <a:solidFill>
                  <a:srgbClr val="2696C5"/>
                </a:solidFill>
                <a:latin typeface="Arial"/>
                <a:ea typeface="Arial"/>
                <a:cs typeface="Arial"/>
              </a:defRPr>
            </a:pPr>
            <a:r>
              <a:rPr sz="2175" b="1">
                <a:solidFill>
                  <a:srgbClr val="2696C5"/>
                </a:solidFill>
                <a:latin typeface="Arial"/>
                <a:ea typeface="Arial"/>
                <a:cs typeface="Arial"/>
              </a:rPr>
              <a:t>PPO: độ lệch chuẩn J giữa 5 seed khoảng 0,000310</a:t>
            </a:r>
          </a:p>
        </p:txBody>
      </p:sp>
      <p:graphicFrame>
        <p:nvGraphicFramePr>
          <p:cNvPr id="26" name="">
            <a:extLst xmlns:a="http://schemas.openxmlformats.org/drawingml/2006/main">
              <a:ext uri="{FF2B5EF4-FFF2-40B4-BE49-F238E27FC236}">
                <a16:creationId xmlns:a16="http://schemas.microsoft.com/office/drawing/2014/main" id="{13AF5ED0-15A5-43E6-A0E6-2A739ED169ED}"/>
              </a:ext>
            </a:extLst>
          </p:cNvPr>
          <p:cNvGraphicFramePr/>
          <p:nvPr/>
        </p:nvGraphicFramePr>
        <p:xfrm>
          <a:off xmlns:a="http://schemas.openxmlformats.org/drawingml/2006/main" x="609600" y="1924050"/>
          <a:ext xmlns:a="http://schemas.openxmlformats.org/drawingml/2006/main" cx="10972800" cy="3429000"/>
        </p:xfrm>
        <a:graphic xmlns:a="http://schemas.openxmlformats.org/drawingml/2006/main">
          <a:graphicData uri="http://schemas.openxmlformats.org/drawingml/2006/table">
            <a:tbl>
              <a:tblPr/>
              <a:tblGrid>
                <a:gridCol w="1762125"/>
                <a:gridCol w="2667000"/>
                <a:gridCol w="3429000"/>
                <a:gridCol w="3114675"/>
              </a:tblGrid>
              <a:tr h="489857">
                <a:tc>
                  <a:txBody>
                    <a:bodyPr wrap="square" lIns="95250" tIns="76200" rIns="95250" bIns="76200">
                      <a:noAutofit/>
                    </a:bodyPr>
                    <a:lstStyle/>
                    <a:p>
                      <a:pPr algn="l">
                        <a:buNone/>
                      </a:pPr>
                      <a:r>
                        <a:rPr sz="1650" b="1">
                          <a:solidFill>
                            <a:srgbClr val="FFFFFF"/>
                          </a:solidFill>
                          <a:latin typeface="Arial"/>
                          <a:ea typeface="Arial"/>
                          <a:cs typeface="Arial"/>
                        </a:rPr>
                        <a:t>Đối chứng</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650" b="1">
                          <a:solidFill>
                            <a:srgbClr val="FFFFFF"/>
                          </a:solidFill>
                          <a:latin typeface="Arial"/>
                          <a:ea typeface="Arial"/>
                          <a:cs typeface="Arial"/>
                        </a:rPr>
                        <a:t>ΔJ PPO − đối chứng</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650" b="1">
                          <a:solidFill>
                            <a:srgbClr val="FFFFFF"/>
                          </a:solidFill>
                          <a:latin typeface="Arial"/>
                          <a:ea typeface="Arial"/>
                          <a:cs typeface="Arial"/>
                        </a:rPr>
                        <a:t>Khoảng thăm dò 95%</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650" b="1">
                          <a:solidFill>
                            <a:srgbClr val="FFFFFF"/>
                          </a:solidFill>
                          <a:latin typeface="Arial"/>
                          <a:ea typeface="Arial"/>
                          <a:cs typeface="Arial"/>
                        </a:rPr>
                        <a:t>Diễn giải</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489857">
                <a:tc>
                  <a:txBody>
                    <a:bodyPr wrap="square" lIns="95250" tIns="76200" rIns="95250" bIns="76200">
                      <a:noAutofit/>
                    </a:bodyPr>
                    <a:lstStyle/>
                    <a:p>
                      <a:pPr algn="l">
                        <a:buNone/>
                      </a:pPr>
                      <a:r>
                        <a:rPr sz="1650" b="0">
                          <a:solidFill>
                            <a:srgbClr val="1F2937"/>
                          </a:solidFill>
                          <a:latin typeface="Arial"/>
                          <a:ea typeface="Arial"/>
                          <a:cs typeface="Arial"/>
                        </a:rPr>
                        <a:t>FIFO</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650" b="0">
                          <a:solidFill>
                            <a:srgbClr val="1F2937"/>
                          </a:solidFill>
                          <a:latin typeface="Arial"/>
                          <a:ea typeface="Arial"/>
                          <a:cs typeface="Arial"/>
                        </a:rPr>
                        <a:t>-0,047498</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650" b="0">
                          <a:solidFill>
                            <a:srgbClr val="1F2937"/>
                          </a:solidFill>
                          <a:latin typeface="Arial"/>
                          <a:ea typeface="Arial"/>
                          <a:cs typeface="Arial"/>
                        </a:rPr>
                        <a:t>[-0,058400 ; -0,035926]</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650" b="0">
                          <a:solidFill>
                            <a:srgbClr val="1F2937"/>
                          </a:solidFill>
                          <a:latin typeface="Arial"/>
                          <a:ea typeface="Arial"/>
                          <a:cs typeface="Arial"/>
                        </a:rPr>
                        <a:t>Có tín hiệu PPO tốt hơn</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489857">
                <a:tc>
                  <a:txBody>
                    <a:bodyPr wrap="square" lIns="95250" tIns="76200" rIns="95250" bIns="76200">
                      <a:noAutofit/>
                    </a:bodyPr>
                    <a:lstStyle/>
                    <a:p>
                      <a:pPr algn="l">
                        <a:buNone/>
                      </a:pPr>
                      <a:r>
                        <a:rPr sz="1650" b="0">
                          <a:solidFill>
                            <a:srgbClr val="1F2937"/>
                          </a:solidFill>
                          <a:latin typeface="Arial"/>
                          <a:ea typeface="Arial"/>
                          <a:cs typeface="Arial"/>
                        </a:rPr>
                        <a:t>EDF</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650" b="0">
                          <a:solidFill>
                            <a:srgbClr val="1F2937"/>
                          </a:solidFill>
                          <a:latin typeface="Arial"/>
                          <a:ea typeface="Arial"/>
                          <a:cs typeface="Arial"/>
                        </a:rPr>
                        <a:t>0,008724</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650" b="0">
                          <a:solidFill>
                            <a:srgbClr val="1F2937"/>
                          </a:solidFill>
                          <a:latin typeface="Arial"/>
                          <a:ea typeface="Arial"/>
                          <a:cs typeface="Arial"/>
                        </a:rPr>
                        <a:t>[-0,000228 ; 0,018971]</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650" b="0">
                          <a:solidFill>
                            <a:srgbClr val="1F2937"/>
                          </a:solidFill>
                          <a:latin typeface="Arial"/>
                          <a:ea typeface="Arial"/>
                          <a:cs typeface="Arial"/>
                        </a:rPr>
                        <a:t>Khoảng còn chứa 0</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489857">
                <a:tc>
                  <a:txBody>
                    <a:bodyPr wrap="square" lIns="95250" tIns="76200" rIns="95250" bIns="76200">
                      <a:noAutofit/>
                    </a:bodyPr>
                    <a:lstStyle/>
                    <a:p>
                      <a:pPr algn="l">
                        <a:buNone/>
                      </a:pPr>
                      <a:r>
                        <a:rPr sz="1650" b="0">
                          <a:solidFill>
                            <a:srgbClr val="1F2937"/>
                          </a:solidFill>
                          <a:latin typeface="Arial"/>
                          <a:ea typeface="Arial"/>
                          <a:cs typeface="Arial"/>
                        </a:rPr>
                        <a:t>LLF</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650" b="0">
                          <a:solidFill>
                            <a:srgbClr val="1F2937"/>
                          </a:solidFill>
                          <a:latin typeface="Arial"/>
                          <a:ea typeface="Arial"/>
                          <a:cs typeface="Arial"/>
                        </a:rPr>
                        <a:t>-0,001027</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650" b="0">
                          <a:solidFill>
                            <a:srgbClr val="1F2937"/>
                          </a:solidFill>
                          <a:latin typeface="Arial"/>
                          <a:ea typeface="Arial"/>
                          <a:cs typeface="Arial"/>
                        </a:rPr>
                        <a:t>[-0,002438 ; 0,000176]</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650" b="0">
                          <a:solidFill>
                            <a:srgbClr val="1F2937"/>
                          </a:solidFill>
                          <a:latin typeface="Arial"/>
                          <a:ea typeface="Arial"/>
                          <a:cs typeface="Arial"/>
                        </a:rPr>
                        <a:t>Khoảng còn chứa 0</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489857">
                <a:tc>
                  <a:txBody>
                    <a:bodyPr wrap="square" lIns="95250" tIns="76200" rIns="95250" bIns="76200">
                      <a:noAutofit/>
                    </a:bodyPr>
                    <a:lstStyle/>
                    <a:p>
                      <a:pPr algn="l">
                        <a:buNone/>
                      </a:pPr>
                      <a:r>
                        <a:rPr sz="1650" b="0">
                          <a:solidFill>
                            <a:srgbClr val="1F2937"/>
                          </a:solidFill>
                          <a:latin typeface="Arial"/>
                          <a:ea typeface="Arial"/>
                          <a:cs typeface="Arial"/>
                        </a:rPr>
                        <a:t>Fixed100</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650" b="0">
                          <a:solidFill>
                            <a:srgbClr val="1F2937"/>
                          </a:solidFill>
                          <a:latin typeface="Arial"/>
                          <a:ea typeface="Arial"/>
                          <a:cs typeface="Arial"/>
                        </a:rPr>
                        <a:t>-0,006657</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650" b="0">
                          <a:solidFill>
                            <a:srgbClr val="1F2937"/>
                          </a:solidFill>
                          <a:latin typeface="Arial"/>
                          <a:ea typeface="Arial"/>
                          <a:cs typeface="Arial"/>
                        </a:rPr>
                        <a:t>[-0,009561 ; -0,003988]</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650" b="0">
                          <a:solidFill>
                            <a:srgbClr val="1F2937"/>
                          </a:solidFill>
                          <a:latin typeface="Arial"/>
                          <a:ea typeface="Arial"/>
                          <a:cs typeface="Arial"/>
                        </a:rPr>
                        <a:t>Có tín hiệu PPO tốt hơn</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489857">
                <a:tc>
                  <a:txBody>
                    <a:bodyPr wrap="square" lIns="95250" tIns="76200" rIns="95250" bIns="76200">
                      <a:noAutofit/>
                    </a:bodyPr>
                    <a:lstStyle/>
                    <a:p>
                      <a:pPr algn="l">
                        <a:buNone/>
                      </a:pPr>
                      <a:r>
                        <a:rPr sz="1650" b="0">
                          <a:solidFill>
                            <a:srgbClr val="1F2937"/>
                          </a:solidFill>
                          <a:latin typeface="Arial"/>
                          <a:ea typeface="Arial"/>
                          <a:cs typeface="Arial"/>
                        </a:rPr>
                        <a:t>Equal</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650" b="0">
                          <a:solidFill>
                            <a:srgbClr val="1F2937"/>
                          </a:solidFill>
                          <a:latin typeface="Arial"/>
                          <a:ea typeface="Arial"/>
                          <a:cs typeface="Arial"/>
                        </a:rPr>
                        <a:t>-0,003069</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650" b="0">
                          <a:solidFill>
                            <a:srgbClr val="1F2937"/>
                          </a:solidFill>
                          <a:latin typeface="Arial"/>
                          <a:ea typeface="Arial"/>
                          <a:cs typeface="Arial"/>
                        </a:rPr>
                        <a:t>[-0,013011 ; 0,008365]</a:t>
                      </a:r>
                    </a:p>
                  </a:txBody>
                  <a:tcPr marL="91440" marR="91440" marT="45720" marB="45720" anchor="ctr">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650" b="0">
                          <a:solidFill>
                            <a:srgbClr val="1F2937"/>
                          </a:solidFill>
                          <a:latin typeface="Arial"/>
                          <a:ea typeface="Arial"/>
                          <a:cs typeface="Arial"/>
                        </a:rPr>
                        <a:t>Khoảng còn chứa 0</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489857">
                <a:tc>
                  <a:txBody>
                    <a:bodyPr wrap="square" lIns="95250" tIns="76200" rIns="95250" bIns="76200">
                      <a:noAutofit/>
                    </a:bodyPr>
                    <a:lstStyle/>
                    <a:p>
                      <a:pPr algn="l">
                        <a:buNone/>
                      </a:pPr>
                      <a:r>
                        <a:rPr sz="1650" b="0">
                          <a:solidFill>
                            <a:srgbClr val="1F2937"/>
                          </a:solidFill>
                          <a:latin typeface="Arial"/>
                          <a:ea typeface="Arial"/>
                          <a:cs typeface="Arial"/>
                        </a:rPr>
                        <a:t>AverageRate</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650" b="0">
                          <a:solidFill>
                            <a:srgbClr val="1F2937"/>
                          </a:solidFill>
                          <a:latin typeface="Arial"/>
                          <a:ea typeface="Arial"/>
                          <a:cs typeface="Arial"/>
                        </a:rPr>
                        <a:t>-0,811211</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650" b="0">
                          <a:solidFill>
                            <a:srgbClr val="1F2937"/>
                          </a:solidFill>
                          <a:latin typeface="Arial"/>
                          <a:ea typeface="Arial"/>
                          <a:cs typeface="Arial"/>
                        </a:rPr>
                        <a:t>[-0,881778 ; -0,739768]</a:t>
                      </a:r>
                    </a:p>
                  </a:txBody>
                  <a:tcPr marL="91440" marR="91440" marT="45720" marB="45720" anchor="ctr">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650" b="0">
                          <a:solidFill>
                            <a:srgbClr val="1F2937"/>
                          </a:solidFill>
                          <a:latin typeface="Arial"/>
                          <a:ea typeface="Arial"/>
                          <a:cs typeface="Arial"/>
                        </a:rPr>
                        <a:t>Có tín hiệu PPO tốt hơn</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bl>
          </a:graphicData>
        </a:graphic>
      </p:graphicFrame>
      <p:sp>
        <p:nvSpPr>
          <p:cNvPr id="27" name="takeaway">
            <a:extLst xmlns:a="http://schemas.openxmlformats.org/drawingml/2006/main">
              <a:ext uri="{FF2B5EF4-FFF2-40B4-BE49-F238E27FC236}">
                <a16:creationId xmlns:a16="http://schemas.microsoft.com/office/drawing/2014/main" id="{0EA1D8A1-B415-42D5-B1F5-9BF1ECB61370}"/>
              </a:ext>
            </a:extLst>
          </p:cNvPr>
          <p:cNvSpPr>
            <a:spLocks xmlns:a="http://schemas.openxmlformats.org/drawingml/2006/main" noGrp="1"/>
          </p:cNvSpPr>
          <p:nvPr/>
        </p:nvSpPr>
        <p:spPr>
          <a:xfrm xmlns:a="http://schemas.openxmlformats.org/drawingml/2006/main">
            <a:off x="609600" y="56769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59E42"/>
                </a:solidFill>
                <a:latin typeface="Arial"/>
                <a:ea typeface="Arial"/>
                <a:cs typeface="Arial"/>
              </a:defRPr>
            </a:defPPr>
            <a:lvl1pPr algn="l">
              <a:buNone/>
              <a:defRPr sz="2175" b="1">
                <a:solidFill>
                  <a:srgbClr val="F59E42"/>
                </a:solidFill>
                <a:latin typeface="Arial"/>
                <a:ea typeface="Arial"/>
                <a:cs typeface="Arial"/>
              </a:defRPr>
            </a:lvl1pPr>
            <a:lvl2pPr algn="l">
              <a:buNone/>
              <a:defRPr sz="2175" b="1">
                <a:solidFill>
                  <a:srgbClr val="F59E42"/>
                </a:solidFill>
                <a:latin typeface="Arial"/>
                <a:ea typeface="Arial"/>
                <a:cs typeface="Arial"/>
              </a:defRPr>
            </a:lvl2pPr>
            <a:lvl3pPr algn="l">
              <a:buNone/>
              <a:defRPr sz="2175" b="1">
                <a:solidFill>
                  <a:srgbClr val="F59E42"/>
                </a:solidFill>
                <a:latin typeface="Arial"/>
                <a:ea typeface="Arial"/>
                <a:cs typeface="Arial"/>
              </a:defRPr>
            </a:lvl3pPr>
            <a:lvl4pPr algn="l">
              <a:buNone/>
              <a:defRPr sz="2175" b="1">
                <a:solidFill>
                  <a:srgbClr val="F59E42"/>
                </a:solidFill>
                <a:latin typeface="Arial"/>
                <a:ea typeface="Arial"/>
                <a:cs typeface="Arial"/>
              </a:defRPr>
            </a:lvl4pPr>
            <a:lvl5pPr algn="l">
              <a:buNone/>
              <a:defRPr sz="2175" b="1">
                <a:solidFill>
                  <a:srgbClr val="F59E42"/>
                </a:solidFill>
                <a:latin typeface="Arial"/>
                <a:ea typeface="Arial"/>
                <a:cs typeface="Arial"/>
              </a:defRPr>
            </a:lvl5pPr>
            <a:lvl6pPr algn="l">
              <a:buNone/>
              <a:defRPr sz="2175" b="1">
                <a:solidFill>
                  <a:srgbClr val="F59E42"/>
                </a:solidFill>
                <a:latin typeface="Arial"/>
                <a:ea typeface="Arial"/>
                <a:cs typeface="Arial"/>
              </a:defRPr>
            </a:lvl6pPr>
            <a:lvl7pPr algn="l">
              <a:buNone/>
              <a:defRPr sz="2175" b="1">
                <a:solidFill>
                  <a:srgbClr val="F59E42"/>
                </a:solidFill>
                <a:latin typeface="Arial"/>
                <a:ea typeface="Arial"/>
                <a:cs typeface="Arial"/>
              </a:defRPr>
            </a:lvl7pPr>
            <a:lvl8pPr algn="l">
              <a:buNone/>
              <a:defRPr sz="2175" b="1">
                <a:solidFill>
                  <a:srgbClr val="F59E42"/>
                </a:solidFill>
                <a:latin typeface="Arial"/>
                <a:ea typeface="Arial"/>
                <a:cs typeface="Arial"/>
              </a:defRPr>
            </a:lvl8pPr>
            <a:lvl9pPr algn="l">
              <a:buNone/>
              <a:defRPr sz="2175" b="1">
                <a:solidFill>
                  <a:srgbClr val="F59E42"/>
                </a:solidFill>
                <a:latin typeface="Arial"/>
                <a:ea typeface="Arial"/>
                <a:cs typeface="Arial"/>
              </a:defRPr>
            </a:lvl9pPr>
          </a:lstStyle>
          <a:p xmlns:a="http://schemas.openxmlformats.org/drawingml/2006/main">
            <a:pPr algn="l">
              <a:buNone/>
              <a:defRPr sz="2175" b="1">
                <a:solidFill>
                  <a:srgbClr val="F59E42"/>
                </a:solidFill>
                <a:latin typeface="Arial"/>
                <a:ea typeface="Arial"/>
                <a:cs typeface="Arial"/>
              </a:defRPr>
            </a:pPr>
            <a:r>
              <a:rPr sz="2175" b="1">
                <a:solidFill>
                  <a:srgbClr val="F59E42"/>
                </a:solidFill>
                <a:latin typeface="Arial"/>
                <a:ea typeface="Arial"/>
                <a:cs typeface="Arial"/>
              </a:rPr>
              <a:t>Chưa đủ bằng chứng PPO vượt EDF hoặc LLF theo J</a:t>
            </a:r>
          </a:p>
        </p:txBody>
      </p:sp>
    </p:spTree>
    <p:extLst>
      <p:ext uri="{BB962C8B-B14F-4D97-AF65-F5344CB8AC3E}">
        <p14:creationId xmlns:p14="http://schemas.microsoft.com/office/powerpoint/2010/main" val="10514329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Tổng tải ngày 25/11/2019</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20</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pic>
        <p:nvPicPr>
          <p:cNvPr id="15" name="">
            <a:extLst xmlns:a="http://schemas.openxmlformats.org/drawingml/2006/main">
              <a:ext uri="{FF2B5EF4-FFF2-40B4-BE49-F238E27FC236}">
                <a16:creationId xmlns:a16="http://schemas.microsoft.com/office/drawing/2014/main" id="{46A59649-5AF6-4110-A36D-28BB005E6E4E}"/>
              </a:ext>
            </a:extLst>
          </p:cNvPr>
          <p:cNvPicPr>
            <a:picLocks xmlns:a="http://schemas.openxmlformats.org/drawingml/2006/main" noChangeAspect="1"/>
          </p:cNvPicPr>
          <p:nvPr/>
        </p:nvPicPr>
        <p:blipFill>
          <a:blip xmlns:r="http://schemas.openxmlformats.org/officeDocument/2006/relationships" xmlns:a="http://schemas.openxmlformats.org/drawingml/2006/main" r:embed="Rb935b3e175b04713"/>
          <a:srcRect xmlns:a="http://schemas.openxmlformats.org/drawingml/2006/main" l="0" t="0" r="0" b="50000"/>
          <a:stretch xmlns:a="http://schemas.openxmlformats.org/drawingml/2006/main"/>
        </p:blipFill>
        <p:spPr>
          <a:xfrm xmlns:a="http://schemas.openxmlformats.org/drawingml/2006/main">
            <a:off x="476250" y="1190625"/>
            <a:ext cx="11239500" cy="3714750"/>
          </a:xfrm>
          <a:prstGeom xmlns:a="http://schemas.openxmlformats.org/drawingml/2006/main" prst="rect">
            <a:avLst/>
          </a:prstGeom>
        </p:spPr>
      </p:pic>
      <p:sp>
        <p:nvSpPr>
          <p:cNvPr id="16" name="takeaway">
            <a:extLst xmlns:a="http://schemas.openxmlformats.org/drawingml/2006/main">
              <a:ext uri="{FF2B5EF4-FFF2-40B4-BE49-F238E27FC236}">
                <a16:creationId xmlns:a16="http://schemas.microsoft.com/office/drawing/2014/main" id="{5123962C-36AB-46EE-A92D-ACBBFFEE856F}"/>
              </a:ext>
            </a:extLst>
          </p:cNvPr>
          <p:cNvSpPr>
            <a:spLocks xmlns:a="http://schemas.openxmlformats.org/drawingml/2006/main" noGrp="1"/>
          </p:cNvSpPr>
          <p:nvPr/>
        </p:nvSpPr>
        <p:spPr>
          <a:xfrm xmlns:a="http://schemas.openxmlformats.org/drawingml/2006/main">
            <a:off x="609600" y="5362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696C5"/>
                </a:solidFill>
                <a:latin typeface="Arial"/>
                <a:ea typeface="Arial"/>
                <a:cs typeface="Arial"/>
              </a:defRPr>
            </a:defPPr>
            <a:lvl1pPr algn="l">
              <a:buNone/>
              <a:defRPr sz="2175" b="1">
                <a:solidFill>
                  <a:srgbClr val="2696C5"/>
                </a:solidFill>
                <a:latin typeface="Arial"/>
                <a:ea typeface="Arial"/>
                <a:cs typeface="Arial"/>
              </a:defRPr>
            </a:lvl1pPr>
            <a:lvl2pPr algn="l">
              <a:buNone/>
              <a:defRPr sz="2175" b="1">
                <a:solidFill>
                  <a:srgbClr val="2696C5"/>
                </a:solidFill>
                <a:latin typeface="Arial"/>
                <a:ea typeface="Arial"/>
                <a:cs typeface="Arial"/>
              </a:defRPr>
            </a:lvl2pPr>
            <a:lvl3pPr algn="l">
              <a:buNone/>
              <a:defRPr sz="2175" b="1">
                <a:solidFill>
                  <a:srgbClr val="2696C5"/>
                </a:solidFill>
                <a:latin typeface="Arial"/>
                <a:ea typeface="Arial"/>
                <a:cs typeface="Arial"/>
              </a:defRPr>
            </a:lvl3pPr>
            <a:lvl4pPr algn="l">
              <a:buNone/>
              <a:defRPr sz="2175" b="1">
                <a:solidFill>
                  <a:srgbClr val="2696C5"/>
                </a:solidFill>
                <a:latin typeface="Arial"/>
                <a:ea typeface="Arial"/>
                <a:cs typeface="Arial"/>
              </a:defRPr>
            </a:lvl4pPr>
            <a:lvl5pPr algn="l">
              <a:buNone/>
              <a:defRPr sz="2175" b="1">
                <a:solidFill>
                  <a:srgbClr val="2696C5"/>
                </a:solidFill>
                <a:latin typeface="Arial"/>
                <a:ea typeface="Arial"/>
                <a:cs typeface="Arial"/>
              </a:defRPr>
            </a:lvl5pPr>
            <a:lvl6pPr algn="l">
              <a:buNone/>
              <a:defRPr sz="2175" b="1">
                <a:solidFill>
                  <a:srgbClr val="2696C5"/>
                </a:solidFill>
                <a:latin typeface="Arial"/>
                <a:ea typeface="Arial"/>
                <a:cs typeface="Arial"/>
              </a:defRPr>
            </a:lvl6pPr>
            <a:lvl7pPr algn="l">
              <a:buNone/>
              <a:defRPr sz="2175" b="1">
                <a:solidFill>
                  <a:srgbClr val="2696C5"/>
                </a:solidFill>
                <a:latin typeface="Arial"/>
                <a:ea typeface="Arial"/>
                <a:cs typeface="Arial"/>
              </a:defRPr>
            </a:lvl7pPr>
            <a:lvl8pPr algn="l">
              <a:buNone/>
              <a:defRPr sz="2175" b="1">
                <a:solidFill>
                  <a:srgbClr val="2696C5"/>
                </a:solidFill>
                <a:latin typeface="Arial"/>
                <a:ea typeface="Arial"/>
                <a:cs typeface="Arial"/>
              </a:defRPr>
            </a:lvl8pPr>
            <a:lvl9pPr algn="l">
              <a:buNone/>
              <a:defRPr sz="2175" b="1">
                <a:solidFill>
                  <a:srgbClr val="2696C5"/>
                </a:solidFill>
                <a:latin typeface="Arial"/>
                <a:ea typeface="Arial"/>
                <a:cs typeface="Arial"/>
              </a:defRPr>
            </a:lvl9pPr>
          </a:lstStyle>
          <a:p xmlns:a="http://schemas.openxmlformats.org/drawingml/2006/main">
            <a:pPr algn="l">
              <a:buNone/>
              <a:defRPr sz="2175" b="1">
                <a:solidFill>
                  <a:srgbClr val="2696C5"/>
                </a:solidFill>
                <a:latin typeface="Arial"/>
                <a:ea typeface="Arial"/>
                <a:cs typeface="Arial"/>
              </a:defRPr>
            </a:pPr>
            <a:r>
              <a:rPr sz="2175" b="1">
                <a:solidFill>
                  <a:srgbClr val="2696C5"/>
                </a:solidFill>
                <a:latin typeface="Arial"/>
                <a:ea typeface="Arial"/>
                <a:cs typeface="Arial"/>
              </a:rPr>
              <a:t>PPO và LLF gần trùng nhau. Tổng tải còn xa trần 150 kW.</a:t>
            </a:r>
          </a:p>
        </p:txBody>
      </p:sp>
      <p:sp>
        <p:nvSpPr>
          <p:cNvPr id="17" name="day-choice">
            <a:extLst xmlns:a="http://schemas.openxmlformats.org/drawingml/2006/main">
              <a:ext uri="{FF2B5EF4-FFF2-40B4-BE49-F238E27FC236}">
                <a16:creationId xmlns:a16="http://schemas.microsoft.com/office/drawing/2014/main" id="{671A641E-8F50-418F-82AC-694FC22E16C3}"/>
              </a:ext>
            </a:extLst>
          </p:cNvPr>
          <p:cNvSpPr>
            <a:spLocks xmlns:a="http://schemas.openxmlformats.org/drawingml/2006/main" noGrp="1"/>
          </p:cNvSpPr>
          <p:nvPr/>
        </p:nvSpPr>
        <p:spPr>
          <a:xfrm xmlns:a="http://schemas.openxmlformats.org/drawingml/2006/main">
            <a:off x="609600" y="601027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E6B7A"/>
                </a:solidFill>
                <a:latin typeface="Arial"/>
                <a:ea typeface="Arial"/>
                <a:cs typeface="Arial"/>
              </a:defRPr>
            </a:defPPr>
            <a:lvl1pPr algn="l">
              <a:buNone/>
              <a:defRPr sz="1725" b="0">
                <a:solidFill>
                  <a:srgbClr val="5E6B7A"/>
                </a:solidFill>
                <a:latin typeface="Arial"/>
                <a:ea typeface="Arial"/>
                <a:cs typeface="Arial"/>
              </a:defRPr>
            </a:lvl1pPr>
            <a:lvl2pPr algn="l">
              <a:buNone/>
              <a:defRPr sz="1725" b="0">
                <a:solidFill>
                  <a:srgbClr val="5E6B7A"/>
                </a:solidFill>
                <a:latin typeface="Arial"/>
                <a:ea typeface="Arial"/>
                <a:cs typeface="Arial"/>
              </a:defRPr>
            </a:lvl2pPr>
            <a:lvl3pPr algn="l">
              <a:buNone/>
              <a:defRPr sz="1725" b="0">
                <a:solidFill>
                  <a:srgbClr val="5E6B7A"/>
                </a:solidFill>
                <a:latin typeface="Arial"/>
                <a:ea typeface="Arial"/>
                <a:cs typeface="Arial"/>
              </a:defRPr>
            </a:lvl3pPr>
            <a:lvl4pPr algn="l">
              <a:buNone/>
              <a:defRPr sz="1725" b="0">
                <a:solidFill>
                  <a:srgbClr val="5E6B7A"/>
                </a:solidFill>
                <a:latin typeface="Arial"/>
                <a:ea typeface="Arial"/>
                <a:cs typeface="Arial"/>
              </a:defRPr>
            </a:lvl4pPr>
            <a:lvl5pPr algn="l">
              <a:buNone/>
              <a:defRPr sz="1725" b="0">
                <a:solidFill>
                  <a:srgbClr val="5E6B7A"/>
                </a:solidFill>
                <a:latin typeface="Arial"/>
                <a:ea typeface="Arial"/>
                <a:cs typeface="Arial"/>
              </a:defRPr>
            </a:lvl5pPr>
            <a:lvl6pPr algn="l">
              <a:buNone/>
              <a:defRPr sz="1725" b="0">
                <a:solidFill>
                  <a:srgbClr val="5E6B7A"/>
                </a:solidFill>
                <a:latin typeface="Arial"/>
                <a:ea typeface="Arial"/>
                <a:cs typeface="Arial"/>
              </a:defRPr>
            </a:lvl6pPr>
            <a:lvl7pPr algn="l">
              <a:buNone/>
              <a:defRPr sz="1725" b="0">
                <a:solidFill>
                  <a:srgbClr val="5E6B7A"/>
                </a:solidFill>
                <a:latin typeface="Arial"/>
                <a:ea typeface="Arial"/>
                <a:cs typeface="Arial"/>
              </a:defRPr>
            </a:lvl7pPr>
            <a:lvl8pPr algn="l">
              <a:buNone/>
              <a:defRPr sz="1725" b="0">
                <a:solidFill>
                  <a:srgbClr val="5E6B7A"/>
                </a:solidFill>
                <a:latin typeface="Arial"/>
                <a:ea typeface="Arial"/>
                <a:cs typeface="Arial"/>
              </a:defRPr>
            </a:lvl8pPr>
            <a:lvl9pPr algn="l">
              <a:buNone/>
              <a:defRPr sz="1725" b="0">
                <a:solidFill>
                  <a:srgbClr val="5E6B7A"/>
                </a:solidFill>
                <a:latin typeface="Arial"/>
                <a:ea typeface="Arial"/>
                <a:cs typeface="Arial"/>
              </a:defRPr>
            </a:lvl9pPr>
          </a:lstStyle>
          <a:p xmlns:a="http://schemas.openxmlformats.org/drawingml/2006/main">
            <a:pPr algn="l">
              <a:buNone/>
              <a:defRPr sz="1725" b="0">
                <a:solidFill>
                  <a:srgbClr val="5E6B7A"/>
                </a:solidFill>
                <a:latin typeface="Arial"/>
                <a:ea typeface="Arial"/>
                <a:cs typeface="Arial"/>
              </a:defRPr>
            </a:pPr>
            <a:r>
              <a:rPr sz="1725" b="0">
                <a:solidFill>
                  <a:srgbClr val="5E6B7A"/>
                </a:solidFill>
                <a:latin typeface="Arial"/>
                <a:ea typeface="Arial"/>
                <a:cs typeface="Arial"/>
              </a:rPr>
              <a:t>25 phiên, PPO seed 42. Ngày được chọn theo nhu cầu gần trung vị.</a:t>
            </a:r>
          </a:p>
        </p:txBody>
      </p:sp>
    </p:spTree>
    <p:extLst>
      <p:ext uri="{BB962C8B-B14F-4D97-AF65-F5344CB8AC3E}">
        <p14:creationId xmlns:p14="http://schemas.microsoft.com/office/powerpoint/2010/main" val="161687690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Giới hạn cục bộ của hai nhóm cổng</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21</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pic>
        <p:nvPicPr>
          <p:cNvPr id="15" name="">
            <a:extLst xmlns:a="http://schemas.openxmlformats.org/drawingml/2006/main">
              <a:ext uri="{FF2B5EF4-FFF2-40B4-BE49-F238E27FC236}">
                <a16:creationId xmlns:a16="http://schemas.microsoft.com/office/drawing/2014/main" id="{BDA06A16-4DD7-45A5-B98A-8A1535CCD3E3}"/>
              </a:ext>
            </a:extLst>
          </p:cNvPr>
          <p:cNvPicPr>
            <a:picLocks xmlns:a="http://schemas.openxmlformats.org/drawingml/2006/main" noChangeAspect="1"/>
          </p:cNvPicPr>
          <p:nvPr/>
        </p:nvPicPr>
        <p:blipFill>
          <a:blip xmlns:r="http://schemas.openxmlformats.org/officeDocument/2006/relationships" xmlns:a="http://schemas.openxmlformats.org/drawingml/2006/main" r:embed="Re31a832260314398"/>
          <a:srcRect xmlns:a="http://schemas.openxmlformats.org/drawingml/2006/main" l="0" t="50000" r="0" b="0"/>
          <a:stretch xmlns:a="http://schemas.openxmlformats.org/drawingml/2006/main"/>
        </p:blipFill>
        <p:spPr>
          <a:xfrm xmlns:a="http://schemas.openxmlformats.org/drawingml/2006/main">
            <a:off x="476250" y="1181100"/>
            <a:ext cx="11239500" cy="3857625"/>
          </a:xfrm>
          <a:prstGeom xmlns:a="http://schemas.openxmlformats.org/drawingml/2006/main" prst="rect">
            <a:avLst/>
          </a:prstGeom>
        </p:spPr>
      </p:pic>
      <p:sp>
        <p:nvSpPr>
          <p:cNvPr id="16" name="takeaway">
            <a:extLst xmlns:a="http://schemas.openxmlformats.org/drawingml/2006/main">
              <a:ext uri="{FF2B5EF4-FFF2-40B4-BE49-F238E27FC236}">
                <a16:creationId xmlns:a16="http://schemas.microsoft.com/office/drawing/2014/main" id="{A650E950-8086-4FB4-AC3A-C4B273A2A011}"/>
              </a:ext>
            </a:extLst>
          </p:cNvPr>
          <p:cNvSpPr>
            <a:spLocks xmlns:a="http://schemas.openxmlformats.org/drawingml/2006/main" noGrp="1"/>
          </p:cNvSpPr>
          <p:nvPr/>
        </p:nvSpPr>
        <p:spPr>
          <a:xfrm xmlns:a="http://schemas.openxmlformats.org/drawingml/2006/main">
            <a:off x="609600" y="53435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59E42"/>
                </a:solidFill>
                <a:latin typeface="Arial"/>
                <a:ea typeface="Arial"/>
                <a:cs typeface="Arial"/>
              </a:defRPr>
            </a:defPPr>
            <a:lvl1pPr algn="l">
              <a:buNone/>
              <a:defRPr sz="2175" b="1">
                <a:solidFill>
                  <a:srgbClr val="F59E42"/>
                </a:solidFill>
                <a:latin typeface="Arial"/>
                <a:ea typeface="Arial"/>
                <a:cs typeface="Arial"/>
              </a:defRPr>
            </a:lvl1pPr>
            <a:lvl2pPr algn="l">
              <a:buNone/>
              <a:defRPr sz="2175" b="1">
                <a:solidFill>
                  <a:srgbClr val="F59E42"/>
                </a:solidFill>
                <a:latin typeface="Arial"/>
                <a:ea typeface="Arial"/>
                <a:cs typeface="Arial"/>
              </a:defRPr>
            </a:lvl2pPr>
            <a:lvl3pPr algn="l">
              <a:buNone/>
              <a:defRPr sz="2175" b="1">
                <a:solidFill>
                  <a:srgbClr val="F59E42"/>
                </a:solidFill>
                <a:latin typeface="Arial"/>
                <a:ea typeface="Arial"/>
                <a:cs typeface="Arial"/>
              </a:defRPr>
            </a:lvl3pPr>
            <a:lvl4pPr algn="l">
              <a:buNone/>
              <a:defRPr sz="2175" b="1">
                <a:solidFill>
                  <a:srgbClr val="F59E42"/>
                </a:solidFill>
                <a:latin typeface="Arial"/>
                <a:ea typeface="Arial"/>
                <a:cs typeface="Arial"/>
              </a:defRPr>
            </a:lvl4pPr>
            <a:lvl5pPr algn="l">
              <a:buNone/>
              <a:defRPr sz="2175" b="1">
                <a:solidFill>
                  <a:srgbClr val="F59E42"/>
                </a:solidFill>
                <a:latin typeface="Arial"/>
                <a:ea typeface="Arial"/>
                <a:cs typeface="Arial"/>
              </a:defRPr>
            </a:lvl5pPr>
            <a:lvl6pPr algn="l">
              <a:buNone/>
              <a:defRPr sz="2175" b="1">
                <a:solidFill>
                  <a:srgbClr val="F59E42"/>
                </a:solidFill>
                <a:latin typeface="Arial"/>
                <a:ea typeface="Arial"/>
                <a:cs typeface="Arial"/>
              </a:defRPr>
            </a:lvl6pPr>
            <a:lvl7pPr algn="l">
              <a:buNone/>
              <a:defRPr sz="2175" b="1">
                <a:solidFill>
                  <a:srgbClr val="F59E42"/>
                </a:solidFill>
                <a:latin typeface="Arial"/>
                <a:ea typeface="Arial"/>
                <a:cs typeface="Arial"/>
              </a:defRPr>
            </a:lvl7pPr>
            <a:lvl8pPr algn="l">
              <a:buNone/>
              <a:defRPr sz="2175" b="1">
                <a:solidFill>
                  <a:srgbClr val="F59E42"/>
                </a:solidFill>
                <a:latin typeface="Arial"/>
                <a:ea typeface="Arial"/>
                <a:cs typeface="Arial"/>
              </a:defRPr>
            </a:lvl8pPr>
            <a:lvl9pPr algn="l">
              <a:buNone/>
              <a:defRPr sz="2175" b="1">
                <a:solidFill>
                  <a:srgbClr val="F59E42"/>
                </a:solidFill>
                <a:latin typeface="Arial"/>
                <a:ea typeface="Arial"/>
                <a:cs typeface="Arial"/>
              </a:defRPr>
            </a:lvl9pPr>
          </a:lstStyle>
          <a:p xmlns:a="http://schemas.openxmlformats.org/drawingml/2006/main">
            <a:pPr algn="l">
              <a:buNone/>
              <a:defRPr sz="2175" b="1">
                <a:solidFill>
                  <a:srgbClr val="F59E42"/>
                </a:solidFill>
                <a:latin typeface="Arial"/>
                <a:ea typeface="Arial"/>
                <a:cs typeface="Arial"/>
              </a:defRPr>
            </a:pPr>
            <a:r>
              <a:rPr sz="2175" b="1">
                <a:solidFill>
                  <a:srgbClr val="F59E42"/>
                </a:solidFill>
                <a:latin typeface="Arial"/>
                <a:ea typeface="Arial"/>
                <a:cs typeface="Arial"/>
              </a:rPr>
              <a:t>Một pod đã chạm 16,64 kW dù tổng trạm còn dư công suất</a:t>
            </a:r>
          </a:p>
        </p:txBody>
      </p:sp>
      <p:sp>
        <p:nvSpPr>
          <p:cNvPr id="17" name="pod-meaning">
            <a:extLst xmlns:a="http://schemas.openxmlformats.org/drawingml/2006/main">
              <a:ext uri="{FF2B5EF4-FFF2-40B4-BE49-F238E27FC236}">
                <a16:creationId xmlns:a16="http://schemas.microsoft.com/office/drawing/2014/main" id="{6D4F2B8A-6CB7-46F1-9F39-B6D33A5246E9}"/>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E6B7A"/>
                </a:solidFill>
                <a:latin typeface="Arial"/>
                <a:ea typeface="Arial"/>
                <a:cs typeface="Arial"/>
              </a:defRPr>
            </a:defPPr>
            <a:lvl1pPr algn="l">
              <a:buNone/>
              <a:defRPr sz="1800" b="0">
                <a:solidFill>
                  <a:srgbClr val="5E6B7A"/>
                </a:solidFill>
                <a:latin typeface="Arial"/>
                <a:ea typeface="Arial"/>
                <a:cs typeface="Arial"/>
              </a:defRPr>
            </a:lvl1pPr>
            <a:lvl2pPr algn="l">
              <a:buNone/>
              <a:defRPr sz="1800" b="0">
                <a:solidFill>
                  <a:srgbClr val="5E6B7A"/>
                </a:solidFill>
                <a:latin typeface="Arial"/>
                <a:ea typeface="Arial"/>
                <a:cs typeface="Arial"/>
              </a:defRPr>
            </a:lvl2pPr>
            <a:lvl3pPr algn="l">
              <a:buNone/>
              <a:defRPr sz="1800" b="0">
                <a:solidFill>
                  <a:srgbClr val="5E6B7A"/>
                </a:solidFill>
                <a:latin typeface="Arial"/>
                <a:ea typeface="Arial"/>
                <a:cs typeface="Arial"/>
              </a:defRPr>
            </a:lvl3pPr>
            <a:lvl4pPr algn="l">
              <a:buNone/>
              <a:defRPr sz="1800" b="0">
                <a:solidFill>
                  <a:srgbClr val="5E6B7A"/>
                </a:solidFill>
                <a:latin typeface="Arial"/>
                <a:ea typeface="Arial"/>
                <a:cs typeface="Arial"/>
              </a:defRPr>
            </a:lvl4pPr>
            <a:lvl5pPr algn="l">
              <a:buNone/>
              <a:defRPr sz="1800" b="0">
                <a:solidFill>
                  <a:srgbClr val="5E6B7A"/>
                </a:solidFill>
                <a:latin typeface="Arial"/>
                <a:ea typeface="Arial"/>
                <a:cs typeface="Arial"/>
              </a:defRPr>
            </a:lvl5pPr>
            <a:lvl6pPr algn="l">
              <a:buNone/>
              <a:defRPr sz="1800" b="0">
                <a:solidFill>
                  <a:srgbClr val="5E6B7A"/>
                </a:solidFill>
                <a:latin typeface="Arial"/>
                <a:ea typeface="Arial"/>
                <a:cs typeface="Arial"/>
              </a:defRPr>
            </a:lvl6pPr>
            <a:lvl7pPr algn="l">
              <a:buNone/>
              <a:defRPr sz="1800" b="0">
                <a:solidFill>
                  <a:srgbClr val="5E6B7A"/>
                </a:solidFill>
                <a:latin typeface="Arial"/>
                <a:ea typeface="Arial"/>
                <a:cs typeface="Arial"/>
              </a:defRPr>
            </a:lvl7pPr>
            <a:lvl8pPr algn="l">
              <a:buNone/>
              <a:defRPr sz="1800" b="0">
                <a:solidFill>
                  <a:srgbClr val="5E6B7A"/>
                </a:solidFill>
                <a:latin typeface="Arial"/>
                <a:ea typeface="Arial"/>
                <a:cs typeface="Arial"/>
              </a:defRPr>
            </a:lvl8pPr>
            <a:lvl9pPr algn="l">
              <a:buNone/>
              <a:defRPr sz="1800" b="0">
                <a:solidFill>
                  <a:srgbClr val="5E6B7A"/>
                </a:solidFill>
                <a:latin typeface="Arial"/>
                <a:ea typeface="Arial"/>
                <a:cs typeface="Arial"/>
              </a:defRPr>
            </a:lvl9pPr>
          </a:lstStyle>
          <a:p xmlns:a="http://schemas.openxmlformats.org/drawingml/2006/main">
            <a:pPr algn="l">
              <a:buNone/>
              <a:defRPr sz="1800" b="0">
                <a:solidFill>
                  <a:srgbClr val="5E6B7A"/>
                </a:solidFill>
                <a:latin typeface="Arial"/>
                <a:ea typeface="Arial"/>
                <a:cs typeface="Arial"/>
              </a:defRPr>
            </a:pPr>
            <a:r>
              <a:rPr sz="1800" b="0">
                <a:solidFill>
                  <a:srgbClr val="5E6B7A"/>
                </a:solidFill>
                <a:latin typeface="Arial"/>
                <a:ea typeface="Arial"/>
                <a:cs typeface="Arial"/>
              </a:rPr>
              <a:t>Tăng công suất tổng chưa chắc giúp xe trong nhóm đã đầy nhận thêm điện.</a:t>
            </a:r>
          </a:p>
        </p:txBody>
      </p:sp>
    </p:spTree>
    <p:extLst>
      <p:ext uri="{BB962C8B-B14F-4D97-AF65-F5344CB8AC3E}">
        <p14:creationId xmlns:p14="http://schemas.microsoft.com/office/powerpoint/2010/main" val="161687690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C553016E-7862-41BB-80A6-859A1D483735}"/>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DEB1022-E26C-446A-B763-B36BAB443C25}"/>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Phân tích lượng điện thiếu khó tránh</a:t>
            </a:r>
          </a:p>
        </p:txBody>
      </p:sp>
      <p:sp>
        <p:nvSpPr>
          <p:cNvPr id="3" name="Rectangle 2">
            <a:extLst xmlns:a="http://schemas.openxmlformats.org/drawingml/2006/main">
              <a:ext uri="{FF2B5EF4-FFF2-40B4-BE49-F238E27FC236}">
                <a16:creationId xmlns:a16="http://schemas.microsoft.com/office/drawing/2014/main" id="{1E95366E-C701-4875-B9E0-70E5357A9985}"/>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22</a:t>
            </a:r>
          </a:p>
        </p:txBody>
      </p:sp>
      <p:sp>
        <p:nvSpPr>
          <p:cNvPr id="12" name="Rectangle 11">
            <a:extLst xmlns:a="http://schemas.openxmlformats.org/drawingml/2006/main">
              <a:ext uri="{FF2B5EF4-FFF2-40B4-BE49-F238E27FC236}">
                <a16:creationId xmlns:a16="http://schemas.microsoft.com/office/drawing/2014/main" id="{B2A175C0-470E-4526-8AD8-C5BD6B613760}"/>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sp>
        <p:nvSpPr>
          <p:cNvPr id="14" name="bound-formula">
            <a:extLst xmlns:a="http://schemas.openxmlformats.org/drawingml/2006/main">
              <a:ext uri="{FF2B5EF4-FFF2-40B4-BE49-F238E27FC236}">
                <a16:creationId xmlns:a16="http://schemas.microsoft.com/office/drawing/2014/main" id="{C0CCFAA1-40AC-460E-8194-C20D1CE1F97F}"/>
              </a:ext>
            </a:extLst>
          </p:cNvPr>
          <p:cNvSpPr>
            <a:spLocks xmlns:a="http://schemas.openxmlformats.org/drawingml/2006/main" noGrp="1"/>
          </p:cNvSpPr>
          <p:nvPr/>
        </p:nvSpPr>
        <p:spPr>
          <a:xfrm xmlns:a="http://schemas.openxmlformats.org/drawingml/2006/main">
            <a:off x="609600" y="11144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D4B"/>
                </a:solidFill>
                <a:latin typeface="Arial"/>
                <a:ea typeface="Arial"/>
                <a:cs typeface="Arial"/>
              </a:defRPr>
            </a:defPPr>
            <a:lvl1pPr algn="l">
              <a:buNone/>
              <a:defRPr sz="2175" b="1">
                <a:solidFill>
                  <a:srgbClr val="182D4B"/>
                </a:solidFill>
                <a:latin typeface="Arial"/>
                <a:ea typeface="Arial"/>
                <a:cs typeface="Arial"/>
              </a:defRPr>
            </a:lvl1pPr>
            <a:lvl2pPr algn="l">
              <a:buNone/>
              <a:defRPr sz="2175" b="1">
                <a:solidFill>
                  <a:srgbClr val="182D4B"/>
                </a:solidFill>
                <a:latin typeface="Arial"/>
                <a:ea typeface="Arial"/>
                <a:cs typeface="Arial"/>
              </a:defRPr>
            </a:lvl2pPr>
            <a:lvl3pPr algn="l">
              <a:buNone/>
              <a:defRPr sz="2175" b="1">
                <a:solidFill>
                  <a:srgbClr val="182D4B"/>
                </a:solidFill>
                <a:latin typeface="Arial"/>
                <a:ea typeface="Arial"/>
                <a:cs typeface="Arial"/>
              </a:defRPr>
            </a:lvl3pPr>
            <a:lvl4pPr algn="l">
              <a:buNone/>
              <a:defRPr sz="2175" b="1">
                <a:solidFill>
                  <a:srgbClr val="182D4B"/>
                </a:solidFill>
                <a:latin typeface="Arial"/>
                <a:ea typeface="Arial"/>
                <a:cs typeface="Arial"/>
              </a:defRPr>
            </a:lvl4pPr>
            <a:lvl5pPr algn="l">
              <a:buNone/>
              <a:defRPr sz="2175" b="1">
                <a:solidFill>
                  <a:srgbClr val="182D4B"/>
                </a:solidFill>
                <a:latin typeface="Arial"/>
                <a:ea typeface="Arial"/>
                <a:cs typeface="Arial"/>
              </a:defRPr>
            </a:lvl5pPr>
            <a:lvl6pPr algn="l">
              <a:buNone/>
              <a:defRPr sz="2175" b="1">
                <a:solidFill>
                  <a:srgbClr val="182D4B"/>
                </a:solidFill>
                <a:latin typeface="Arial"/>
                <a:ea typeface="Arial"/>
                <a:cs typeface="Arial"/>
              </a:defRPr>
            </a:lvl6pPr>
            <a:lvl7pPr algn="l">
              <a:buNone/>
              <a:defRPr sz="2175" b="1">
                <a:solidFill>
                  <a:srgbClr val="182D4B"/>
                </a:solidFill>
                <a:latin typeface="Arial"/>
                <a:ea typeface="Arial"/>
                <a:cs typeface="Arial"/>
              </a:defRPr>
            </a:lvl7pPr>
            <a:lvl8pPr algn="l">
              <a:buNone/>
              <a:defRPr sz="2175" b="1">
                <a:solidFill>
                  <a:srgbClr val="182D4B"/>
                </a:solidFill>
                <a:latin typeface="Arial"/>
                <a:ea typeface="Arial"/>
                <a:cs typeface="Arial"/>
              </a:defRPr>
            </a:lvl8pPr>
            <a:lvl9pPr algn="l">
              <a:buNone/>
              <a:defRPr sz="2175" b="1">
                <a:solidFill>
                  <a:srgbClr val="182D4B"/>
                </a:solidFill>
                <a:latin typeface="Arial"/>
                <a:ea typeface="Arial"/>
                <a:cs typeface="Arial"/>
              </a:defRPr>
            </a:lvl9pPr>
          </a:lstStyle>
          <a:p xmlns:a="http://schemas.openxmlformats.org/drawingml/2006/main">
            <a:pPr algn="l">
              <a:buNone/>
              <a:defRPr sz="2175" b="1">
                <a:solidFill>
                  <a:srgbClr val="182D4B"/>
                </a:solidFill>
                <a:latin typeface="Arial"/>
                <a:ea typeface="Arial"/>
                <a:cs typeface="Arial"/>
              </a:defRPr>
            </a:pPr>
            <a:r>
              <a:rPr sz="2175" b="1">
                <a:solidFill>
                  <a:srgbClr val="182D4B"/>
                </a:solidFill>
                <a:latin typeface="Arial"/>
                <a:ea typeface="Arial"/>
                <a:cs typeface="Arial"/>
              </a:rPr>
              <a:t>Cận thiếu mỗi xe = max(yêu cầu − công suất tối đa × thời gian sạc, 0)</a:t>
            </a:r>
          </a:p>
        </p:txBody>
      </p:sp>
      <p:graphicFrame>
        <p:nvGraphicFramePr>
          <p:cNvPr id="15" name="">
            <a:extLst xmlns:a="http://schemas.openxmlformats.org/drawingml/2006/main">
              <a:ext uri="{FF2B5EF4-FFF2-40B4-BE49-F238E27FC236}">
                <a16:creationId xmlns:a16="http://schemas.microsoft.com/office/drawing/2014/main" id="{0F9F6A62-F84A-4559-BEFD-8382A9254B37}"/>
              </a:ext>
            </a:extLst>
          </p:cNvPr>
          <p:cNvGraphicFramePr/>
          <p:nvPr/>
        </p:nvGraphicFramePr>
        <p:xfrm>
          <a:off xmlns:a="http://schemas.openxmlformats.org/drawingml/2006/main" x="609600" y="2266950"/>
          <a:ext xmlns:a="http://schemas.openxmlformats.org/drawingml/2006/main" cx="10972800" cy="2571750"/>
        </p:xfrm>
        <a:graphic xmlns:a="http://schemas.openxmlformats.org/drawingml/2006/main">
          <a:graphicData uri="http://schemas.openxmlformats.org/drawingml/2006/table">
            <a:tbl>
              <a:tblPr/>
              <a:tblGrid>
                <a:gridCol w="7810500"/>
                <a:gridCol w="3162300"/>
              </a:tblGrid>
              <a:tr h="642938">
                <a:tc>
                  <a:txBody>
                    <a:bodyPr wrap="square" lIns="95250" tIns="76200" rIns="95250" bIns="76200">
                      <a:noAutofit/>
                    </a:bodyPr>
                    <a:lstStyle/>
                    <a:p>
                      <a:pPr algn="l">
                        <a:buNone/>
                      </a:pPr>
                      <a:r>
                        <a:rPr sz="1950" b="1">
                          <a:solidFill>
                            <a:srgbClr val="FFFFFF"/>
                          </a:solidFill>
                          <a:latin typeface="Arial"/>
                          <a:ea typeface="Arial"/>
                          <a:cs typeface="Arial"/>
                        </a:rPr>
                        <a:t>Số liệu PPO trên test</a:t>
                      </a:r>
                    </a:p>
                  </a:txBody>
                  <a:tcPr marL="91440" marR="91440" marT="45720" marB="45720" anchor="ctr">
                    <a:lnL w="6191">
                      <a:solidFill>
                        <a:srgbClr val="182D4B"/>
                      </a:solidFill>
                      <a:prstDash val="solid"/>
                    </a:lnL>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c>
                  <a:txBody>
                    <a:bodyPr wrap="square" lIns="95250" tIns="76200" rIns="95250" bIns="76200">
                      <a:noAutofit/>
                    </a:bodyPr>
                    <a:lstStyle/>
                    <a:p>
                      <a:pPr algn="l">
                        <a:buNone/>
                      </a:pPr>
                      <a:r>
                        <a:rPr sz="1950" b="1">
                          <a:solidFill>
                            <a:srgbClr val="FFFFFF"/>
                          </a:solidFill>
                          <a:latin typeface="Arial"/>
                          <a:ea typeface="Arial"/>
                          <a:cs typeface="Arial"/>
                        </a:rPr>
                        <a:t>kWh/ngày</a:t>
                      </a:r>
                    </a:p>
                  </a:txBody>
                  <a:tcPr marL="91440" marR="91440" marT="45720" marB="45720" anchor="ctr">
                    <a:lnR w="6191">
                      <a:solidFill>
                        <a:srgbClr val="182D4B"/>
                      </a:solidFill>
                      <a:prstDash val="solid"/>
                    </a:lnR>
                    <a:lnT w="6191">
                      <a:solidFill>
                        <a:srgbClr val="182D4B"/>
                      </a:solidFill>
                      <a:prstDash val="solid"/>
                    </a:lnT>
                    <a:lnB w="6191">
                      <a:solidFill>
                        <a:srgbClr val="182D4B"/>
                      </a:solidFill>
                      <a:prstDash val="solid"/>
                    </a:lnB>
                    <a:solidFill>
                      <a:srgbClr val="2696C5"/>
                    </a:solidFill>
                  </a:tcPr>
                </a:tc>
              </a:tr>
              <a:tr h="642938">
                <a:tc>
                  <a:txBody>
                    <a:bodyPr wrap="square" lIns="95250" tIns="76200" rIns="95250" bIns="76200">
                      <a:noAutofit/>
                    </a:bodyPr>
                    <a:lstStyle/>
                    <a:p>
                      <a:pPr algn="l">
                        <a:buNone/>
                      </a:pPr>
                      <a:r>
                        <a:rPr sz="1950" b="0">
                          <a:solidFill>
                            <a:srgbClr val="1F2937"/>
                          </a:solidFill>
                          <a:latin typeface="Arial"/>
                          <a:ea typeface="Arial"/>
                          <a:cs typeface="Arial"/>
                        </a:rPr>
                        <a:t>Điện thiếu thực tế trong mô phỏng</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950" b="0">
                          <a:solidFill>
                            <a:srgbClr val="1F2937"/>
                          </a:solidFill>
                          <a:latin typeface="Arial"/>
                          <a:ea typeface="Arial"/>
                          <a:cs typeface="Arial"/>
                        </a:rPr>
                        <a:t>131,87</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r h="642938">
                <a:tc>
                  <a:txBody>
                    <a:bodyPr wrap="square" lIns="95250" tIns="76200" rIns="95250" bIns="76200">
                      <a:noAutofit/>
                    </a:bodyPr>
                    <a:lstStyle/>
                    <a:p>
                      <a:pPr algn="l">
                        <a:buNone/>
                      </a:pPr>
                      <a:r>
                        <a:rPr sz="1950" b="0">
                          <a:solidFill>
                            <a:srgbClr val="1F2937"/>
                          </a:solidFill>
                          <a:latin typeface="Arial"/>
                          <a:ea typeface="Arial"/>
                          <a:cs typeface="Arial"/>
                        </a:rPr>
                        <a:t>Cận thiếu riêng từng xe</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FFFFF"/>
                    </a:solidFill>
                  </a:tcPr>
                </a:tc>
                <a:tc>
                  <a:txBody>
                    <a:bodyPr wrap="square" lIns="95250" tIns="76200" rIns="95250" bIns="76200">
                      <a:noAutofit/>
                    </a:bodyPr>
                    <a:lstStyle/>
                    <a:p>
                      <a:pPr algn="l">
                        <a:buNone/>
                      </a:pPr>
                      <a:r>
                        <a:rPr sz="1950" b="0">
                          <a:solidFill>
                            <a:srgbClr val="1F2937"/>
                          </a:solidFill>
                          <a:latin typeface="Arial"/>
                          <a:ea typeface="Arial"/>
                          <a:cs typeface="Arial"/>
                        </a:rPr>
                        <a:t>126,91</a:t>
                      </a:r>
                    </a:p>
                  </a:txBody>
                  <a:tcPr marL="91440" marR="91440" marT="45720" marB="45720" anchor="ctr">
                    <a:lnR w="6191">
                      <a:solidFill>
                        <a:srgbClr val="182D4B"/>
                      </a:solidFill>
                      <a:prstDash val="solid"/>
                    </a:lnR>
                    <a:lnB w="6191">
                      <a:solidFill>
                        <a:srgbClr val="182D4B"/>
                      </a:solidFill>
                      <a:prstDash val="solid"/>
                    </a:lnB>
                    <a:solidFill>
                      <a:srgbClr val="FFFFFF"/>
                    </a:solidFill>
                  </a:tcPr>
                </a:tc>
              </a:tr>
              <a:tr h="642938">
                <a:tc>
                  <a:txBody>
                    <a:bodyPr wrap="square" lIns="95250" tIns="76200" rIns="95250" bIns="76200">
                      <a:noAutofit/>
                    </a:bodyPr>
                    <a:lstStyle/>
                    <a:p>
                      <a:pPr algn="l">
                        <a:buNone/>
                      </a:pPr>
                      <a:r>
                        <a:rPr sz="1950" b="0">
                          <a:solidFill>
                            <a:srgbClr val="1F2937"/>
                          </a:solidFill>
                          <a:latin typeface="Arial"/>
                          <a:ea typeface="Arial"/>
                          <a:cs typeface="Arial"/>
                        </a:rPr>
                        <a:t>Phần vượt cận</a:t>
                      </a:r>
                    </a:p>
                  </a:txBody>
                  <a:tcPr marL="91440" marR="91440" marT="45720" marB="45720" anchor="ctr">
                    <a:lnL w="6191">
                      <a:solidFill>
                        <a:srgbClr val="182D4B"/>
                      </a:solidFill>
                      <a:prstDash val="solid"/>
                    </a:lnL>
                    <a:lnR w="6191">
                      <a:solidFill>
                        <a:srgbClr val="182D4B"/>
                      </a:solidFill>
                      <a:prstDash val="solid"/>
                    </a:lnR>
                    <a:lnB w="6191">
                      <a:solidFill>
                        <a:srgbClr val="182D4B"/>
                      </a:solidFill>
                      <a:prstDash val="solid"/>
                    </a:lnB>
                    <a:solidFill>
                      <a:srgbClr val="F4F7FA"/>
                    </a:solidFill>
                  </a:tcPr>
                </a:tc>
                <a:tc>
                  <a:txBody>
                    <a:bodyPr wrap="square" lIns="95250" tIns="76200" rIns="95250" bIns="76200">
                      <a:noAutofit/>
                    </a:bodyPr>
                    <a:lstStyle/>
                    <a:p>
                      <a:pPr algn="l">
                        <a:buNone/>
                      </a:pPr>
                      <a:r>
                        <a:rPr sz="1950" b="0">
                          <a:solidFill>
                            <a:srgbClr val="1F2937"/>
                          </a:solidFill>
                          <a:latin typeface="Arial"/>
                          <a:ea typeface="Arial"/>
                          <a:cs typeface="Arial"/>
                        </a:rPr>
                        <a:t>4,96</a:t>
                      </a:r>
                    </a:p>
                  </a:txBody>
                  <a:tcPr marL="91440" marR="91440" marT="45720" marB="45720" anchor="ctr">
                    <a:lnR w="6191">
                      <a:solidFill>
                        <a:srgbClr val="182D4B"/>
                      </a:solidFill>
                      <a:prstDash val="solid"/>
                    </a:lnR>
                    <a:lnB w="6191">
                      <a:solidFill>
                        <a:srgbClr val="182D4B"/>
                      </a:solidFill>
                      <a:prstDash val="solid"/>
                    </a:lnB>
                    <a:solidFill>
                      <a:srgbClr val="F4F7FA"/>
                    </a:solidFill>
                  </a:tcPr>
                </a:tc>
              </a:tr>
            </a:tbl>
          </a:graphicData>
        </a:graphic>
      </p:graphicFrame>
      <p:sp>
        <p:nvSpPr>
          <p:cNvPr id="16" name="bound-share">
            <a:extLst xmlns:a="http://schemas.openxmlformats.org/drawingml/2006/main">
              <a:ext uri="{FF2B5EF4-FFF2-40B4-BE49-F238E27FC236}">
                <a16:creationId xmlns:a16="http://schemas.microsoft.com/office/drawing/2014/main" id="{F36722F7-C819-4F1B-BDEC-40EBE293E9C1}"/>
              </a:ext>
            </a:extLst>
          </p:cNvPr>
          <p:cNvSpPr>
            <a:spLocks xmlns:a="http://schemas.openxmlformats.org/drawingml/2006/main" noGrp="1"/>
          </p:cNvSpPr>
          <p:nvPr/>
        </p:nvSpPr>
        <p:spPr>
          <a:xfrm xmlns:a="http://schemas.openxmlformats.org/drawingml/2006/main">
            <a:off x="609600" y="52006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59E42"/>
                </a:solidFill>
                <a:latin typeface="Arial"/>
                <a:ea typeface="Arial"/>
                <a:cs typeface="Arial"/>
              </a:defRPr>
            </a:defPPr>
            <a:lvl1pPr algn="l">
              <a:buNone/>
              <a:defRPr sz="2400" b="1">
                <a:solidFill>
                  <a:srgbClr val="F59E42"/>
                </a:solidFill>
                <a:latin typeface="Arial"/>
                <a:ea typeface="Arial"/>
                <a:cs typeface="Arial"/>
              </a:defRPr>
            </a:lvl1pPr>
            <a:lvl2pPr algn="l">
              <a:buNone/>
              <a:defRPr sz="2400" b="1">
                <a:solidFill>
                  <a:srgbClr val="F59E42"/>
                </a:solidFill>
                <a:latin typeface="Arial"/>
                <a:ea typeface="Arial"/>
                <a:cs typeface="Arial"/>
              </a:defRPr>
            </a:lvl2pPr>
            <a:lvl3pPr algn="l">
              <a:buNone/>
              <a:defRPr sz="2400" b="1">
                <a:solidFill>
                  <a:srgbClr val="F59E42"/>
                </a:solidFill>
                <a:latin typeface="Arial"/>
                <a:ea typeface="Arial"/>
                <a:cs typeface="Arial"/>
              </a:defRPr>
            </a:lvl3pPr>
            <a:lvl4pPr algn="l">
              <a:buNone/>
              <a:defRPr sz="2400" b="1">
                <a:solidFill>
                  <a:srgbClr val="F59E42"/>
                </a:solidFill>
                <a:latin typeface="Arial"/>
                <a:ea typeface="Arial"/>
                <a:cs typeface="Arial"/>
              </a:defRPr>
            </a:lvl4pPr>
            <a:lvl5pPr algn="l">
              <a:buNone/>
              <a:defRPr sz="2400" b="1">
                <a:solidFill>
                  <a:srgbClr val="F59E42"/>
                </a:solidFill>
                <a:latin typeface="Arial"/>
                <a:ea typeface="Arial"/>
                <a:cs typeface="Arial"/>
              </a:defRPr>
            </a:lvl5pPr>
            <a:lvl6pPr algn="l">
              <a:buNone/>
              <a:defRPr sz="2400" b="1">
                <a:solidFill>
                  <a:srgbClr val="F59E42"/>
                </a:solidFill>
                <a:latin typeface="Arial"/>
                <a:ea typeface="Arial"/>
                <a:cs typeface="Arial"/>
              </a:defRPr>
            </a:lvl6pPr>
            <a:lvl7pPr algn="l">
              <a:buNone/>
              <a:defRPr sz="2400" b="1">
                <a:solidFill>
                  <a:srgbClr val="F59E42"/>
                </a:solidFill>
                <a:latin typeface="Arial"/>
                <a:ea typeface="Arial"/>
                <a:cs typeface="Arial"/>
              </a:defRPr>
            </a:lvl7pPr>
            <a:lvl8pPr algn="l">
              <a:buNone/>
              <a:defRPr sz="2400" b="1">
                <a:solidFill>
                  <a:srgbClr val="F59E42"/>
                </a:solidFill>
                <a:latin typeface="Arial"/>
                <a:ea typeface="Arial"/>
                <a:cs typeface="Arial"/>
              </a:defRPr>
            </a:lvl8pPr>
            <a:lvl9pPr algn="l">
              <a:buNone/>
              <a:defRPr sz="2400" b="1">
                <a:solidFill>
                  <a:srgbClr val="F59E42"/>
                </a:solidFill>
                <a:latin typeface="Arial"/>
                <a:ea typeface="Arial"/>
                <a:cs typeface="Arial"/>
              </a:defRPr>
            </a:lvl9pPr>
          </a:lstStyle>
          <a:p xmlns:a="http://schemas.openxmlformats.org/drawingml/2006/main">
            <a:pPr algn="l">
              <a:buNone/>
              <a:defRPr sz="2400" b="1">
                <a:solidFill>
                  <a:srgbClr val="F59E42"/>
                </a:solidFill>
                <a:latin typeface="Arial"/>
                <a:ea typeface="Arial"/>
                <a:cs typeface="Arial"/>
              </a:defRPr>
            </a:pPr>
            <a:r>
              <a:rPr sz="2400" b="1">
                <a:solidFill>
                  <a:srgbClr val="F59E42"/>
                </a:solidFill>
                <a:latin typeface="Arial"/>
                <a:ea typeface="Arial"/>
                <a:cs typeface="Arial"/>
              </a:rPr>
              <a:t>96,24% điện thiếu nằm trong cận riêng từng xe</a:t>
            </a:r>
          </a:p>
        </p:txBody>
      </p:sp>
      <p:sp>
        <p:nvSpPr>
          <p:cNvPr id="17" name="bound-limit">
            <a:extLst xmlns:a="http://schemas.openxmlformats.org/drawingml/2006/main">
              <a:ext uri="{FF2B5EF4-FFF2-40B4-BE49-F238E27FC236}">
                <a16:creationId xmlns:a16="http://schemas.microsoft.com/office/drawing/2014/main" id="{F2F90080-6B4D-4C62-A78E-C58EE7DDAA1F}"/>
              </a:ext>
            </a:extLst>
          </p:cNvPr>
          <p:cNvSpPr>
            <a:spLocks xmlns:a="http://schemas.openxmlformats.org/drawingml/2006/main" noGrp="1"/>
          </p:cNvSpPr>
          <p:nvPr/>
        </p:nvSpPr>
        <p:spPr>
          <a:xfrm xmlns:a="http://schemas.openxmlformats.org/drawingml/2006/main">
            <a:off x="609600" y="59626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E6B7A"/>
                </a:solidFill>
                <a:latin typeface="Arial"/>
                <a:ea typeface="Arial"/>
                <a:cs typeface="Arial"/>
              </a:defRPr>
            </a:defPPr>
            <a:lvl1pPr algn="l">
              <a:buNone/>
              <a:defRPr sz="1725" b="0">
                <a:solidFill>
                  <a:srgbClr val="5E6B7A"/>
                </a:solidFill>
                <a:latin typeface="Arial"/>
                <a:ea typeface="Arial"/>
                <a:cs typeface="Arial"/>
              </a:defRPr>
            </a:lvl1pPr>
            <a:lvl2pPr algn="l">
              <a:buNone/>
              <a:defRPr sz="1725" b="0">
                <a:solidFill>
                  <a:srgbClr val="5E6B7A"/>
                </a:solidFill>
                <a:latin typeface="Arial"/>
                <a:ea typeface="Arial"/>
                <a:cs typeface="Arial"/>
              </a:defRPr>
            </a:lvl2pPr>
            <a:lvl3pPr algn="l">
              <a:buNone/>
              <a:defRPr sz="1725" b="0">
                <a:solidFill>
                  <a:srgbClr val="5E6B7A"/>
                </a:solidFill>
                <a:latin typeface="Arial"/>
                <a:ea typeface="Arial"/>
                <a:cs typeface="Arial"/>
              </a:defRPr>
            </a:lvl3pPr>
            <a:lvl4pPr algn="l">
              <a:buNone/>
              <a:defRPr sz="1725" b="0">
                <a:solidFill>
                  <a:srgbClr val="5E6B7A"/>
                </a:solidFill>
                <a:latin typeface="Arial"/>
                <a:ea typeface="Arial"/>
                <a:cs typeface="Arial"/>
              </a:defRPr>
            </a:lvl4pPr>
            <a:lvl5pPr algn="l">
              <a:buNone/>
              <a:defRPr sz="1725" b="0">
                <a:solidFill>
                  <a:srgbClr val="5E6B7A"/>
                </a:solidFill>
                <a:latin typeface="Arial"/>
                <a:ea typeface="Arial"/>
                <a:cs typeface="Arial"/>
              </a:defRPr>
            </a:lvl5pPr>
            <a:lvl6pPr algn="l">
              <a:buNone/>
              <a:defRPr sz="1725" b="0">
                <a:solidFill>
                  <a:srgbClr val="5E6B7A"/>
                </a:solidFill>
                <a:latin typeface="Arial"/>
                <a:ea typeface="Arial"/>
                <a:cs typeface="Arial"/>
              </a:defRPr>
            </a:lvl6pPr>
            <a:lvl7pPr algn="l">
              <a:buNone/>
              <a:defRPr sz="1725" b="0">
                <a:solidFill>
                  <a:srgbClr val="5E6B7A"/>
                </a:solidFill>
                <a:latin typeface="Arial"/>
                <a:ea typeface="Arial"/>
                <a:cs typeface="Arial"/>
              </a:defRPr>
            </a:lvl7pPr>
            <a:lvl8pPr algn="l">
              <a:buNone/>
              <a:defRPr sz="1725" b="0">
                <a:solidFill>
                  <a:srgbClr val="5E6B7A"/>
                </a:solidFill>
                <a:latin typeface="Arial"/>
                <a:ea typeface="Arial"/>
                <a:cs typeface="Arial"/>
              </a:defRPr>
            </a:lvl8pPr>
            <a:lvl9pPr algn="l">
              <a:buNone/>
              <a:defRPr sz="1725" b="0">
                <a:solidFill>
                  <a:srgbClr val="5E6B7A"/>
                </a:solidFill>
                <a:latin typeface="Arial"/>
                <a:ea typeface="Arial"/>
                <a:cs typeface="Arial"/>
              </a:defRPr>
            </a:lvl9pPr>
          </a:lstStyle>
          <a:p xmlns:a="http://schemas.openxmlformats.org/drawingml/2006/main">
            <a:pPr algn="l">
              <a:buNone/>
              <a:defRPr sz="1725" b="0">
                <a:solidFill>
                  <a:srgbClr val="5E6B7A"/>
                </a:solidFill>
                <a:latin typeface="Arial"/>
                <a:ea typeface="Arial"/>
                <a:cs typeface="Arial"/>
              </a:defRPr>
            </a:pPr>
            <a:r>
              <a:rPr sz="1725" b="0">
                <a:solidFill>
                  <a:srgbClr val="5E6B7A"/>
                </a:solidFill>
                <a:latin typeface="Arial"/>
                <a:ea typeface="Arial"/>
                <a:cs typeface="Arial"/>
              </a:rPr>
              <a:t>Phần vượt cận vẫn có thể do giới hạn dùng chung, chưa thể quy hết cho thuật toán.</a:t>
            </a:r>
          </a:p>
        </p:txBody>
      </p:sp>
    </p:spTree>
    <p:extLst>
      <p:ext uri="{BB962C8B-B14F-4D97-AF65-F5344CB8AC3E}">
        <p14:creationId xmlns:p14="http://schemas.microsoft.com/office/powerpoint/2010/main" val="188088152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Kết luận và giới hạn</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23</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sp>
        <p:nvSpPr>
          <p:cNvPr id="15" name="contributions-heading">
            <a:extLst xmlns:a="http://schemas.openxmlformats.org/drawingml/2006/main">
              <a:ext uri="{FF2B5EF4-FFF2-40B4-BE49-F238E27FC236}">
                <a16:creationId xmlns:a16="http://schemas.microsoft.com/office/drawing/2014/main" id="{4C296AC8-2D03-4CAF-A269-3BDF4FD08E79}"/>
              </a:ext>
            </a:extLst>
          </p:cNvPr>
          <p:cNvSpPr>
            <a:spLocks xmlns:a="http://schemas.openxmlformats.org/drawingml/2006/main" noGrp="1"/>
          </p:cNvSpPr>
          <p:nvPr/>
        </p:nvSpPr>
        <p:spPr>
          <a:xfrm xmlns:a="http://schemas.openxmlformats.org/drawingml/2006/main">
            <a:off x="609600" y="118110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Nhóm đã thực hiện</a:t>
            </a:r>
          </a:p>
        </p:txBody>
      </p:sp>
      <p:sp>
        <p:nvSpPr>
          <p:cNvPr id="16" name="contributions-body">
            <a:extLst xmlns:a="http://schemas.openxmlformats.org/drawingml/2006/main">
              <a:ext uri="{FF2B5EF4-FFF2-40B4-BE49-F238E27FC236}">
                <a16:creationId xmlns:a16="http://schemas.microsoft.com/office/drawing/2014/main" id="{897FCD4C-9793-4A10-85BA-268DF016D169}"/>
              </a:ext>
            </a:extLst>
          </p:cNvPr>
          <p:cNvSpPr>
            <a:spLocks xmlns:a="http://schemas.openxmlformats.org/drawingml/2006/main" noGrp="1"/>
          </p:cNvSpPr>
          <p:nvPr/>
        </p:nvSpPr>
        <p:spPr>
          <a:xfrm xmlns:a="http://schemas.openxmlformats.org/drawingml/2006/main">
            <a:off x="609600" y="1657350"/>
            <a:ext cx="5238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Xử lý dữ liệu và chia theo thời gian</a:t>
            </a:r>
          </a:p>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Mô phỏng công suất có giới hạn pod/pha</a:t>
            </a:r>
          </a:p>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Tuning và chấm PPO qua 5 seed</a:t>
            </a:r>
          </a:p>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So sánh cùng điều kiện với 6 đối chứng</a:t>
            </a:r>
          </a:p>
        </p:txBody>
      </p:sp>
      <p:sp>
        <p:nvSpPr>
          <p:cNvPr id="17" name="findings-heading">
            <a:extLst xmlns:a="http://schemas.openxmlformats.org/drawingml/2006/main">
              <a:ext uri="{FF2B5EF4-FFF2-40B4-BE49-F238E27FC236}">
                <a16:creationId xmlns:a16="http://schemas.microsoft.com/office/drawing/2014/main" id="{95471616-2B8A-4587-BA91-721BA28BE3AC}"/>
              </a:ext>
            </a:extLst>
          </p:cNvPr>
          <p:cNvSpPr>
            <a:spLocks xmlns:a="http://schemas.openxmlformats.org/drawingml/2006/main" noGrp="1"/>
          </p:cNvSpPr>
          <p:nvPr/>
        </p:nvSpPr>
        <p:spPr>
          <a:xfrm xmlns:a="http://schemas.openxmlformats.org/drawingml/2006/main">
            <a:off x="6667500" y="118110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96C5"/>
                </a:solidFill>
                <a:latin typeface="Arial"/>
                <a:ea typeface="Arial"/>
                <a:cs typeface="Arial"/>
              </a:defRPr>
            </a:defPPr>
            <a:lvl1pPr algn="l">
              <a:buNone/>
              <a:defRPr sz="2100" b="1">
                <a:solidFill>
                  <a:srgbClr val="2696C5"/>
                </a:solidFill>
                <a:latin typeface="Arial"/>
                <a:ea typeface="Arial"/>
                <a:cs typeface="Arial"/>
              </a:defRPr>
            </a:lvl1pPr>
            <a:lvl2pPr algn="l">
              <a:buNone/>
              <a:defRPr sz="2100" b="1">
                <a:solidFill>
                  <a:srgbClr val="2696C5"/>
                </a:solidFill>
                <a:latin typeface="Arial"/>
                <a:ea typeface="Arial"/>
                <a:cs typeface="Arial"/>
              </a:defRPr>
            </a:lvl2pPr>
            <a:lvl3pPr algn="l">
              <a:buNone/>
              <a:defRPr sz="2100" b="1">
                <a:solidFill>
                  <a:srgbClr val="2696C5"/>
                </a:solidFill>
                <a:latin typeface="Arial"/>
                <a:ea typeface="Arial"/>
                <a:cs typeface="Arial"/>
              </a:defRPr>
            </a:lvl3pPr>
            <a:lvl4pPr algn="l">
              <a:buNone/>
              <a:defRPr sz="2100" b="1">
                <a:solidFill>
                  <a:srgbClr val="2696C5"/>
                </a:solidFill>
                <a:latin typeface="Arial"/>
                <a:ea typeface="Arial"/>
                <a:cs typeface="Arial"/>
              </a:defRPr>
            </a:lvl4pPr>
            <a:lvl5pPr algn="l">
              <a:buNone/>
              <a:defRPr sz="2100" b="1">
                <a:solidFill>
                  <a:srgbClr val="2696C5"/>
                </a:solidFill>
                <a:latin typeface="Arial"/>
                <a:ea typeface="Arial"/>
                <a:cs typeface="Arial"/>
              </a:defRPr>
            </a:lvl5pPr>
            <a:lvl6pPr algn="l">
              <a:buNone/>
              <a:defRPr sz="2100" b="1">
                <a:solidFill>
                  <a:srgbClr val="2696C5"/>
                </a:solidFill>
                <a:latin typeface="Arial"/>
                <a:ea typeface="Arial"/>
                <a:cs typeface="Arial"/>
              </a:defRPr>
            </a:lvl6pPr>
            <a:lvl7pPr algn="l">
              <a:buNone/>
              <a:defRPr sz="2100" b="1">
                <a:solidFill>
                  <a:srgbClr val="2696C5"/>
                </a:solidFill>
                <a:latin typeface="Arial"/>
                <a:ea typeface="Arial"/>
                <a:cs typeface="Arial"/>
              </a:defRPr>
            </a:lvl7pPr>
            <a:lvl8pPr algn="l">
              <a:buNone/>
              <a:defRPr sz="2100" b="1">
                <a:solidFill>
                  <a:srgbClr val="2696C5"/>
                </a:solidFill>
                <a:latin typeface="Arial"/>
                <a:ea typeface="Arial"/>
                <a:cs typeface="Arial"/>
              </a:defRPr>
            </a:lvl8pPr>
            <a:lvl9pPr algn="l">
              <a:buNone/>
              <a:defRPr sz="2100" b="1">
                <a:solidFill>
                  <a:srgbClr val="2696C5"/>
                </a:solidFill>
                <a:latin typeface="Arial"/>
                <a:ea typeface="Arial"/>
                <a:cs typeface="Arial"/>
              </a:defRPr>
            </a:lvl9pPr>
          </a:lstStyle>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Kết quả bảo vệ được</a:t>
            </a:r>
          </a:p>
        </p:txBody>
      </p:sp>
      <p:sp>
        <p:nvSpPr>
          <p:cNvPr id="18" name="findings-body">
            <a:extLst xmlns:a="http://schemas.openxmlformats.org/drawingml/2006/main">
              <a:ext uri="{FF2B5EF4-FFF2-40B4-BE49-F238E27FC236}">
                <a16:creationId xmlns:a16="http://schemas.microsoft.com/office/drawing/2014/main" id="{94E7AD8F-EFC1-40E7-A569-BDA402B518E5}"/>
              </a:ext>
            </a:extLst>
          </p:cNvPr>
          <p:cNvSpPr>
            <a:spLocks xmlns:a="http://schemas.openxmlformats.org/drawingml/2006/main" noGrp="1"/>
          </p:cNvSpPr>
          <p:nvPr/>
        </p:nvSpPr>
        <p:spPr>
          <a:xfrm xmlns:a="http://schemas.openxmlformats.org/drawingml/2006/main">
            <a:off x="6667500" y="1657350"/>
            <a:ext cx="4857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F2937"/>
                </a:solidFill>
                <a:latin typeface="Arial"/>
                <a:ea typeface="Arial"/>
                <a:cs typeface="Arial"/>
              </a:defRPr>
            </a:defPPr>
            <a:lvl1pPr algn="l">
              <a:buNone/>
              <a:defRPr sz="1800" b="0">
                <a:solidFill>
                  <a:srgbClr val="1F2937"/>
                </a:solidFill>
                <a:latin typeface="Arial"/>
                <a:ea typeface="Arial"/>
                <a:cs typeface="Arial"/>
              </a:defRPr>
            </a:lvl1pPr>
            <a:lvl2pPr algn="l">
              <a:buNone/>
              <a:defRPr sz="1800" b="0">
                <a:solidFill>
                  <a:srgbClr val="1F2937"/>
                </a:solidFill>
                <a:latin typeface="Arial"/>
                <a:ea typeface="Arial"/>
                <a:cs typeface="Arial"/>
              </a:defRPr>
            </a:lvl2pPr>
            <a:lvl3pPr algn="l">
              <a:buNone/>
              <a:defRPr sz="1800" b="0">
                <a:solidFill>
                  <a:srgbClr val="1F2937"/>
                </a:solidFill>
                <a:latin typeface="Arial"/>
                <a:ea typeface="Arial"/>
                <a:cs typeface="Arial"/>
              </a:defRPr>
            </a:lvl3pPr>
            <a:lvl4pPr algn="l">
              <a:buNone/>
              <a:defRPr sz="1800" b="0">
                <a:solidFill>
                  <a:srgbClr val="1F2937"/>
                </a:solidFill>
                <a:latin typeface="Arial"/>
                <a:ea typeface="Arial"/>
                <a:cs typeface="Arial"/>
              </a:defRPr>
            </a:lvl4pPr>
            <a:lvl5pPr algn="l">
              <a:buNone/>
              <a:defRPr sz="1800" b="0">
                <a:solidFill>
                  <a:srgbClr val="1F2937"/>
                </a:solidFill>
                <a:latin typeface="Arial"/>
                <a:ea typeface="Arial"/>
                <a:cs typeface="Arial"/>
              </a:defRPr>
            </a:lvl5pPr>
            <a:lvl6pPr algn="l">
              <a:buNone/>
              <a:defRPr sz="1800" b="0">
                <a:solidFill>
                  <a:srgbClr val="1F2937"/>
                </a:solidFill>
                <a:latin typeface="Arial"/>
                <a:ea typeface="Arial"/>
                <a:cs typeface="Arial"/>
              </a:defRPr>
            </a:lvl6pPr>
            <a:lvl7pPr algn="l">
              <a:buNone/>
              <a:defRPr sz="1800" b="0">
                <a:solidFill>
                  <a:srgbClr val="1F2937"/>
                </a:solidFill>
                <a:latin typeface="Arial"/>
                <a:ea typeface="Arial"/>
                <a:cs typeface="Arial"/>
              </a:defRPr>
            </a:lvl7pPr>
            <a:lvl8pPr algn="l">
              <a:buNone/>
              <a:defRPr sz="1800" b="0">
                <a:solidFill>
                  <a:srgbClr val="1F2937"/>
                </a:solidFill>
                <a:latin typeface="Arial"/>
                <a:ea typeface="Arial"/>
                <a:cs typeface="Arial"/>
              </a:defRPr>
            </a:lvl8pPr>
            <a:lvl9pPr algn="l">
              <a:buNone/>
              <a:defRPr sz="1800" b="0">
                <a:solidFill>
                  <a:srgbClr val="1F2937"/>
                </a:solidFill>
                <a:latin typeface="Arial"/>
                <a:ea typeface="Arial"/>
                <a:cs typeface="Arial"/>
              </a:defRPr>
            </a:lvl9pPr>
          </a:lstStyle>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PPO ổn định và gần LLF</a:t>
            </a:r>
          </a:p>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Có tín hiệu tốt hơn Fixed100 theo J</a:t>
            </a:r>
          </a:p>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Chưa vượt rõ EDF hoặc LLF</a:t>
            </a:r>
          </a:p>
          <a:p xmlns:a="http://schemas.openxmlformats.org/drawingml/2006/main">
            <a:pPr algn="l">
              <a:buNone/>
              <a:defRPr sz="1800" b="0">
                <a:solidFill>
                  <a:srgbClr val="1F2937"/>
                </a:solidFill>
                <a:latin typeface="Arial"/>
                <a:ea typeface="Arial"/>
                <a:cs typeface="Arial"/>
              </a:defRPr>
            </a:pPr>
            <a:r>
              <a:rPr sz="1800" b="0">
                <a:solidFill>
                  <a:srgbClr val="1F2937"/>
                </a:solidFill>
                <a:latin typeface="Arial"/>
                <a:ea typeface="Arial"/>
                <a:cs typeface="Arial"/>
              </a:rPr>
              <a:t>Q-learning còn kém và dao động</a:t>
            </a:r>
          </a:p>
        </p:txBody>
      </p:sp>
      <p:sp>
        <p:nvSpPr>
          <p:cNvPr id="19" name="limits-head">
            <a:extLst xmlns:a="http://schemas.openxmlformats.org/drawingml/2006/main">
              <a:ext uri="{FF2B5EF4-FFF2-40B4-BE49-F238E27FC236}">
                <a16:creationId xmlns:a16="http://schemas.microsoft.com/office/drawing/2014/main" id="{1B22536A-CA33-4D99-89EA-8B7998A1CDB5}"/>
              </a:ext>
            </a:extLst>
          </p:cNvPr>
          <p:cNvSpPr>
            <a:spLocks xmlns:a="http://schemas.openxmlformats.org/drawingml/2006/main" noGrp="1"/>
          </p:cNvSpPr>
          <p:nvPr/>
        </p:nvSpPr>
        <p:spPr>
          <a:xfrm xmlns:a="http://schemas.openxmlformats.org/drawingml/2006/main">
            <a:off x="609600" y="45243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D4B"/>
                </a:solidFill>
                <a:latin typeface="Arial"/>
                <a:ea typeface="Arial"/>
                <a:cs typeface="Arial"/>
              </a:defRPr>
            </a:defPPr>
            <a:lvl1pPr algn="l">
              <a:buNone/>
              <a:defRPr sz="2100" b="1">
                <a:solidFill>
                  <a:srgbClr val="182D4B"/>
                </a:solidFill>
                <a:latin typeface="Arial"/>
                <a:ea typeface="Arial"/>
                <a:cs typeface="Arial"/>
              </a:defRPr>
            </a:lvl1pPr>
            <a:lvl2pPr algn="l">
              <a:buNone/>
              <a:defRPr sz="2100" b="1">
                <a:solidFill>
                  <a:srgbClr val="182D4B"/>
                </a:solidFill>
                <a:latin typeface="Arial"/>
                <a:ea typeface="Arial"/>
                <a:cs typeface="Arial"/>
              </a:defRPr>
            </a:lvl2pPr>
            <a:lvl3pPr algn="l">
              <a:buNone/>
              <a:defRPr sz="2100" b="1">
                <a:solidFill>
                  <a:srgbClr val="182D4B"/>
                </a:solidFill>
                <a:latin typeface="Arial"/>
                <a:ea typeface="Arial"/>
                <a:cs typeface="Arial"/>
              </a:defRPr>
            </a:lvl3pPr>
            <a:lvl4pPr algn="l">
              <a:buNone/>
              <a:defRPr sz="2100" b="1">
                <a:solidFill>
                  <a:srgbClr val="182D4B"/>
                </a:solidFill>
                <a:latin typeface="Arial"/>
                <a:ea typeface="Arial"/>
                <a:cs typeface="Arial"/>
              </a:defRPr>
            </a:lvl4pPr>
            <a:lvl5pPr algn="l">
              <a:buNone/>
              <a:defRPr sz="2100" b="1">
                <a:solidFill>
                  <a:srgbClr val="182D4B"/>
                </a:solidFill>
                <a:latin typeface="Arial"/>
                <a:ea typeface="Arial"/>
                <a:cs typeface="Arial"/>
              </a:defRPr>
            </a:lvl5pPr>
            <a:lvl6pPr algn="l">
              <a:buNone/>
              <a:defRPr sz="2100" b="1">
                <a:solidFill>
                  <a:srgbClr val="182D4B"/>
                </a:solidFill>
                <a:latin typeface="Arial"/>
                <a:ea typeface="Arial"/>
                <a:cs typeface="Arial"/>
              </a:defRPr>
            </a:lvl6pPr>
            <a:lvl7pPr algn="l">
              <a:buNone/>
              <a:defRPr sz="2100" b="1">
                <a:solidFill>
                  <a:srgbClr val="182D4B"/>
                </a:solidFill>
                <a:latin typeface="Arial"/>
                <a:ea typeface="Arial"/>
                <a:cs typeface="Arial"/>
              </a:defRPr>
            </a:lvl7pPr>
            <a:lvl8pPr algn="l">
              <a:buNone/>
              <a:defRPr sz="2100" b="1">
                <a:solidFill>
                  <a:srgbClr val="182D4B"/>
                </a:solidFill>
                <a:latin typeface="Arial"/>
                <a:ea typeface="Arial"/>
                <a:cs typeface="Arial"/>
              </a:defRPr>
            </a:lvl8pPr>
            <a:lvl9pPr algn="l">
              <a:buNone/>
              <a:defRPr sz="2100" b="1">
                <a:solidFill>
                  <a:srgbClr val="182D4B"/>
                </a:solidFill>
                <a:latin typeface="Arial"/>
                <a:ea typeface="Arial"/>
                <a:cs typeface="Arial"/>
              </a:defRPr>
            </a:lvl9pPr>
          </a:lstStyle>
          <a:p xmlns:a="http://schemas.openxmlformats.org/drawingml/2006/main">
            <a:pPr algn="l">
              <a:buNone/>
              <a:defRPr sz="2100" b="1">
                <a:solidFill>
                  <a:srgbClr val="182D4B"/>
                </a:solidFill>
                <a:latin typeface="Arial"/>
                <a:ea typeface="Arial"/>
                <a:cs typeface="Arial"/>
              </a:defRPr>
            </a:pPr>
            <a:r>
              <a:rPr sz="2100" b="1">
                <a:solidFill>
                  <a:srgbClr val="182D4B"/>
                </a:solidFill>
                <a:latin typeface="Arial"/>
                <a:ea typeface="Arial"/>
                <a:cs typeface="Arial"/>
              </a:rPr>
              <a:t>Giới hạn áp dụng</a:t>
            </a:r>
          </a:p>
        </p:txBody>
      </p:sp>
      <p:sp>
        <p:nvSpPr>
          <p:cNvPr id="20" name="limits-body">
            <a:extLst xmlns:a="http://schemas.openxmlformats.org/drawingml/2006/main">
              <a:ext uri="{FF2B5EF4-FFF2-40B4-BE49-F238E27FC236}">
                <a16:creationId xmlns:a16="http://schemas.microsoft.com/office/drawing/2014/main" id="{9CD11A19-1725-454D-AEE1-9D06378D8DC0}"/>
              </a:ext>
            </a:extLst>
          </p:cNvPr>
          <p:cNvSpPr>
            <a:spLocks xmlns:a="http://schemas.openxmlformats.org/drawingml/2006/main" noGrp="1"/>
          </p:cNvSpPr>
          <p:nvPr/>
        </p:nvSpPr>
        <p:spPr>
          <a:xfrm xmlns:a="http://schemas.openxmlformats.org/drawingml/2006/main">
            <a:off x="609600" y="5105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E6B7A"/>
                </a:solidFill>
                <a:latin typeface="Arial"/>
                <a:ea typeface="Arial"/>
                <a:cs typeface="Arial"/>
              </a:defRPr>
            </a:defPPr>
            <a:lvl1pPr algn="l">
              <a:buNone/>
              <a:defRPr sz="1875" b="0">
                <a:solidFill>
                  <a:srgbClr val="5E6B7A"/>
                </a:solidFill>
                <a:latin typeface="Arial"/>
                <a:ea typeface="Arial"/>
                <a:cs typeface="Arial"/>
              </a:defRPr>
            </a:lvl1pPr>
            <a:lvl2pPr algn="l">
              <a:buNone/>
              <a:defRPr sz="1875" b="0">
                <a:solidFill>
                  <a:srgbClr val="5E6B7A"/>
                </a:solidFill>
                <a:latin typeface="Arial"/>
                <a:ea typeface="Arial"/>
                <a:cs typeface="Arial"/>
              </a:defRPr>
            </a:lvl2pPr>
            <a:lvl3pPr algn="l">
              <a:buNone/>
              <a:defRPr sz="1875" b="0">
                <a:solidFill>
                  <a:srgbClr val="5E6B7A"/>
                </a:solidFill>
                <a:latin typeface="Arial"/>
                <a:ea typeface="Arial"/>
                <a:cs typeface="Arial"/>
              </a:defRPr>
            </a:lvl3pPr>
            <a:lvl4pPr algn="l">
              <a:buNone/>
              <a:defRPr sz="1875" b="0">
                <a:solidFill>
                  <a:srgbClr val="5E6B7A"/>
                </a:solidFill>
                <a:latin typeface="Arial"/>
                <a:ea typeface="Arial"/>
                <a:cs typeface="Arial"/>
              </a:defRPr>
            </a:lvl4pPr>
            <a:lvl5pPr algn="l">
              <a:buNone/>
              <a:defRPr sz="1875" b="0">
                <a:solidFill>
                  <a:srgbClr val="5E6B7A"/>
                </a:solidFill>
                <a:latin typeface="Arial"/>
                <a:ea typeface="Arial"/>
                <a:cs typeface="Arial"/>
              </a:defRPr>
            </a:lvl5pPr>
            <a:lvl6pPr algn="l">
              <a:buNone/>
              <a:defRPr sz="1875" b="0">
                <a:solidFill>
                  <a:srgbClr val="5E6B7A"/>
                </a:solidFill>
                <a:latin typeface="Arial"/>
                <a:ea typeface="Arial"/>
                <a:cs typeface="Arial"/>
              </a:defRPr>
            </a:lvl6pPr>
            <a:lvl7pPr algn="l">
              <a:buNone/>
              <a:defRPr sz="1875" b="0">
                <a:solidFill>
                  <a:srgbClr val="5E6B7A"/>
                </a:solidFill>
                <a:latin typeface="Arial"/>
                <a:ea typeface="Arial"/>
                <a:cs typeface="Arial"/>
              </a:defRPr>
            </a:lvl7pPr>
            <a:lvl8pPr algn="l">
              <a:buNone/>
              <a:defRPr sz="1875" b="0">
                <a:solidFill>
                  <a:srgbClr val="5E6B7A"/>
                </a:solidFill>
                <a:latin typeface="Arial"/>
                <a:ea typeface="Arial"/>
                <a:cs typeface="Arial"/>
              </a:defRPr>
            </a:lvl8pPr>
            <a:lvl9pPr algn="l">
              <a:buNone/>
              <a:defRPr sz="1875" b="0">
                <a:solidFill>
                  <a:srgbClr val="5E6B7A"/>
                </a:solidFill>
                <a:latin typeface="Arial"/>
                <a:ea typeface="Arial"/>
                <a:cs typeface="Arial"/>
              </a:defRPr>
            </a:lvl9pPr>
          </a:lstStyle>
          <a:p xmlns:a="http://schemas.openxmlformats.org/drawingml/2006/main">
            <a:pPr algn="l">
              <a:buNone/>
              <a:defRPr sz="1875" b="0">
                <a:solidFill>
                  <a:srgbClr val="5E6B7A"/>
                </a:solidFill>
                <a:latin typeface="Arial"/>
                <a:ea typeface="Arial"/>
                <a:cs typeface="Arial"/>
              </a:defRPr>
            </a:pPr>
            <a:r>
              <a:rPr sz="1875" b="0">
                <a:solidFill>
                  <a:srgbClr val="5E6B7A"/>
                </a:solidFill>
                <a:latin typeface="Arial"/>
                <a:ea typeface="Arial"/>
                <a:cs typeface="Arial"/>
              </a:rPr>
              <a:t>Điện nhận tỉ lệ với công suất và thời gian. Chỉ xét một phần phiên của trạm.</a:t>
            </a:r>
          </a:p>
          <a:p xmlns:a="http://schemas.openxmlformats.org/drawingml/2006/main">
            <a:pPr algn="l">
              <a:buNone/>
              <a:defRPr sz="1875" b="0">
                <a:solidFill>
                  <a:srgbClr val="5E6B7A"/>
                </a:solidFill>
                <a:latin typeface="Arial"/>
                <a:ea typeface="Arial"/>
                <a:cs typeface="Arial"/>
              </a:defRPr>
            </a:pPr>
            <a:r>
              <a:rPr sz="1875" b="0">
                <a:solidFill>
                  <a:srgbClr val="5E6B7A"/>
                </a:solidFill>
                <a:latin typeface="Arial"/>
                <a:ea typeface="Arial"/>
                <a:cs typeface="Arial"/>
              </a:rPr>
              <a:t>Bộ bảo vệ chưa tối ưu. Test đã được xem qua, cần dữ liệu mới để xác nhận.</a:t>
            </a:r>
          </a:p>
        </p:txBody>
      </p:sp>
    </p:spTree>
    <p:extLst>
      <p:ext uri="{BB962C8B-B14F-4D97-AF65-F5344CB8AC3E}">
        <p14:creationId xmlns:p14="http://schemas.microsoft.com/office/powerpoint/2010/main" val="161687690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Tài liệu tham khảo và trao đổi</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24</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ACN-Data Caltech và kết quả notebook của nhóm. Chi tiết trong ghi chú slide.</a:t>
            </a:r>
          </a:p>
        </p:txBody>
      </p:sp>
      <p:sp>
        <p:nvSpPr>
          <p:cNvPr id="15" name="sources-head">
            <a:extLst xmlns:a="http://schemas.openxmlformats.org/drawingml/2006/main">
              <a:ext uri="{FF2B5EF4-FFF2-40B4-BE49-F238E27FC236}">
                <a16:creationId xmlns:a16="http://schemas.microsoft.com/office/drawing/2014/main" id="{B11292F4-FCDB-4E50-ACD5-6378DE464111}"/>
              </a:ext>
            </a:extLst>
          </p:cNvPr>
          <p:cNvSpPr>
            <a:spLocks xmlns:a="http://schemas.openxmlformats.org/drawingml/2006/main" noGrp="1"/>
          </p:cNvSpPr>
          <p:nvPr/>
        </p:nvSpPr>
        <p:spPr>
          <a:xfrm xmlns:a="http://schemas.openxmlformats.org/drawingml/2006/main">
            <a:off x="609600" y="11715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696C5"/>
                </a:solidFill>
                <a:latin typeface="Arial"/>
                <a:ea typeface="Arial"/>
                <a:cs typeface="Arial"/>
              </a:defRPr>
            </a:defPPr>
            <a:lvl1pPr algn="l">
              <a:buNone/>
              <a:defRPr sz="2250" b="1">
                <a:solidFill>
                  <a:srgbClr val="2696C5"/>
                </a:solidFill>
                <a:latin typeface="Arial"/>
                <a:ea typeface="Arial"/>
                <a:cs typeface="Arial"/>
              </a:defRPr>
            </a:lvl1pPr>
            <a:lvl2pPr algn="l">
              <a:buNone/>
              <a:defRPr sz="2250" b="1">
                <a:solidFill>
                  <a:srgbClr val="2696C5"/>
                </a:solidFill>
                <a:latin typeface="Arial"/>
                <a:ea typeface="Arial"/>
                <a:cs typeface="Arial"/>
              </a:defRPr>
            </a:lvl2pPr>
            <a:lvl3pPr algn="l">
              <a:buNone/>
              <a:defRPr sz="2250" b="1">
                <a:solidFill>
                  <a:srgbClr val="2696C5"/>
                </a:solidFill>
                <a:latin typeface="Arial"/>
                <a:ea typeface="Arial"/>
                <a:cs typeface="Arial"/>
              </a:defRPr>
            </a:lvl3pPr>
            <a:lvl4pPr algn="l">
              <a:buNone/>
              <a:defRPr sz="2250" b="1">
                <a:solidFill>
                  <a:srgbClr val="2696C5"/>
                </a:solidFill>
                <a:latin typeface="Arial"/>
                <a:ea typeface="Arial"/>
                <a:cs typeface="Arial"/>
              </a:defRPr>
            </a:lvl4pPr>
            <a:lvl5pPr algn="l">
              <a:buNone/>
              <a:defRPr sz="2250" b="1">
                <a:solidFill>
                  <a:srgbClr val="2696C5"/>
                </a:solidFill>
                <a:latin typeface="Arial"/>
                <a:ea typeface="Arial"/>
                <a:cs typeface="Arial"/>
              </a:defRPr>
            </a:lvl5pPr>
            <a:lvl6pPr algn="l">
              <a:buNone/>
              <a:defRPr sz="2250" b="1">
                <a:solidFill>
                  <a:srgbClr val="2696C5"/>
                </a:solidFill>
                <a:latin typeface="Arial"/>
                <a:ea typeface="Arial"/>
                <a:cs typeface="Arial"/>
              </a:defRPr>
            </a:lvl6pPr>
            <a:lvl7pPr algn="l">
              <a:buNone/>
              <a:defRPr sz="2250" b="1">
                <a:solidFill>
                  <a:srgbClr val="2696C5"/>
                </a:solidFill>
                <a:latin typeface="Arial"/>
                <a:ea typeface="Arial"/>
                <a:cs typeface="Arial"/>
              </a:defRPr>
            </a:lvl7pPr>
            <a:lvl8pPr algn="l">
              <a:buNone/>
              <a:defRPr sz="2250" b="1">
                <a:solidFill>
                  <a:srgbClr val="2696C5"/>
                </a:solidFill>
                <a:latin typeface="Arial"/>
                <a:ea typeface="Arial"/>
                <a:cs typeface="Arial"/>
              </a:defRPr>
            </a:lvl8pPr>
            <a:lvl9pPr algn="l">
              <a:buNone/>
              <a:defRPr sz="2250" b="1">
                <a:solidFill>
                  <a:srgbClr val="2696C5"/>
                </a:solidFill>
                <a:latin typeface="Arial"/>
                <a:ea typeface="Arial"/>
                <a:cs typeface="Arial"/>
              </a:defRPr>
            </a:lvl9pPr>
          </a:lstStyle>
          <a:p xmlns:a="http://schemas.openxmlformats.org/drawingml/2006/main">
            <a:pPr algn="l">
              <a:buNone/>
              <a:defRPr sz="2250" b="1">
                <a:solidFill>
                  <a:srgbClr val="2696C5"/>
                </a:solidFill>
                <a:latin typeface="Arial"/>
                <a:ea typeface="Arial"/>
                <a:cs typeface="Arial"/>
              </a:defRPr>
            </a:pPr>
            <a:r>
              <a:rPr sz="2250" b="1">
                <a:solidFill>
                  <a:srgbClr val="2696C5"/>
                </a:solidFill>
                <a:latin typeface="Arial"/>
                <a:ea typeface="Arial"/>
                <a:cs typeface="Arial"/>
              </a:rPr>
              <a:t>Nguồn dữ liệu và cơ sở phương pháp</a:t>
            </a:r>
          </a:p>
        </p:txBody>
      </p:sp>
      <p:sp>
        <p:nvSpPr>
          <p:cNvPr id="16" name="ref-0">
            <a:extLst xmlns:a="http://schemas.openxmlformats.org/drawingml/2006/main">
              <a:ext uri="{FF2B5EF4-FFF2-40B4-BE49-F238E27FC236}">
                <a16:creationId xmlns:a16="http://schemas.microsoft.com/office/drawing/2014/main" id="{0274EBB0-0146-4D82-98B2-F91A1370BE2F}"/>
              </a:ext>
            </a:extLst>
          </p:cNvPr>
          <p:cNvSpPr>
            <a:spLocks xmlns:a="http://schemas.openxmlformats.org/drawingml/2006/main" noGrp="1"/>
          </p:cNvSpPr>
          <p:nvPr/>
        </p:nvSpPr>
        <p:spPr>
          <a:xfrm xmlns:a="http://schemas.openxmlformats.org/drawingml/2006/main">
            <a:off x="609600" y="19526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F2937"/>
                </a:solidFill>
                <a:latin typeface="Arial"/>
                <a:ea typeface="Arial"/>
                <a:cs typeface="Arial"/>
              </a:defRPr>
            </a:defPPr>
            <a:lvl1pPr algn="l">
              <a:buNone/>
              <a:defRPr sz="1875" b="0">
                <a:solidFill>
                  <a:srgbClr val="1F2937"/>
                </a:solidFill>
                <a:latin typeface="Arial"/>
                <a:ea typeface="Arial"/>
                <a:cs typeface="Arial"/>
              </a:defRPr>
            </a:lvl1pPr>
            <a:lvl2pPr algn="l">
              <a:buNone/>
              <a:defRPr sz="1875" b="0">
                <a:solidFill>
                  <a:srgbClr val="1F2937"/>
                </a:solidFill>
                <a:latin typeface="Arial"/>
                <a:ea typeface="Arial"/>
                <a:cs typeface="Arial"/>
              </a:defRPr>
            </a:lvl2pPr>
            <a:lvl3pPr algn="l">
              <a:buNone/>
              <a:defRPr sz="1875" b="0">
                <a:solidFill>
                  <a:srgbClr val="1F2937"/>
                </a:solidFill>
                <a:latin typeface="Arial"/>
                <a:ea typeface="Arial"/>
                <a:cs typeface="Arial"/>
              </a:defRPr>
            </a:lvl3pPr>
            <a:lvl4pPr algn="l">
              <a:buNone/>
              <a:defRPr sz="1875" b="0">
                <a:solidFill>
                  <a:srgbClr val="1F2937"/>
                </a:solidFill>
                <a:latin typeface="Arial"/>
                <a:ea typeface="Arial"/>
                <a:cs typeface="Arial"/>
              </a:defRPr>
            </a:lvl4pPr>
            <a:lvl5pPr algn="l">
              <a:buNone/>
              <a:defRPr sz="1875" b="0">
                <a:solidFill>
                  <a:srgbClr val="1F2937"/>
                </a:solidFill>
                <a:latin typeface="Arial"/>
                <a:ea typeface="Arial"/>
                <a:cs typeface="Arial"/>
              </a:defRPr>
            </a:lvl5pPr>
            <a:lvl6pPr algn="l">
              <a:buNone/>
              <a:defRPr sz="1875" b="0">
                <a:solidFill>
                  <a:srgbClr val="1F2937"/>
                </a:solidFill>
                <a:latin typeface="Arial"/>
                <a:ea typeface="Arial"/>
                <a:cs typeface="Arial"/>
              </a:defRPr>
            </a:lvl6pPr>
            <a:lvl7pPr algn="l">
              <a:buNone/>
              <a:defRPr sz="1875" b="0">
                <a:solidFill>
                  <a:srgbClr val="1F2937"/>
                </a:solidFill>
                <a:latin typeface="Arial"/>
                <a:ea typeface="Arial"/>
                <a:cs typeface="Arial"/>
              </a:defRPr>
            </a:lvl7pPr>
            <a:lvl8pPr algn="l">
              <a:buNone/>
              <a:defRPr sz="1875" b="0">
                <a:solidFill>
                  <a:srgbClr val="1F2937"/>
                </a:solidFill>
                <a:latin typeface="Arial"/>
                <a:ea typeface="Arial"/>
                <a:cs typeface="Arial"/>
              </a:defRPr>
            </a:lvl8pPr>
            <a:lvl9pPr algn="l">
              <a:buNone/>
              <a:defRPr sz="1875" b="0">
                <a:solidFill>
                  <a:srgbClr val="1F2937"/>
                </a:solidFill>
                <a:latin typeface="Arial"/>
                <a:ea typeface="Arial"/>
                <a:cs typeface="Arial"/>
              </a:defRPr>
            </a:lvl9pPr>
          </a:lstStyle>
          <a:p xmlns:a="http://schemas.openxmlformats.org/drawingml/2006/main">
            <a:pPr algn="l">
              <a:buNone/>
              <a:defRPr sz="1875" b="0">
                <a:solidFill>
                  <a:srgbClr val="1F2937"/>
                </a:solidFill>
                <a:latin typeface="Arial"/>
                <a:ea typeface="Arial"/>
                <a:cs typeface="Arial"/>
              </a:defRPr>
            </a:pPr>
            <a:r>
              <a:rPr sz="1875" b="0">
                <a:solidFill>
                  <a:srgbClr val="1F2937"/>
                </a:solidFill>
                <a:latin typeface="Arial"/>
                <a:ea typeface="Arial"/>
                <a:cs typeface="Arial"/>
              </a:rPr>
              <a:t>1. ACN-Data, Caltech: dữ liệu phiên và khai báo người dùng</a:t>
            </a:r>
          </a:p>
        </p:txBody>
      </p:sp>
      <p:sp>
        <p:nvSpPr>
          <p:cNvPr id="17" name="ref-1">
            <a:extLst xmlns:a="http://schemas.openxmlformats.org/drawingml/2006/main">
              <a:ext uri="{FF2B5EF4-FFF2-40B4-BE49-F238E27FC236}">
                <a16:creationId xmlns:a16="http://schemas.microsoft.com/office/drawing/2014/main" id="{9759C43A-F952-4909-83AC-C33400C0DAF0}"/>
              </a:ext>
            </a:extLst>
          </p:cNvPr>
          <p:cNvSpPr>
            <a:spLocks xmlns:a="http://schemas.openxmlformats.org/drawingml/2006/main" noGrp="1"/>
          </p:cNvSpPr>
          <p:nvPr/>
        </p:nvSpPr>
        <p:spPr>
          <a:xfrm xmlns:a="http://schemas.openxmlformats.org/drawingml/2006/main">
            <a:off x="609600" y="24479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F2937"/>
                </a:solidFill>
                <a:latin typeface="Arial"/>
                <a:ea typeface="Arial"/>
                <a:cs typeface="Arial"/>
              </a:defRPr>
            </a:defPPr>
            <a:lvl1pPr algn="l">
              <a:buNone/>
              <a:defRPr sz="1875" b="0">
                <a:solidFill>
                  <a:srgbClr val="1F2937"/>
                </a:solidFill>
                <a:latin typeface="Arial"/>
                <a:ea typeface="Arial"/>
                <a:cs typeface="Arial"/>
              </a:defRPr>
            </a:lvl1pPr>
            <a:lvl2pPr algn="l">
              <a:buNone/>
              <a:defRPr sz="1875" b="0">
                <a:solidFill>
                  <a:srgbClr val="1F2937"/>
                </a:solidFill>
                <a:latin typeface="Arial"/>
                <a:ea typeface="Arial"/>
                <a:cs typeface="Arial"/>
              </a:defRPr>
            </a:lvl2pPr>
            <a:lvl3pPr algn="l">
              <a:buNone/>
              <a:defRPr sz="1875" b="0">
                <a:solidFill>
                  <a:srgbClr val="1F2937"/>
                </a:solidFill>
                <a:latin typeface="Arial"/>
                <a:ea typeface="Arial"/>
                <a:cs typeface="Arial"/>
              </a:defRPr>
            </a:lvl3pPr>
            <a:lvl4pPr algn="l">
              <a:buNone/>
              <a:defRPr sz="1875" b="0">
                <a:solidFill>
                  <a:srgbClr val="1F2937"/>
                </a:solidFill>
                <a:latin typeface="Arial"/>
                <a:ea typeface="Arial"/>
                <a:cs typeface="Arial"/>
              </a:defRPr>
            </a:lvl4pPr>
            <a:lvl5pPr algn="l">
              <a:buNone/>
              <a:defRPr sz="1875" b="0">
                <a:solidFill>
                  <a:srgbClr val="1F2937"/>
                </a:solidFill>
                <a:latin typeface="Arial"/>
                <a:ea typeface="Arial"/>
                <a:cs typeface="Arial"/>
              </a:defRPr>
            </a:lvl5pPr>
            <a:lvl6pPr algn="l">
              <a:buNone/>
              <a:defRPr sz="1875" b="0">
                <a:solidFill>
                  <a:srgbClr val="1F2937"/>
                </a:solidFill>
                <a:latin typeface="Arial"/>
                <a:ea typeface="Arial"/>
                <a:cs typeface="Arial"/>
              </a:defRPr>
            </a:lvl6pPr>
            <a:lvl7pPr algn="l">
              <a:buNone/>
              <a:defRPr sz="1875" b="0">
                <a:solidFill>
                  <a:srgbClr val="1F2937"/>
                </a:solidFill>
                <a:latin typeface="Arial"/>
                <a:ea typeface="Arial"/>
                <a:cs typeface="Arial"/>
              </a:defRPr>
            </a:lvl7pPr>
            <a:lvl8pPr algn="l">
              <a:buNone/>
              <a:defRPr sz="1875" b="0">
                <a:solidFill>
                  <a:srgbClr val="1F2937"/>
                </a:solidFill>
                <a:latin typeface="Arial"/>
                <a:ea typeface="Arial"/>
                <a:cs typeface="Arial"/>
              </a:defRPr>
            </a:lvl8pPr>
            <a:lvl9pPr algn="l">
              <a:buNone/>
              <a:defRPr sz="1875" b="0">
                <a:solidFill>
                  <a:srgbClr val="1F2937"/>
                </a:solidFill>
                <a:latin typeface="Arial"/>
                <a:ea typeface="Arial"/>
                <a:cs typeface="Arial"/>
              </a:defRPr>
            </a:lvl9pPr>
          </a:lstStyle>
          <a:p xmlns:a="http://schemas.openxmlformats.org/drawingml/2006/main">
            <a:pPr algn="l">
              <a:buNone/>
              <a:defRPr sz="1875" b="0">
                <a:solidFill>
                  <a:srgbClr val="1F2937"/>
                </a:solidFill>
                <a:latin typeface="Arial"/>
                <a:ea typeface="Arial"/>
                <a:cs typeface="Arial"/>
              </a:defRPr>
            </a:pPr>
            <a:r>
              <a:rPr sz="1875" b="0">
                <a:solidFill>
                  <a:srgbClr val="1F2937"/>
                </a:solidFill>
                <a:latin typeface="Arial"/>
                <a:ea typeface="Arial"/>
                <a:cs typeface="Arial"/>
              </a:rPr>
              <a:t>2. Lee, Li và Low (2019): ACN-Data, ACM e-Energy</a:t>
            </a:r>
          </a:p>
        </p:txBody>
      </p:sp>
      <p:sp>
        <p:nvSpPr>
          <p:cNvPr id="18" name="ref-2">
            <a:extLst xmlns:a="http://schemas.openxmlformats.org/drawingml/2006/main">
              <a:ext uri="{FF2B5EF4-FFF2-40B4-BE49-F238E27FC236}">
                <a16:creationId xmlns:a16="http://schemas.microsoft.com/office/drawing/2014/main" id="{796ADC51-8109-4765-B338-7816E74DD2C3}"/>
              </a:ext>
            </a:extLst>
          </p:cNvPr>
          <p:cNvSpPr>
            <a:spLocks xmlns:a="http://schemas.openxmlformats.org/drawingml/2006/main" noGrp="1"/>
          </p:cNvSpPr>
          <p:nvPr/>
        </p:nvSpPr>
        <p:spPr>
          <a:xfrm xmlns:a="http://schemas.openxmlformats.org/drawingml/2006/main">
            <a:off x="609600" y="29432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F2937"/>
                </a:solidFill>
                <a:latin typeface="Arial"/>
                <a:ea typeface="Arial"/>
                <a:cs typeface="Arial"/>
              </a:defRPr>
            </a:defPPr>
            <a:lvl1pPr algn="l">
              <a:buNone/>
              <a:defRPr sz="1875" b="0">
                <a:solidFill>
                  <a:srgbClr val="1F2937"/>
                </a:solidFill>
                <a:latin typeface="Arial"/>
                <a:ea typeface="Arial"/>
                <a:cs typeface="Arial"/>
              </a:defRPr>
            </a:lvl1pPr>
            <a:lvl2pPr algn="l">
              <a:buNone/>
              <a:defRPr sz="1875" b="0">
                <a:solidFill>
                  <a:srgbClr val="1F2937"/>
                </a:solidFill>
                <a:latin typeface="Arial"/>
                <a:ea typeface="Arial"/>
                <a:cs typeface="Arial"/>
              </a:defRPr>
            </a:lvl2pPr>
            <a:lvl3pPr algn="l">
              <a:buNone/>
              <a:defRPr sz="1875" b="0">
                <a:solidFill>
                  <a:srgbClr val="1F2937"/>
                </a:solidFill>
                <a:latin typeface="Arial"/>
                <a:ea typeface="Arial"/>
                <a:cs typeface="Arial"/>
              </a:defRPr>
            </a:lvl3pPr>
            <a:lvl4pPr algn="l">
              <a:buNone/>
              <a:defRPr sz="1875" b="0">
                <a:solidFill>
                  <a:srgbClr val="1F2937"/>
                </a:solidFill>
                <a:latin typeface="Arial"/>
                <a:ea typeface="Arial"/>
                <a:cs typeface="Arial"/>
              </a:defRPr>
            </a:lvl4pPr>
            <a:lvl5pPr algn="l">
              <a:buNone/>
              <a:defRPr sz="1875" b="0">
                <a:solidFill>
                  <a:srgbClr val="1F2937"/>
                </a:solidFill>
                <a:latin typeface="Arial"/>
                <a:ea typeface="Arial"/>
                <a:cs typeface="Arial"/>
              </a:defRPr>
            </a:lvl5pPr>
            <a:lvl6pPr algn="l">
              <a:buNone/>
              <a:defRPr sz="1875" b="0">
                <a:solidFill>
                  <a:srgbClr val="1F2937"/>
                </a:solidFill>
                <a:latin typeface="Arial"/>
                <a:ea typeface="Arial"/>
                <a:cs typeface="Arial"/>
              </a:defRPr>
            </a:lvl6pPr>
            <a:lvl7pPr algn="l">
              <a:buNone/>
              <a:defRPr sz="1875" b="0">
                <a:solidFill>
                  <a:srgbClr val="1F2937"/>
                </a:solidFill>
                <a:latin typeface="Arial"/>
                <a:ea typeface="Arial"/>
                <a:cs typeface="Arial"/>
              </a:defRPr>
            </a:lvl7pPr>
            <a:lvl8pPr algn="l">
              <a:buNone/>
              <a:defRPr sz="1875" b="0">
                <a:solidFill>
                  <a:srgbClr val="1F2937"/>
                </a:solidFill>
                <a:latin typeface="Arial"/>
                <a:ea typeface="Arial"/>
                <a:cs typeface="Arial"/>
              </a:defRPr>
            </a:lvl8pPr>
            <a:lvl9pPr algn="l">
              <a:buNone/>
              <a:defRPr sz="1875" b="0">
                <a:solidFill>
                  <a:srgbClr val="1F2937"/>
                </a:solidFill>
                <a:latin typeface="Arial"/>
                <a:ea typeface="Arial"/>
                <a:cs typeface="Arial"/>
              </a:defRPr>
            </a:lvl9pPr>
          </a:lstStyle>
          <a:p xmlns:a="http://schemas.openxmlformats.org/drawingml/2006/main">
            <a:pPr algn="l">
              <a:buNone/>
              <a:defRPr sz="1875" b="0">
                <a:solidFill>
                  <a:srgbClr val="1F2937"/>
                </a:solidFill>
                <a:latin typeface="Arial"/>
                <a:ea typeface="Arial"/>
                <a:cs typeface="Arial"/>
              </a:defRPr>
            </a:pPr>
            <a:r>
              <a:rPr sz="1875" b="0">
                <a:solidFill>
                  <a:srgbClr val="1F2937"/>
                </a:solidFill>
                <a:latin typeface="Arial"/>
                <a:ea typeface="Arial"/>
                <a:cs typeface="Arial"/>
              </a:rPr>
              <a:t>3. Lee (2021): luận án Caltech, Bảng 3.9 về công suất hệ thống</a:t>
            </a:r>
          </a:p>
        </p:txBody>
      </p:sp>
      <p:sp>
        <p:nvSpPr>
          <p:cNvPr id="19" name="ref-3">
            <a:extLst xmlns:a="http://schemas.openxmlformats.org/drawingml/2006/main">
              <a:ext uri="{FF2B5EF4-FFF2-40B4-BE49-F238E27FC236}">
                <a16:creationId xmlns:a16="http://schemas.microsoft.com/office/drawing/2014/main" id="{E318A0F1-2009-448F-9448-E56FCC207F78}"/>
              </a:ext>
            </a:extLst>
          </p:cNvPr>
          <p:cNvSpPr>
            <a:spLocks xmlns:a="http://schemas.openxmlformats.org/drawingml/2006/main" noGrp="1"/>
          </p:cNvSpPr>
          <p:nvPr/>
        </p:nvSpPr>
        <p:spPr>
          <a:xfrm xmlns:a="http://schemas.openxmlformats.org/drawingml/2006/main">
            <a:off x="609600" y="34385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F2937"/>
                </a:solidFill>
                <a:latin typeface="Arial"/>
                <a:ea typeface="Arial"/>
                <a:cs typeface="Arial"/>
              </a:defRPr>
            </a:defPPr>
            <a:lvl1pPr algn="l">
              <a:buNone/>
              <a:defRPr sz="1875" b="0">
                <a:solidFill>
                  <a:srgbClr val="1F2937"/>
                </a:solidFill>
                <a:latin typeface="Arial"/>
                <a:ea typeface="Arial"/>
                <a:cs typeface="Arial"/>
              </a:defRPr>
            </a:lvl1pPr>
            <a:lvl2pPr algn="l">
              <a:buNone/>
              <a:defRPr sz="1875" b="0">
                <a:solidFill>
                  <a:srgbClr val="1F2937"/>
                </a:solidFill>
                <a:latin typeface="Arial"/>
                <a:ea typeface="Arial"/>
                <a:cs typeface="Arial"/>
              </a:defRPr>
            </a:lvl2pPr>
            <a:lvl3pPr algn="l">
              <a:buNone/>
              <a:defRPr sz="1875" b="0">
                <a:solidFill>
                  <a:srgbClr val="1F2937"/>
                </a:solidFill>
                <a:latin typeface="Arial"/>
                <a:ea typeface="Arial"/>
                <a:cs typeface="Arial"/>
              </a:defRPr>
            </a:lvl3pPr>
            <a:lvl4pPr algn="l">
              <a:buNone/>
              <a:defRPr sz="1875" b="0">
                <a:solidFill>
                  <a:srgbClr val="1F2937"/>
                </a:solidFill>
                <a:latin typeface="Arial"/>
                <a:ea typeface="Arial"/>
                <a:cs typeface="Arial"/>
              </a:defRPr>
            </a:lvl4pPr>
            <a:lvl5pPr algn="l">
              <a:buNone/>
              <a:defRPr sz="1875" b="0">
                <a:solidFill>
                  <a:srgbClr val="1F2937"/>
                </a:solidFill>
                <a:latin typeface="Arial"/>
                <a:ea typeface="Arial"/>
                <a:cs typeface="Arial"/>
              </a:defRPr>
            </a:lvl5pPr>
            <a:lvl6pPr algn="l">
              <a:buNone/>
              <a:defRPr sz="1875" b="0">
                <a:solidFill>
                  <a:srgbClr val="1F2937"/>
                </a:solidFill>
                <a:latin typeface="Arial"/>
                <a:ea typeface="Arial"/>
                <a:cs typeface="Arial"/>
              </a:defRPr>
            </a:lvl6pPr>
            <a:lvl7pPr algn="l">
              <a:buNone/>
              <a:defRPr sz="1875" b="0">
                <a:solidFill>
                  <a:srgbClr val="1F2937"/>
                </a:solidFill>
                <a:latin typeface="Arial"/>
                <a:ea typeface="Arial"/>
                <a:cs typeface="Arial"/>
              </a:defRPr>
            </a:lvl7pPr>
            <a:lvl8pPr algn="l">
              <a:buNone/>
              <a:defRPr sz="1875" b="0">
                <a:solidFill>
                  <a:srgbClr val="1F2937"/>
                </a:solidFill>
                <a:latin typeface="Arial"/>
                <a:ea typeface="Arial"/>
                <a:cs typeface="Arial"/>
              </a:defRPr>
            </a:lvl8pPr>
            <a:lvl9pPr algn="l">
              <a:buNone/>
              <a:defRPr sz="1875" b="0">
                <a:solidFill>
                  <a:srgbClr val="1F2937"/>
                </a:solidFill>
                <a:latin typeface="Arial"/>
                <a:ea typeface="Arial"/>
                <a:cs typeface="Arial"/>
              </a:defRPr>
            </a:lvl9pPr>
          </a:lstStyle>
          <a:p xmlns:a="http://schemas.openxmlformats.org/drawingml/2006/main">
            <a:pPr algn="l">
              <a:buNone/>
              <a:defRPr sz="1875" b="0">
                <a:solidFill>
                  <a:srgbClr val="1F2937"/>
                </a:solidFill>
                <a:latin typeface="Arial"/>
                <a:ea typeface="Arial"/>
                <a:cs typeface="Arial"/>
              </a:defRPr>
            </a:pPr>
            <a:r>
              <a:rPr sz="1875" b="0">
                <a:solidFill>
                  <a:srgbClr val="1F2937"/>
                </a:solidFill>
                <a:latin typeface="Arial"/>
                <a:ea typeface="Arial"/>
                <a:cs typeface="Arial"/>
              </a:rPr>
              <a:t>4. ACNPortal v0.3.3: cổng, pod, pha và giới hạn dòng</a:t>
            </a:r>
          </a:p>
        </p:txBody>
      </p:sp>
      <p:sp>
        <p:nvSpPr>
          <p:cNvPr id="20" name="ref-4">
            <a:extLst xmlns:a="http://schemas.openxmlformats.org/drawingml/2006/main">
              <a:ext uri="{FF2B5EF4-FFF2-40B4-BE49-F238E27FC236}">
                <a16:creationId xmlns:a16="http://schemas.microsoft.com/office/drawing/2014/main" id="{F3F18C6B-1C1B-4829-9844-EAF254A56D02}"/>
              </a:ext>
            </a:extLst>
          </p:cNvPr>
          <p:cNvSpPr>
            <a:spLocks xmlns:a="http://schemas.openxmlformats.org/drawingml/2006/main" noGrp="1"/>
          </p:cNvSpPr>
          <p:nvPr/>
        </p:nvSpPr>
        <p:spPr>
          <a:xfrm xmlns:a="http://schemas.openxmlformats.org/drawingml/2006/main">
            <a:off x="609600" y="39338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F2937"/>
                </a:solidFill>
                <a:latin typeface="Arial"/>
                <a:ea typeface="Arial"/>
                <a:cs typeface="Arial"/>
              </a:defRPr>
            </a:defPPr>
            <a:lvl1pPr algn="l">
              <a:buNone/>
              <a:defRPr sz="1875" b="0">
                <a:solidFill>
                  <a:srgbClr val="1F2937"/>
                </a:solidFill>
                <a:latin typeface="Arial"/>
                <a:ea typeface="Arial"/>
                <a:cs typeface="Arial"/>
              </a:defRPr>
            </a:lvl1pPr>
            <a:lvl2pPr algn="l">
              <a:buNone/>
              <a:defRPr sz="1875" b="0">
                <a:solidFill>
                  <a:srgbClr val="1F2937"/>
                </a:solidFill>
                <a:latin typeface="Arial"/>
                <a:ea typeface="Arial"/>
                <a:cs typeface="Arial"/>
              </a:defRPr>
            </a:lvl2pPr>
            <a:lvl3pPr algn="l">
              <a:buNone/>
              <a:defRPr sz="1875" b="0">
                <a:solidFill>
                  <a:srgbClr val="1F2937"/>
                </a:solidFill>
                <a:latin typeface="Arial"/>
                <a:ea typeface="Arial"/>
                <a:cs typeface="Arial"/>
              </a:defRPr>
            </a:lvl3pPr>
            <a:lvl4pPr algn="l">
              <a:buNone/>
              <a:defRPr sz="1875" b="0">
                <a:solidFill>
                  <a:srgbClr val="1F2937"/>
                </a:solidFill>
                <a:latin typeface="Arial"/>
                <a:ea typeface="Arial"/>
                <a:cs typeface="Arial"/>
              </a:defRPr>
            </a:lvl4pPr>
            <a:lvl5pPr algn="l">
              <a:buNone/>
              <a:defRPr sz="1875" b="0">
                <a:solidFill>
                  <a:srgbClr val="1F2937"/>
                </a:solidFill>
                <a:latin typeface="Arial"/>
                <a:ea typeface="Arial"/>
                <a:cs typeface="Arial"/>
              </a:defRPr>
            </a:lvl5pPr>
            <a:lvl6pPr algn="l">
              <a:buNone/>
              <a:defRPr sz="1875" b="0">
                <a:solidFill>
                  <a:srgbClr val="1F2937"/>
                </a:solidFill>
                <a:latin typeface="Arial"/>
                <a:ea typeface="Arial"/>
                <a:cs typeface="Arial"/>
              </a:defRPr>
            </a:lvl6pPr>
            <a:lvl7pPr algn="l">
              <a:buNone/>
              <a:defRPr sz="1875" b="0">
                <a:solidFill>
                  <a:srgbClr val="1F2937"/>
                </a:solidFill>
                <a:latin typeface="Arial"/>
                <a:ea typeface="Arial"/>
                <a:cs typeface="Arial"/>
              </a:defRPr>
            </a:lvl7pPr>
            <a:lvl8pPr algn="l">
              <a:buNone/>
              <a:defRPr sz="1875" b="0">
                <a:solidFill>
                  <a:srgbClr val="1F2937"/>
                </a:solidFill>
                <a:latin typeface="Arial"/>
                <a:ea typeface="Arial"/>
                <a:cs typeface="Arial"/>
              </a:defRPr>
            </a:lvl8pPr>
            <a:lvl9pPr algn="l">
              <a:buNone/>
              <a:defRPr sz="1875" b="0">
                <a:solidFill>
                  <a:srgbClr val="1F2937"/>
                </a:solidFill>
                <a:latin typeface="Arial"/>
                <a:ea typeface="Arial"/>
                <a:cs typeface="Arial"/>
              </a:defRPr>
            </a:lvl9pPr>
          </a:lstStyle>
          <a:p xmlns:a="http://schemas.openxmlformats.org/drawingml/2006/main">
            <a:pPr algn="l">
              <a:buNone/>
              <a:defRPr sz="1875" b="0">
                <a:solidFill>
                  <a:srgbClr val="1F2937"/>
                </a:solidFill>
                <a:latin typeface="Arial"/>
                <a:ea typeface="Arial"/>
                <a:cs typeface="Arial"/>
              </a:defRPr>
            </a:pPr>
            <a:r>
              <a:rPr sz="1875" b="0">
                <a:solidFill>
                  <a:srgbClr val="1F2937"/>
                </a:solidFill>
                <a:latin typeface="Arial"/>
                <a:ea typeface="Arial"/>
                <a:cs typeface="Arial"/>
              </a:rPr>
              <a:t>5. Schulman và cộng sự (2017): Proximal Policy Optimization</a:t>
            </a:r>
          </a:p>
        </p:txBody>
      </p:sp>
      <p:sp>
        <p:nvSpPr>
          <p:cNvPr id="21" name="ref-5">
            <a:extLst xmlns:a="http://schemas.openxmlformats.org/drawingml/2006/main">
              <a:ext uri="{FF2B5EF4-FFF2-40B4-BE49-F238E27FC236}">
                <a16:creationId xmlns:a16="http://schemas.microsoft.com/office/drawing/2014/main" id="{D59B5EEE-8E37-42D9-89E1-11E36DFAE744}"/>
              </a:ext>
            </a:extLst>
          </p:cNvPr>
          <p:cNvSpPr>
            <a:spLocks xmlns:a="http://schemas.openxmlformats.org/drawingml/2006/main" noGrp="1"/>
          </p:cNvSpPr>
          <p:nvPr/>
        </p:nvSpPr>
        <p:spPr>
          <a:xfrm xmlns:a="http://schemas.openxmlformats.org/drawingml/2006/main">
            <a:off x="609600" y="44291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F2937"/>
                </a:solidFill>
                <a:latin typeface="Arial"/>
                <a:ea typeface="Arial"/>
                <a:cs typeface="Arial"/>
              </a:defRPr>
            </a:defPPr>
            <a:lvl1pPr algn="l">
              <a:buNone/>
              <a:defRPr sz="1875" b="0">
                <a:solidFill>
                  <a:srgbClr val="1F2937"/>
                </a:solidFill>
                <a:latin typeface="Arial"/>
                <a:ea typeface="Arial"/>
                <a:cs typeface="Arial"/>
              </a:defRPr>
            </a:lvl1pPr>
            <a:lvl2pPr algn="l">
              <a:buNone/>
              <a:defRPr sz="1875" b="0">
                <a:solidFill>
                  <a:srgbClr val="1F2937"/>
                </a:solidFill>
                <a:latin typeface="Arial"/>
                <a:ea typeface="Arial"/>
                <a:cs typeface="Arial"/>
              </a:defRPr>
            </a:lvl2pPr>
            <a:lvl3pPr algn="l">
              <a:buNone/>
              <a:defRPr sz="1875" b="0">
                <a:solidFill>
                  <a:srgbClr val="1F2937"/>
                </a:solidFill>
                <a:latin typeface="Arial"/>
                <a:ea typeface="Arial"/>
                <a:cs typeface="Arial"/>
              </a:defRPr>
            </a:lvl3pPr>
            <a:lvl4pPr algn="l">
              <a:buNone/>
              <a:defRPr sz="1875" b="0">
                <a:solidFill>
                  <a:srgbClr val="1F2937"/>
                </a:solidFill>
                <a:latin typeface="Arial"/>
                <a:ea typeface="Arial"/>
                <a:cs typeface="Arial"/>
              </a:defRPr>
            </a:lvl4pPr>
            <a:lvl5pPr algn="l">
              <a:buNone/>
              <a:defRPr sz="1875" b="0">
                <a:solidFill>
                  <a:srgbClr val="1F2937"/>
                </a:solidFill>
                <a:latin typeface="Arial"/>
                <a:ea typeface="Arial"/>
                <a:cs typeface="Arial"/>
              </a:defRPr>
            </a:lvl5pPr>
            <a:lvl6pPr algn="l">
              <a:buNone/>
              <a:defRPr sz="1875" b="0">
                <a:solidFill>
                  <a:srgbClr val="1F2937"/>
                </a:solidFill>
                <a:latin typeface="Arial"/>
                <a:ea typeface="Arial"/>
                <a:cs typeface="Arial"/>
              </a:defRPr>
            </a:lvl6pPr>
            <a:lvl7pPr algn="l">
              <a:buNone/>
              <a:defRPr sz="1875" b="0">
                <a:solidFill>
                  <a:srgbClr val="1F2937"/>
                </a:solidFill>
                <a:latin typeface="Arial"/>
                <a:ea typeface="Arial"/>
                <a:cs typeface="Arial"/>
              </a:defRPr>
            </a:lvl7pPr>
            <a:lvl8pPr algn="l">
              <a:buNone/>
              <a:defRPr sz="1875" b="0">
                <a:solidFill>
                  <a:srgbClr val="1F2937"/>
                </a:solidFill>
                <a:latin typeface="Arial"/>
                <a:ea typeface="Arial"/>
                <a:cs typeface="Arial"/>
              </a:defRPr>
            </a:lvl8pPr>
            <a:lvl9pPr algn="l">
              <a:buNone/>
              <a:defRPr sz="1875" b="0">
                <a:solidFill>
                  <a:srgbClr val="1F2937"/>
                </a:solidFill>
                <a:latin typeface="Arial"/>
                <a:ea typeface="Arial"/>
                <a:cs typeface="Arial"/>
              </a:defRPr>
            </a:lvl9pPr>
          </a:lstStyle>
          <a:p xmlns:a="http://schemas.openxmlformats.org/drawingml/2006/main">
            <a:pPr algn="l">
              <a:buNone/>
              <a:defRPr sz="1875" b="0">
                <a:solidFill>
                  <a:srgbClr val="1F2937"/>
                </a:solidFill>
                <a:latin typeface="Arial"/>
                <a:ea typeface="Arial"/>
                <a:cs typeface="Arial"/>
              </a:defRPr>
            </a:pPr>
            <a:r>
              <a:rPr sz="1875" b="0">
                <a:solidFill>
                  <a:srgbClr val="1F2937"/>
                </a:solidFill>
                <a:latin typeface="Arial"/>
                <a:ea typeface="Arial"/>
                <a:cs typeface="Arial"/>
              </a:rPr>
              <a:t>6. Watkins và Dayan (1992): Q-learning</a:t>
            </a:r>
          </a:p>
        </p:txBody>
      </p:sp>
      <p:sp>
        <p:nvSpPr>
          <p:cNvPr id="22" name="takeaway">
            <a:extLst xmlns:a="http://schemas.openxmlformats.org/drawingml/2006/main">
              <a:ext uri="{FF2B5EF4-FFF2-40B4-BE49-F238E27FC236}">
                <a16:creationId xmlns:a16="http://schemas.microsoft.com/office/drawing/2014/main" id="{45FFC38C-2EC7-4653-A2E9-0C625F5F9CDD}"/>
              </a:ext>
            </a:extLst>
          </p:cNvPr>
          <p:cNvSpPr>
            <a:spLocks xmlns:a="http://schemas.openxmlformats.org/drawingml/2006/main" noGrp="1"/>
          </p:cNvSpPr>
          <p:nvPr/>
        </p:nvSpPr>
        <p:spPr>
          <a:xfrm xmlns:a="http://schemas.openxmlformats.org/drawingml/2006/main">
            <a:off x="609600" y="55054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D4B"/>
                </a:solidFill>
                <a:latin typeface="Arial"/>
                <a:ea typeface="Arial"/>
                <a:cs typeface="Arial"/>
              </a:defRPr>
            </a:defPPr>
            <a:lvl1pPr algn="l">
              <a:buNone/>
              <a:defRPr sz="2100" b="1">
                <a:solidFill>
                  <a:srgbClr val="182D4B"/>
                </a:solidFill>
                <a:latin typeface="Arial"/>
                <a:ea typeface="Arial"/>
                <a:cs typeface="Arial"/>
              </a:defRPr>
            </a:lvl1pPr>
            <a:lvl2pPr algn="l">
              <a:buNone/>
              <a:defRPr sz="2100" b="1">
                <a:solidFill>
                  <a:srgbClr val="182D4B"/>
                </a:solidFill>
                <a:latin typeface="Arial"/>
                <a:ea typeface="Arial"/>
                <a:cs typeface="Arial"/>
              </a:defRPr>
            </a:lvl2pPr>
            <a:lvl3pPr algn="l">
              <a:buNone/>
              <a:defRPr sz="2100" b="1">
                <a:solidFill>
                  <a:srgbClr val="182D4B"/>
                </a:solidFill>
                <a:latin typeface="Arial"/>
                <a:ea typeface="Arial"/>
                <a:cs typeface="Arial"/>
              </a:defRPr>
            </a:lvl3pPr>
            <a:lvl4pPr algn="l">
              <a:buNone/>
              <a:defRPr sz="2100" b="1">
                <a:solidFill>
                  <a:srgbClr val="182D4B"/>
                </a:solidFill>
                <a:latin typeface="Arial"/>
                <a:ea typeface="Arial"/>
                <a:cs typeface="Arial"/>
              </a:defRPr>
            </a:lvl4pPr>
            <a:lvl5pPr algn="l">
              <a:buNone/>
              <a:defRPr sz="2100" b="1">
                <a:solidFill>
                  <a:srgbClr val="182D4B"/>
                </a:solidFill>
                <a:latin typeface="Arial"/>
                <a:ea typeface="Arial"/>
                <a:cs typeface="Arial"/>
              </a:defRPr>
            </a:lvl5pPr>
            <a:lvl6pPr algn="l">
              <a:buNone/>
              <a:defRPr sz="2100" b="1">
                <a:solidFill>
                  <a:srgbClr val="182D4B"/>
                </a:solidFill>
                <a:latin typeface="Arial"/>
                <a:ea typeface="Arial"/>
                <a:cs typeface="Arial"/>
              </a:defRPr>
            </a:lvl6pPr>
            <a:lvl7pPr algn="l">
              <a:buNone/>
              <a:defRPr sz="2100" b="1">
                <a:solidFill>
                  <a:srgbClr val="182D4B"/>
                </a:solidFill>
                <a:latin typeface="Arial"/>
                <a:ea typeface="Arial"/>
                <a:cs typeface="Arial"/>
              </a:defRPr>
            </a:lvl7pPr>
            <a:lvl8pPr algn="l">
              <a:buNone/>
              <a:defRPr sz="2100" b="1">
                <a:solidFill>
                  <a:srgbClr val="182D4B"/>
                </a:solidFill>
                <a:latin typeface="Arial"/>
                <a:ea typeface="Arial"/>
                <a:cs typeface="Arial"/>
              </a:defRPr>
            </a:lvl8pPr>
            <a:lvl9pPr algn="l">
              <a:buNone/>
              <a:defRPr sz="2100" b="1">
                <a:solidFill>
                  <a:srgbClr val="182D4B"/>
                </a:solidFill>
                <a:latin typeface="Arial"/>
                <a:ea typeface="Arial"/>
                <a:cs typeface="Arial"/>
              </a:defRPr>
            </a:lvl9pPr>
          </a:lstStyle>
          <a:p xmlns:a="http://schemas.openxmlformats.org/drawingml/2006/main">
            <a:pPr algn="l">
              <a:buNone/>
              <a:defRPr sz="2100" b="1">
                <a:solidFill>
                  <a:srgbClr val="182D4B"/>
                </a:solidFill>
                <a:latin typeface="Arial"/>
                <a:ea typeface="Arial"/>
                <a:cs typeface="Arial"/>
              </a:defRPr>
            </a:pPr>
            <a:r>
              <a:rPr sz="2100" b="1">
                <a:solidFill>
                  <a:srgbClr val="182D4B"/>
                </a:solidFill>
                <a:latin typeface="Arial"/>
                <a:ea typeface="Arial"/>
                <a:cs typeface="Arial"/>
              </a:rPr>
              <a:t>Phân bổ điện có kiểm tra, đánh giá RL bằng cùng điều kiện và số liệu thực nghiệm</a:t>
            </a:r>
          </a:p>
        </p:txBody>
      </p:sp>
      <p:sp>
        <p:nvSpPr>
          <p:cNvPr id="23" name="questions">
            <a:extLst xmlns:a="http://schemas.openxmlformats.org/drawingml/2006/main">
              <a:ext uri="{FF2B5EF4-FFF2-40B4-BE49-F238E27FC236}">
                <a16:creationId xmlns:a16="http://schemas.microsoft.com/office/drawing/2014/main" id="{B3FC8E21-DF15-4BA8-8CBD-D8E7DEFD724D}"/>
              </a:ext>
            </a:extLst>
          </p:cNvPr>
          <p:cNvSpPr>
            <a:spLocks xmlns:a="http://schemas.openxmlformats.org/drawingml/2006/main" noGrp="1"/>
          </p:cNvSpPr>
          <p:nvPr/>
        </p:nvSpPr>
        <p:spPr>
          <a:xfrm xmlns:a="http://schemas.openxmlformats.org/drawingml/2006/main">
            <a:off x="609600" y="61150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696C5"/>
                </a:solidFill>
                <a:latin typeface="Arial"/>
                <a:ea typeface="Arial"/>
                <a:cs typeface="Arial"/>
              </a:defRPr>
            </a:defPPr>
            <a:lvl1pPr algn="l">
              <a:buNone/>
              <a:defRPr sz="1800" b="1">
                <a:solidFill>
                  <a:srgbClr val="2696C5"/>
                </a:solidFill>
                <a:latin typeface="Arial"/>
                <a:ea typeface="Arial"/>
                <a:cs typeface="Arial"/>
              </a:defRPr>
            </a:lvl1pPr>
            <a:lvl2pPr algn="l">
              <a:buNone/>
              <a:defRPr sz="1800" b="1">
                <a:solidFill>
                  <a:srgbClr val="2696C5"/>
                </a:solidFill>
                <a:latin typeface="Arial"/>
                <a:ea typeface="Arial"/>
                <a:cs typeface="Arial"/>
              </a:defRPr>
            </a:lvl2pPr>
            <a:lvl3pPr algn="l">
              <a:buNone/>
              <a:defRPr sz="1800" b="1">
                <a:solidFill>
                  <a:srgbClr val="2696C5"/>
                </a:solidFill>
                <a:latin typeface="Arial"/>
                <a:ea typeface="Arial"/>
                <a:cs typeface="Arial"/>
              </a:defRPr>
            </a:lvl3pPr>
            <a:lvl4pPr algn="l">
              <a:buNone/>
              <a:defRPr sz="1800" b="1">
                <a:solidFill>
                  <a:srgbClr val="2696C5"/>
                </a:solidFill>
                <a:latin typeface="Arial"/>
                <a:ea typeface="Arial"/>
                <a:cs typeface="Arial"/>
              </a:defRPr>
            </a:lvl4pPr>
            <a:lvl5pPr algn="l">
              <a:buNone/>
              <a:defRPr sz="1800" b="1">
                <a:solidFill>
                  <a:srgbClr val="2696C5"/>
                </a:solidFill>
                <a:latin typeface="Arial"/>
                <a:ea typeface="Arial"/>
                <a:cs typeface="Arial"/>
              </a:defRPr>
            </a:lvl5pPr>
            <a:lvl6pPr algn="l">
              <a:buNone/>
              <a:defRPr sz="1800" b="1">
                <a:solidFill>
                  <a:srgbClr val="2696C5"/>
                </a:solidFill>
                <a:latin typeface="Arial"/>
                <a:ea typeface="Arial"/>
                <a:cs typeface="Arial"/>
              </a:defRPr>
            </a:lvl6pPr>
            <a:lvl7pPr algn="l">
              <a:buNone/>
              <a:defRPr sz="1800" b="1">
                <a:solidFill>
                  <a:srgbClr val="2696C5"/>
                </a:solidFill>
                <a:latin typeface="Arial"/>
                <a:ea typeface="Arial"/>
                <a:cs typeface="Arial"/>
              </a:defRPr>
            </a:lvl7pPr>
            <a:lvl8pPr algn="l">
              <a:buNone/>
              <a:defRPr sz="1800" b="1">
                <a:solidFill>
                  <a:srgbClr val="2696C5"/>
                </a:solidFill>
                <a:latin typeface="Arial"/>
                <a:ea typeface="Arial"/>
                <a:cs typeface="Arial"/>
              </a:defRPr>
            </a:lvl8pPr>
            <a:lvl9pPr algn="l">
              <a:buNone/>
              <a:defRPr sz="1800" b="1">
                <a:solidFill>
                  <a:srgbClr val="2696C5"/>
                </a:solidFill>
                <a:latin typeface="Arial"/>
                <a:ea typeface="Arial"/>
                <a:cs typeface="Arial"/>
              </a:defRPr>
            </a:lvl9pPr>
          </a:lstStyle>
          <a:p xmlns:a="http://schemas.openxmlformats.org/drawingml/2006/main">
            <a:pPr algn="l">
              <a:buNone/>
              <a:defRPr sz="1800" b="1">
                <a:solidFill>
                  <a:srgbClr val="2696C5"/>
                </a:solidFill>
                <a:latin typeface="Arial"/>
                <a:ea typeface="Arial"/>
                <a:cs typeface="Arial"/>
              </a:defRPr>
            </a:pPr>
            <a:r>
              <a:rPr sz="1800" b="1">
                <a:solidFill>
                  <a:srgbClr val="2696C5"/>
                </a:solidFill>
                <a:latin typeface="Arial"/>
                <a:ea typeface="Arial"/>
                <a:cs typeface="Arial"/>
              </a:rPr>
              <a:t>Nhóm xin cảm ơn và sẵn sàng trao đổi</a:t>
            </a:r>
          </a:p>
        </p:txBody>
      </p:sp>
    </p:spTree>
    <p:extLst>
      <p:ext uri="{BB962C8B-B14F-4D97-AF65-F5344CB8AC3E}">
        <p14:creationId xmlns:p14="http://schemas.microsoft.com/office/powerpoint/2010/main" val="16168769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Calibri Light"/>
        <a:cs typeface="Calibri Light"/>
      </a:majorFont>
      <a:minorFont>
        <a:latin typeface="Arial"/>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2026-10-28T14:47:11.8470000Z</dcterms:created>
  <dcterms:modified xsi:type="dcterms:W3CDTF">2026-10-28T14:47:11.8480000Z</dcterms:modified>
</coreProperties>
</file>